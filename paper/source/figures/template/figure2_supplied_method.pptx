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289213" cy="8604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85" autoAdjust="0"/>
  </p:normalViewPr>
  <p:slideViewPr>
    <p:cSldViewPr snapToGrid="0" snapToObjects="1">
      <p:cViewPr>
        <p:scale>
          <a:sx n="100" d="100"/>
          <a:sy n="100" d="100"/>
        </p:scale>
        <p:origin x="1602" y="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41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Framework adapted on the supplied editable Figure 2 template. Outer layout, ribbons and icons are retained. Joint and modular Students share an output interface. Individual objectives and S9 additional supervision are specified in the paper; the illustration does not imply identical training histories. Deployment compares argmax, sampling and planner-screened sampling, then routes at the adjusted departure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.svg"/><Relationship Id="rId18" Type="http://schemas.openxmlformats.org/officeDocument/2006/relationships/image" Target="../media/image10.svg"/><Relationship Id="rId26" Type="http://schemas.openxmlformats.org/officeDocument/2006/relationships/image" Target="../media/image18.svg"/><Relationship Id="rId3" Type="http://schemas.openxmlformats.org/officeDocument/2006/relationships/image" Target="../media/image1.png"/><Relationship Id="rId21" Type="http://schemas.openxmlformats.org/officeDocument/2006/relationships/image" Target="../media/image13.svg"/><Relationship Id="rId7" Type="http://schemas.openxmlformats.org/officeDocument/2006/relationships/image" Target="../media/image5.png"/><Relationship Id="rId12" Type="http://schemas.openxmlformats.org/officeDocument/2006/relationships/image" Target="../media/image4.svg"/><Relationship Id="rId17" Type="http://schemas.openxmlformats.org/officeDocument/2006/relationships/image" Target="../media/image9.svg"/><Relationship Id="rId25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svg"/><Relationship Id="rId20" Type="http://schemas.openxmlformats.org/officeDocument/2006/relationships/image" Target="../media/image12.svg"/><Relationship Id="rId29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3.svg"/><Relationship Id="rId24" Type="http://schemas.openxmlformats.org/officeDocument/2006/relationships/image" Target="../media/image16.svg"/><Relationship Id="rId5" Type="http://schemas.openxmlformats.org/officeDocument/2006/relationships/image" Target="../media/image3.png"/><Relationship Id="rId15" Type="http://schemas.openxmlformats.org/officeDocument/2006/relationships/image" Target="../media/image7.svg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image" Target="../media/image2.svg"/><Relationship Id="rId19" Type="http://schemas.openxmlformats.org/officeDocument/2006/relationships/image" Target="../media/image11.svg"/><Relationship Id="rId4" Type="http://schemas.openxmlformats.org/officeDocument/2006/relationships/image" Target="../media/image2.png"/><Relationship Id="rId9" Type="http://schemas.openxmlformats.org/officeDocument/2006/relationships/image" Target="../media/image1.svg"/><Relationship Id="rId14" Type="http://schemas.openxmlformats.org/officeDocument/2006/relationships/image" Target="../media/image6.svg"/><Relationship Id="rId22" Type="http://schemas.openxmlformats.org/officeDocument/2006/relationships/image" Target="../media/image14.svg"/><Relationship Id="rId27" Type="http://schemas.openxmlformats.org/officeDocument/2006/relationships/image" Target="../media/image19.svg"/><Relationship Id="rId30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 | outer dashed panel"/>
          <p:cNvSpPr/>
          <p:nvPr/>
        </p:nvSpPr>
        <p:spPr>
          <a:xfrm>
            <a:off x="73152" y="786384"/>
            <a:ext cx="4946904" cy="7717536"/>
          </a:xfrm>
          <a:custGeom>
            <a:avLst/>
            <a:gdLst/>
            <a:ahLst/>
            <a:cxnLst/>
            <a:rect l="0" t="0" r="r" b="b"/>
            <a:pathLst>
              <a:path w="541000" h="844000">
                <a:moveTo>
                  <a:pt x="5000" y="0"/>
                </a:moveTo>
                <a:lnTo>
                  <a:pt x="536000" y="0"/>
                </a:lnTo>
                <a:cubicBezTo>
                  <a:pt x="538761" y="0"/>
                  <a:pt x="541000" y="2239"/>
                  <a:pt x="541000" y="5000"/>
                </a:cubicBezTo>
                <a:lnTo>
                  <a:pt x="541000" y="839000"/>
                </a:lnTo>
                <a:cubicBezTo>
                  <a:pt x="541000" y="841761"/>
                  <a:pt x="538761" y="844000"/>
                  <a:pt x="536000" y="844000"/>
                </a:cubicBezTo>
                <a:lnTo>
                  <a:pt x="5000" y="844000"/>
                </a:lnTo>
                <a:cubicBezTo>
                  <a:pt x="2239" y="844000"/>
                  <a:pt x="0" y="841761"/>
                  <a:pt x="0" y="839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noFill/>
          <a:ln w="13716" cap="rnd" cmpd="sng" algn="ctr">
            <a:solidFill>
              <a:srgbClr val="148FFE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B | outer dashed panel"/>
          <p:cNvSpPr/>
          <p:nvPr/>
        </p:nvSpPr>
        <p:spPr>
          <a:xfrm>
            <a:off x="5120640" y="786384"/>
            <a:ext cx="5029200" cy="7717536"/>
          </a:xfrm>
          <a:custGeom>
            <a:avLst/>
            <a:gdLst/>
            <a:ahLst/>
            <a:cxnLst/>
            <a:rect l="0" t="0" r="r" b="b"/>
            <a:pathLst>
              <a:path w="550000" h="844000">
                <a:moveTo>
                  <a:pt x="5000" y="0"/>
                </a:moveTo>
                <a:lnTo>
                  <a:pt x="545000" y="0"/>
                </a:lnTo>
                <a:cubicBezTo>
                  <a:pt x="547761" y="0"/>
                  <a:pt x="550000" y="2239"/>
                  <a:pt x="550000" y="5000"/>
                </a:cubicBezTo>
                <a:lnTo>
                  <a:pt x="550000" y="839000"/>
                </a:lnTo>
                <a:cubicBezTo>
                  <a:pt x="550000" y="841761"/>
                  <a:pt x="547761" y="844000"/>
                  <a:pt x="545000" y="844000"/>
                </a:cubicBezTo>
                <a:lnTo>
                  <a:pt x="5000" y="844000"/>
                </a:lnTo>
                <a:cubicBezTo>
                  <a:pt x="2239" y="844000"/>
                  <a:pt x="0" y="841761"/>
                  <a:pt x="0" y="839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noFill/>
          <a:ln w="13716" cap="rnd" cmpd="sng" algn="ctr">
            <a:solidFill>
              <a:srgbClr val="168F39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 | outer dashed panel"/>
          <p:cNvSpPr/>
          <p:nvPr/>
        </p:nvSpPr>
        <p:spPr>
          <a:xfrm>
            <a:off x="10241280" y="786384"/>
            <a:ext cx="4956048" cy="7717536"/>
          </a:xfrm>
          <a:custGeom>
            <a:avLst/>
            <a:gdLst/>
            <a:ahLst/>
            <a:cxnLst/>
            <a:rect l="0" t="0" r="r" b="b"/>
            <a:pathLst>
              <a:path w="542000" h="844000">
                <a:moveTo>
                  <a:pt x="5000" y="0"/>
                </a:moveTo>
                <a:lnTo>
                  <a:pt x="537000" y="0"/>
                </a:lnTo>
                <a:cubicBezTo>
                  <a:pt x="539761" y="0"/>
                  <a:pt x="542000" y="2239"/>
                  <a:pt x="542000" y="5000"/>
                </a:cubicBezTo>
                <a:lnTo>
                  <a:pt x="542000" y="839000"/>
                </a:lnTo>
                <a:cubicBezTo>
                  <a:pt x="542000" y="841761"/>
                  <a:pt x="539761" y="844000"/>
                  <a:pt x="537000" y="844000"/>
                </a:cubicBezTo>
                <a:lnTo>
                  <a:pt x="5000" y="844000"/>
                </a:lnTo>
                <a:cubicBezTo>
                  <a:pt x="2239" y="844000"/>
                  <a:pt x="0" y="841761"/>
                  <a:pt x="0" y="839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noFill/>
          <a:ln w="13716" cap="rnd" cmpd="sng" algn="ctr">
            <a:solidFill>
              <a:srgbClr val="FB711B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 | blue ribbon"/>
          <p:cNvSpPr/>
          <p:nvPr/>
        </p:nvSpPr>
        <p:spPr>
          <a:xfrm>
            <a:off x="73152" y="64008"/>
            <a:ext cx="5166360" cy="649224"/>
          </a:xfrm>
          <a:custGeom>
            <a:avLst/>
            <a:gdLst/>
            <a:ahLst/>
            <a:cxnLst/>
            <a:rect l="0" t="0" r="r" b="b"/>
            <a:pathLst>
              <a:path w="565000" h="71000">
                <a:moveTo>
                  <a:pt x="2000" y="0"/>
                </a:moveTo>
                <a:lnTo>
                  <a:pt x="537000" y="0"/>
                </a:lnTo>
                <a:lnTo>
                  <a:pt x="565000" y="37000"/>
                </a:lnTo>
                <a:lnTo>
                  <a:pt x="538000" y="71000"/>
                </a:lnTo>
                <a:lnTo>
                  <a:pt x="1000" y="71000"/>
                </a:lnTo>
                <a:lnTo>
                  <a:pt x="0" y="70000"/>
                </a:lnTo>
                <a:lnTo>
                  <a:pt x="0" y="3000"/>
                </a:lnTo>
                <a:close/>
              </a:path>
            </a:pathLst>
          </a:custGeom>
          <a:gradFill rotWithShape="1">
            <a:gsLst>
              <a:gs pos="0">
                <a:srgbClr val="258FED"/>
              </a:gs>
              <a:gs pos="100000">
                <a:srgbClr val="116AB7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B | green ribbon"/>
          <p:cNvSpPr/>
          <p:nvPr/>
        </p:nvSpPr>
        <p:spPr>
          <a:xfrm>
            <a:off x="5111496" y="64008"/>
            <a:ext cx="5111496" cy="649224"/>
          </a:xfrm>
          <a:custGeom>
            <a:avLst/>
            <a:gdLst/>
            <a:ahLst/>
            <a:cxnLst/>
            <a:rect l="0" t="0" r="r" b="b"/>
            <a:pathLst>
              <a:path w="559000" h="71000">
                <a:moveTo>
                  <a:pt x="0" y="0"/>
                </a:moveTo>
                <a:lnTo>
                  <a:pt x="532000" y="0"/>
                </a:lnTo>
                <a:lnTo>
                  <a:pt x="559000" y="37000"/>
                </a:lnTo>
                <a:lnTo>
                  <a:pt x="531000" y="71000"/>
                </a:lnTo>
                <a:lnTo>
                  <a:pt x="0" y="71000"/>
                </a:lnTo>
                <a:lnTo>
                  <a:pt x="29000" y="36000"/>
                </a:lnTo>
                <a:close/>
              </a:path>
            </a:pathLst>
          </a:custGeom>
          <a:gradFill rotWithShape="1">
            <a:gsLst>
              <a:gs pos="0">
                <a:srgbClr val="199E48"/>
              </a:gs>
              <a:gs pos="100000">
                <a:srgbClr val="168235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 | orange ribbon"/>
          <p:cNvSpPr/>
          <p:nvPr/>
        </p:nvSpPr>
        <p:spPr>
          <a:xfrm>
            <a:off x="10204704" y="64008"/>
            <a:ext cx="5010912" cy="649224"/>
          </a:xfrm>
          <a:custGeom>
            <a:avLst/>
            <a:gdLst/>
            <a:ahLst/>
            <a:cxnLst/>
            <a:rect l="0" t="0" r="r" b="b"/>
            <a:pathLst>
              <a:path w="548000" h="71000">
                <a:moveTo>
                  <a:pt x="0" y="0"/>
                </a:moveTo>
                <a:lnTo>
                  <a:pt x="542000" y="0"/>
                </a:lnTo>
                <a:lnTo>
                  <a:pt x="548000" y="5000"/>
                </a:lnTo>
                <a:lnTo>
                  <a:pt x="548000" y="68000"/>
                </a:lnTo>
                <a:lnTo>
                  <a:pt x="545000" y="71000"/>
                </a:lnTo>
                <a:lnTo>
                  <a:pt x="1000" y="71000"/>
                </a:lnTo>
                <a:lnTo>
                  <a:pt x="28000" y="37000"/>
                </a:lnTo>
                <a:close/>
              </a:path>
            </a:pathLst>
          </a:custGeom>
          <a:gradFill rotWithShape="1">
            <a:gsLst>
              <a:gs pos="0">
                <a:srgbClr val="F87D17"/>
              </a:gs>
              <a:gs pos="100000">
                <a:srgbClr val="E65704"/>
              </a:gs>
            </a:gsLst>
            <a:lin ang="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| (a) Offline Training"/>
          <p:cNvSpPr txBox="1"/>
          <p:nvPr/>
        </p:nvSpPr>
        <p:spPr>
          <a:xfrm>
            <a:off x="914400" y="82296"/>
            <a:ext cx="3749040" cy="34747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48" b="1" i="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Offline Training</a:t>
            </a:r>
          </a:p>
        </p:txBody>
      </p:sp>
      <p:sp>
        <p:nvSpPr>
          <p:cNvPr id="9" name="Text | Build supervision signals with LLM teacher"/>
          <p:cNvSpPr txBox="1"/>
          <p:nvPr/>
        </p:nvSpPr>
        <p:spPr>
          <a:xfrm>
            <a:off x="320040" y="438912"/>
            <a:ext cx="4617720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0" i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supervision signals with LLM teacher</a:t>
            </a:r>
          </a:p>
        </p:txBody>
      </p:sp>
      <p:sp>
        <p:nvSpPr>
          <p:cNvPr id="10" name="Text | (b) Supply-aware Student"/>
          <p:cNvSpPr txBox="1"/>
          <p:nvPr/>
        </p:nvSpPr>
        <p:spPr>
          <a:xfrm>
            <a:off x="5431536" y="82296"/>
            <a:ext cx="4489704" cy="34747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Compact Traveler Models</a:t>
            </a:r>
          </a:p>
        </p:txBody>
      </p:sp>
      <p:sp>
        <p:nvSpPr>
          <p:cNvPr id="11" name="Text | Learn mode choice and departure shift jointly"/>
          <p:cNvSpPr txBox="1"/>
          <p:nvPr/>
        </p:nvSpPr>
        <p:spPr>
          <a:xfrm>
            <a:off x="5394960" y="438912"/>
            <a:ext cx="451713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and modular choice–timing prediction</a:t>
            </a:r>
          </a:p>
        </p:txBody>
      </p:sp>
      <p:sp>
        <p:nvSpPr>
          <p:cNvPr id="12" name="Text | (c) Deployment"/>
          <p:cNvSpPr txBox="1"/>
          <p:nvPr/>
        </p:nvSpPr>
        <p:spPr>
          <a:xfrm>
            <a:off x="10835640" y="82296"/>
            <a:ext cx="3794760" cy="34747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48" b="1" i="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Deployment</a:t>
            </a:r>
          </a:p>
        </p:txBody>
      </p:sp>
      <p:sp>
        <p:nvSpPr>
          <p:cNvPr id="13" name="Text | Integrate with travel demand simulation"/>
          <p:cNvSpPr txBox="1"/>
          <p:nvPr/>
        </p:nvSpPr>
        <p:spPr>
          <a:xfrm>
            <a:off x="10698480" y="438912"/>
            <a:ext cx="433425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0" i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with travel demand simulation</a:t>
            </a:r>
          </a:p>
        </p:txBody>
      </p:sp>
      <p:sp>
        <p:nvSpPr>
          <p:cNvPr id="14" name="A | sample and teacher group"/>
          <p:cNvSpPr/>
          <p:nvPr/>
        </p:nvSpPr>
        <p:spPr>
          <a:xfrm>
            <a:off x="155448" y="868680"/>
            <a:ext cx="4773168" cy="5253350"/>
          </a:xfrm>
          <a:custGeom>
            <a:avLst/>
            <a:gdLst/>
            <a:ahLst/>
            <a:cxnLst/>
            <a:rect l="0" t="0" r="r" b="b"/>
            <a:pathLst>
              <a:path w="522000" h="581000">
                <a:moveTo>
                  <a:pt x="6000" y="0"/>
                </a:moveTo>
                <a:lnTo>
                  <a:pt x="516000" y="0"/>
                </a:lnTo>
                <a:cubicBezTo>
                  <a:pt x="519314" y="0"/>
                  <a:pt x="522000" y="2686"/>
                  <a:pt x="522000" y="6000"/>
                </a:cubicBezTo>
                <a:lnTo>
                  <a:pt x="522000" y="575000"/>
                </a:lnTo>
                <a:cubicBezTo>
                  <a:pt x="522000" y="578314"/>
                  <a:pt x="519314" y="581000"/>
                  <a:pt x="516000" y="581000"/>
                </a:cubicBezTo>
                <a:lnTo>
                  <a:pt x="6000" y="581000"/>
                </a:lnTo>
                <a:cubicBezTo>
                  <a:pt x="2686" y="581000"/>
                  <a:pt x="0" y="578314"/>
                  <a:pt x="0" y="57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noFill/>
          <a:ln w="19050" cap="rnd" cmpd="sng" algn="ctr">
            <a:solidFill>
              <a:srgbClr val="70CEF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| Paired supervision / (training examples)"/>
          <p:cNvSpPr txBox="1"/>
          <p:nvPr/>
        </p:nvSpPr>
        <p:spPr>
          <a:xfrm>
            <a:off x="283464" y="877824"/>
            <a:ext cx="2468880" cy="4846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Teacher supervision</a:t>
            </a:r>
          </a:p>
          <a:p>
            <a:pPr algn="l">
              <a:lnSpc>
                <a:spcPts val="179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(example states)</a:t>
            </a:r>
          </a:p>
        </p:txBody>
      </p:sp>
      <p:sp>
        <p:nvSpPr>
          <p:cNvPr id="16" name="A | Scenario pairs"/>
          <p:cNvSpPr/>
          <p:nvPr/>
        </p:nvSpPr>
        <p:spPr>
          <a:xfrm>
            <a:off x="274320" y="1435608"/>
            <a:ext cx="2167128" cy="1005840"/>
          </a:xfrm>
          <a:custGeom>
            <a:avLst/>
            <a:gdLst/>
            <a:ahLst/>
            <a:cxnLst/>
            <a:rect l="0" t="0" r="r" b="b"/>
            <a:pathLst>
              <a:path w="237000" h="110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05000"/>
                </a:lnTo>
                <a:cubicBezTo>
                  <a:pt x="237000" y="107761"/>
                  <a:pt x="234761" y="110000"/>
                  <a:pt x="232000" y="110000"/>
                </a:cubicBezTo>
                <a:lnTo>
                  <a:pt x="5000" y="110000"/>
                </a:lnTo>
                <a:cubicBezTo>
                  <a:pt x="2239" y="110000"/>
                  <a:pt x="0" y="107761"/>
                  <a:pt x="0" y="10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| Scenario pairs"/>
          <p:cNvSpPr txBox="1"/>
          <p:nvPr/>
        </p:nvSpPr>
        <p:spPr>
          <a:xfrm>
            <a:off x="402336" y="1463040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 pairs</a:t>
            </a:r>
          </a:p>
        </p:txBody>
      </p:sp>
      <p:sp>
        <p:nvSpPr>
          <p:cNvPr id="18" name="A | Persona pairs"/>
          <p:cNvSpPr/>
          <p:nvPr/>
        </p:nvSpPr>
        <p:spPr>
          <a:xfrm>
            <a:off x="274320" y="2532888"/>
            <a:ext cx="2167128" cy="996696"/>
          </a:xfrm>
          <a:custGeom>
            <a:avLst/>
            <a:gdLst/>
            <a:ahLst/>
            <a:cxnLst/>
            <a:rect l="0" t="0" r="r" b="b"/>
            <a:pathLst>
              <a:path w="237000" h="109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04000"/>
                </a:lnTo>
                <a:cubicBezTo>
                  <a:pt x="237000" y="106761"/>
                  <a:pt x="234761" y="109000"/>
                  <a:pt x="232000" y="109000"/>
                </a:cubicBezTo>
                <a:lnTo>
                  <a:pt x="5000" y="109000"/>
                </a:lnTo>
                <a:cubicBezTo>
                  <a:pt x="2239" y="109000"/>
                  <a:pt x="0" y="106761"/>
                  <a:pt x="0" y="10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| Persona pairs"/>
          <p:cNvSpPr txBox="1"/>
          <p:nvPr/>
        </p:nvSpPr>
        <p:spPr>
          <a:xfrm>
            <a:off x="402336" y="2560320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pairs</a:t>
            </a:r>
          </a:p>
        </p:txBody>
      </p:sp>
      <p:sp>
        <p:nvSpPr>
          <p:cNvPr id="20" name="A | Mechanism quartets"/>
          <p:cNvSpPr/>
          <p:nvPr/>
        </p:nvSpPr>
        <p:spPr>
          <a:xfrm>
            <a:off x="274320" y="3611880"/>
            <a:ext cx="2167128" cy="1161288"/>
          </a:xfrm>
          <a:custGeom>
            <a:avLst/>
            <a:gdLst/>
            <a:ahLst/>
            <a:cxnLst/>
            <a:rect l="0" t="0" r="r" b="b"/>
            <a:pathLst>
              <a:path w="237000" h="127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22000"/>
                </a:lnTo>
                <a:cubicBezTo>
                  <a:pt x="237000" y="124761"/>
                  <a:pt x="234761" y="127000"/>
                  <a:pt x="232000" y="127000"/>
                </a:cubicBezTo>
                <a:lnTo>
                  <a:pt x="5000" y="127000"/>
                </a:lnTo>
                <a:cubicBezTo>
                  <a:pt x="2239" y="127000"/>
                  <a:pt x="0" y="124761"/>
                  <a:pt x="0" y="122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| Mechanism quartets"/>
          <p:cNvSpPr txBox="1"/>
          <p:nvPr/>
        </p:nvSpPr>
        <p:spPr>
          <a:xfrm>
            <a:off x="402336" y="3639312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 states</a:t>
            </a:r>
          </a:p>
        </p:txBody>
      </p:sp>
      <p:sp>
        <p:nvSpPr>
          <p:cNvPr id="22" name="A | Accessibility curves"/>
          <p:cNvSpPr/>
          <p:nvPr/>
        </p:nvSpPr>
        <p:spPr>
          <a:xfrm>
            <a:off x="274320" y="4855464"/>
            <a:ext cx="2167128" cy="1188720"/>
          </a:xfrm>
          <a:custGeom>
            <a:avLst/>
            <a:gdLst/>
            <a:ahLst/>
            <a:cxnLst/>
            <a:rect l="0" t="0" r="r" b="b"/>
            <a:pathLst>
              <a:path w="237000" h="136000">
                <a:moveTo>
                  <a:pt x="5000" y="0"/>
                </a:moveTo>
                <a:lnTo>
                  <a:pt x="232000" y="0"/>
                </a:lnTo>
                <a:cubicBezTo>
                  <a:pt x="234761" y="0"/>
                  <a:pt x="237000" y="2239"/>
                  <a:pt x="237000" y="5000"/>
                </a:cubicBezTo>
                <a:lnTo>
                  <a:pt x="237000" y="131000"/>
                </a:lnTo>
                <a:cubicBezTo>
                  <a:pt x="237000" y="133761"/>
                  <a:pt x="234761" y="136000"/>
                  <a:pt x="232000" y="136000"/>
                </a:cubicBezTo>
                <a:lnTo>
                  <a:pt x="5000" y="136000"/>
                </a:lnTo>
                <a:cubicBezTo>
                  <a:pt x="2239" y="136000"/>
                  <a:pt x="0" y="133761"/>
                  <a:pt x="0" y="131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F8FCFF"/>
              </a:gs>
            </a:gsLst>
            <a:lin ang="5400000" scaled="1"/>
          </a:gradFill>
          <a:ln w="19050" cap="rnd" cmpd="sng" algn="ctr">
            <a:solidFill>
              <a:srgbClr val="66C5FB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| Accessibility curves"/>
          <p:cNvSpPr txBox="1"/>
          <p:nvPr/>
        </p:nvSpPr>
        <p:spPr>
          <a:xfrm>
            <a:off x="402336" y="4882896"/>
            <a:ext cx="193852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Supply profiles</a:t>
            </a:r>
          </a:p>
        </p:txBody>
      </p:sp>
      <p:sp>
        <p:nvSpPr>
          <p:cNvPr id="44" name="Text | /"/>
          <p:cNvSpPr txBox="1"/>
          <p:nvPr/>
        </p:nvSpPr>
        <p:spPr>
          <a:xfrm>
            <a:off x="1024128" y="1746504"/>
            <a:ext cx="192024" cy="4114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4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59" name="Text | e.g., sunny vs. rainy"/>
          <p:cNvSpPr txBox="1"/>
          <p:nvPr/>
        </p:nvSpPr>
        <p:spPr>
          <a:xfrm>
            <a:off x="438912" y="2212848"/>
            <a:ext cx="1865376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e.g., sunny vs. rainy</a:t>
            </a:r>
          </a:p>
        </p:txBody>
      </p:sp>
      <p:sp>
        <p:nvSpPr>
          <p:cNvPr id="72" name="Text | /"/>
          <p:cNvSpPr txBox="1"/>
          <p:nvPr/>
        </p:nvSpPr>
        <p:spPr>
          <a:xfrm>
            <a:off x="1005840" y="2843784"/>
            <a:ext cx="219456" cy="3657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32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85" name="Text | e.g., youth vs. senior"/>
          <p:cNvSpPr txBox="1"/>
          <p:nvPr/>
        </p:nvSpPr>
        <p:spPr>
          <a:xfrm>
            <a:off x="438912" y="3328416"/>
            <a:ext cx="1865376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4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e.g., youth vs. senior</a:t>
            </a:r>
          </a:p>
        </p:txBody>
      </p:sp>
      <p:sp>
        <p:nvSpPr>
          <p:cNvPr id="86" name="A | quartet A"/>
          <p:cNvSpPr/>
          <p:nvPr/>
        </p:nvSpPr>
        <p:spPr>
          <a:xfrm>
            <a:off x="429768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E3F5FF"/>
          </a:solidFill>
          <a:ln w="8229" cap="rnd" cmpd="sng" algn="ctr">
            <a:solidFill>
              <a:srgbClr val="8BD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| A"/>
          <p:cNvSpPr txBox="1"/>
          <p:nvPr/>
        </p:nvSpPr>
        <p:spPr>
          <a:xfrm>
            <a:off x="429768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8" name="A | quartet B"/>
          <p:cNvSpPr/>
          <p:nvPr/>
        </p:nvSpPr>
        <p:spPr>
          <a:xfrm>
            <a:off x="923544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FFE6CF"/>
          </a:solidFill>
          <a:ln w="8229" cap="rnd" cmpd="sng" algn="ctr">
            <a:solidFill>
              <a:srgbClr val="FFC68D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| B"/>
          <p:cNvSpPr txBox="1"/>
          <p:nvPr/>
        </p:nvSpPr>
        <p:spPr>
          <a:xfrm>
            <a:off x="923544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A | quartet C"/>
          <p:cNvSpPr/>
          <p:nvPr/>
        </p:nvSpPr>
        <p:spPr>
          <a:xfrm>
            <a:off x="1435608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ECE6FF"/>
          </a:solidFill>
          <a:ln w="8229" cap="rnd" cmpd="sng" algn="ctr">
            <a:solidFill>
              <a:srgbClr val="CDBB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| C"/>
          <p:cNvSpPr txBox="1"/>
          <p:nvPr/>
        </p:nvSpPr>
        <p:spPr>
          <a:xfrm>
            <a:off x="1435608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92" name="A | quartet D"/>
          <p:cNvSpPr/>
          <p:nvPr/>
        </p:nvSpPr>
        <p:spPr>
          <a:xfrm>
            <a:off x="1938528" y="3931920"/>
            <a:ext cx="374904" cy="374904"/>
          </a:xfrm>
          <a:custGeom>
            <a:avLst/>
            <a:gdLst/>
            <a:ahLst/>
            <a:cxnLst/>
            <a:rect l="0" t="0" r="r" b="b"/>
            <a:pathLst>
              <a:path w="41000" h="41000">
                <a:moveTo>
                  <a:pt x="6000" y="0"/>
                </a:moveTo>
                <a:lnTo>
                  <a:pt x="35000" y="0"/>
                </a:lnTo>
                <a:cubicBezTo>
                  <a:pt x="38314" y="0"/>
                  <a:pt x="41000" y="2686"/>
                  <a:pt x="41000" y="6000"/>
                </a:cubicBezTo>
                <a:lnTo>
                  <a:pt x="41000" y="35000"/>
                </a:lnTo>
                <a:cubicBezTo>
                  <a:pt x="41000" y="38314"/>
                  <a:pt x="38314" y="41000"/>
                  <a:pt x="35000" y="41000"/>
                </a:cubicBezTo>
                <a:lnTo>
                  <a:pt x="6000" y="41000"/>
                </a:lnTo>
                <a:cubicBezTo>
                  <a:pt x="2686" y="41000"/>
                  <a:pt x="0" y="38314"/>
                  <a:pt x="0" y="35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DCF8DE"/>
          </a:solidFill>
          <a:ln w="8229" cap="rnd" cmpd="sng" algn="ctr">
            <a:solidFill>
              <a:srgbClr val="9EDEA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| D"/>
          <p:cNvSpPr txBox="1"/>
          <p:nvPr/>
        </p:nvSpPr>
        <p:spPr>
          <a:xfrm>
            <a:off x="1938528" y="3959352"/>
            <a:ext cx="374904" cy="3200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94" name="Text | A Baseline, B Natural, / C Label-only, D Attribute-only"/>
          <p:cNvSpPr txBox="1"/>
          <p:nvPr/>
        </p:nvSpPr>
        <p:spPr>
          <a:xfrm>
            <a:off x="427700" y="4353276"/>
            <a:ext cx="1938528" cy="38404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Baseline,  Natural,</a:t>
            </a:r>
          </a:p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Label-only,  Attribute-only</a:t>
            </a:r>
          </a:p>
        </p:txBody>
      </p:sp>
      <p:sp>
        <p:nvSpPr>
          <p:cNvPr id="95" name="A | accessibility axes"/>
          <p:cNvSpPr/>
          <p:nvPr/>
        </p:nvSpPr>
        <p:spPr>
          <a:xfrm>
            <a:off x="502920" y="5212080"/>
            <a:ext cx="1655064" cy="438912"/>
          </a:xfrm>
          <a:custGeom>
            <a:avLst/>
            <a:gdLst/>
            <a:ahLst/>
            <a:cxnLst/>
            <a:rect l="0" t="0" r="r" b="b"/>
            <a:pathLst>
              <a:path w="181000" h="48000">
                <a:moveTo>
                  <a:pt x="0" y="0"/>
                </a:moveTo>
                <a:lnTo>
                  <a:pt x="0" y="48000"/>
                </a:lnTo>
                <a:lnTo>
                  <a:pt x="181000" y="48000"/>
                </a:lnTo>
              </a:path>
            </a:pathLst>
          </a:custGeom>
          <a:noFill/>
          <a:ln w="14630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A | accessibility trace"/>
          <p:cNvSpPr/>
          <p:nvPr/>
        </p:nvSpPr>
        <p:spPr>
          <a:xfrm>
            <a:off x="521208" y="5266944"/>
            <a:ext cx="1627632" cy="347472"/>
          </a:xfrm>
          <a:custGeom>
            <a:avLst/>
            <a:gdLst/>
            <a:ahLst/>
            <a:cxnLst/>
            <a:rect l="0" t="0" r="r" b="b"/>
            <a:pathLst>
              <a:path w="178000" h="38000">
                <a:moveTo>
                  <a:pt x="0" y="12000"/>
                </a:moveTo>
                <a:cubicBezTo>
                  <a:pt x="23000" y="0"/>
                  <a:pt x="42000" y="3000"/>
                  <a:pt x="60000" y="13000"/>
                </a:cubicBezTo>
                <a:cubicBezTo>
                  <a:pt x="82000" y="33000"/>
                  <a:pt x="94000" y="38000"/>
                  <a:pt x="111000" y="35000"/>
                </a:cubicBezTo>
                <a:cubicBezTo>
                  <a:pt x="134000" y="32000"/>
                  <a:pt x="155000" y="29000"/>
                  <a:pt x="178000" y="31000"/>
                </a:cubicBezTo>
              </a:path>
            </a:pathLst>
          </a:custGeom>
          <a:noFill/>
          <a:ln w="19202" cap="rnd" cmpd="sng" algn="ctr">
            <a:solidFill>
              <a:srgbClr val="EFBE2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A | accessibility trace"/>
          <p:cNvSpPr/>
          <p:nvPr/>
        </p:nvSpPr>
        <p:spPr>
          <a:xfrm>
            <a:off x="521208" y="5212080"/>
            <a:ext cx="1627632" cy="402336"/>
          </a:xfrm>
          <a:custGeom>
            <a:avLst/>
            <a:gdLst/>
            <a:ahLst/>
            <a:cxnLst/>
            <a:rect l="0" t="0" r="r" b="b"/>
            <a:pathLst>
              <a:path w="178000" h="44000">
                <a:moveTo>
                  <a:pt x="0" y="40000"/>
                </a:moveTo>
                <a:cubicBezTo>
                  <a:pt x="20000" y="39000"/>
                  <a:pt x="37000" y="29000"/>
                  <a:pt x="55000" y="26000"/>
                </a:cubicBezTo>
                <a:cubicBezTo>
                  <a:pt x="76000" y="29000"/>
                  <a:pt x="91000" y="44000"/>
                  <a:pt x="108000" y="39000"/>
                </a:cubicBezTo>
                <a:cubicBezTo>
                  <a:pt x="130000" y="26000"/>
                  <a:pt x="153000" y="0"/>
                  <a:pt x="178000" y="2000"/>
                </a:cubicBezTo>
              </a:path>
            </a:pathLst>
          </a:custGeom>
          <a:noFill/>
          <a:ln w="19202" cap="rnd" cmpd="sng" algn="ctr">
            <a:solidFill>
              <a:srgbClr val="1697E8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A | accessibility trace"/>
          <p:cNvSpPr/>
          <p:nvPr/>
        </p:nvSpPr>
        <p:spPr>
          <a:xfrm>
            <a:off x="521208" y="5129784"/>
            <a:ext cx="1627632" cy="466344"/>
          </a:xfrm>
          <a:custGeom>
            <a:avLst/>
            <a:gdLst/>
            <a:ahLst/>
            <a:cxnLst/>
            <a:rect l="0" t="0" r="r" b="b"/>
            <a:pathLst>
              <a:path w="178000" h="51000">
                <a:moveTo>
                  <a:pt x="0" y="45000"/>
                </a:moveTo>
                <a:cubicBezTo>
                  <a:pt x="28000" y="40000"/>
                  <a:pt x="42000" y="37000"/>
                  <a:pt x="58000" y="21000"/>
                </a:cubicBezTo>
                <a:cubicBezTo>
                  <a:pt x="82000" y="0"/>
                  <a:pt x="104000" y="20000"/>
                  <a:pt x="124000" y="33000"/>
                </a:cubicBezTo>
                <a:cubicBezTo>
                  <a:pt x="144000" y="47000"/>
                  <a:pt x="161000" y="51000"/>
                  <a:pt x="178000" y="35000"/>
                </a:cubicBezTo>
              </a:path>
            </a:pathLst>
          </a:custGeom>
          <a:noFill/>
          <a:ln w="19202" cap="rnd" cmpd="sng" algn="ctr">
            <a:solidFill>
              <a:srgbClr val="139A4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A | accessibility trace"/>
          <p:cNvSpPr/>
          <p:nvPr/>
        </p:nvSpPr>
        <p:spPr>
          <a:xfrm>
            <a:off x="521208" y="5330952"/>
            <a:ext cx="1627632" cy="301752"/>
          </a:xfrm>
          <a:custGeom>
            <a:avLst/>
            <a:gdLst/>
            <a:ahLst/>
            <a:cxnLst/>
            <a:rect l="0" t="0" r="r" b="b"/>
            <a:pathLst>
              <a:path w="178000" h="33000">
                <a:moveTo>
                  <a:pt x="0" y="16000"/>
                </a:moveTo>
                <a:cubicBezTo>
                  <a:pt x="24000" y="8000"/>
                  <a:pt x="46000" y="0"/>
                  <a:pt x="69000" y="9000"/>
                </a:cubicBezTo>
                <a:cubicBezTo>
                  <a:pt x="92000" y="18000"/>
                  <a:pt x="120000" y="33000"/>
                  <a:pt x="141000" y="29000"/>
                </a:cubicBezTo>
                <a:cubicBezTo>
                  <a:pt x="155000" y="28000"/>
                  <a:pt x="168000" y="24000"/>
                  <a:pt x="178000" y="21000"/>
                </a:cubicBezTo>
              </a:path>
            </a:pathLst>
          </a:custGeom>
          <a:noFill/>
          <a:ln w="19202" cap="rnd" cmpd="sng" algn="ctr">
            <a:solidFill>
              <a:srgbClr val="9B65DC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A | accessibility trace"/>
          <p:cNvSpPr/>
          <p:nvPr/>
        </p:nvSpPr>
        <p:spPr>
          <a:xfrm>
            <a:off x="521208" y="5330952"/>
            <a:ext cx="1627632" cy="301752"/>
          </a:xfrm>
          <a:custGeom>
            <a:avLst/>
            <a:gdLst/>
            <a:ahLst/>
            <a:cxnLst/>
            <a:rect l="0" t="0" r="r" b="b"/>
            <a:pathLst>
              <a:path w="178000" h="33000">
                <a:moveTo>
                  <a:pt x="0" y="19000"/>
                </a:moveTo>
                <a:cubicBezTo>
                  <a:pt x="23000" y="15000"/>
                  <a:pt x="46000" y="13000"/>
                  <a:pt x="63000" y="19000"/>
                </a:cubicBezTo>
                <a:cubicBezTo>
                  <a:pt x="85000" y="33000"/>
                  <a:pt x="105000" y="33000"/>
                  <a:pt x="123000" y="22000"/>
                </a:cubicBezTo>
                <a:cubicBezTo>
                  <a:pt x="144000" y="10000"/>
                  <a:pt x="161000" y="0"/>
                  <a:pt x="178000" y="0"/>
                </a:cubicBezTo>
              </a:path>
            </a:pathLst>
          </a:custGeom>
          <a:noFill/>
          <a:ln w="19202" cap="rnd" cmpd="sng" algn="ctr">
            <a:solidFill>
              <a:srgbClr val="E9671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| Same traveler + OD; / Accessibility A–E"/>
          <p:cNvSpPr txBox="1"/>
          <p:nvPr/>
        </p:nvSpPr>
        <p:spPr>
          <a:xfrm>
            <a:off x="411480" y="5687568"/>
            <a:ext cx="1947672" cy="3566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3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traveler + OD;</a:t>
            </a:r>
          </a:p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3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 A–E</a:t>
            </a:r>
          </a:p>
        </p:txBody>
      </p:sp>
      <p:sp>
        <p:nvSpPr>
          <p:cNvPr id="102" name="A | sample spine"/>
          <p:cNvSpPr/>
          <p:nvPr/>
        </p:nvSpPr>
        <p:spPr>
          <a:xfrm>
            <a:off x="2450592" y="1975104"/>
            <a:ext cx="146304" cy="3364992"/>
          </a:xfrm>
          <a:custGeom>
            <a:avLst/>
            <a:gdLst/>
            <a:ahLst/>
            <a:cxnLst/>
            <a:rect l="0" t="0" r="r" b="b"/>
            <a:pathLst>
              <a:path w="16000" h="368000">
                <a:moveTo>
                  <a:pt x="0" y="0"/>
                </a:moveTo>
                <a:lnTo>
                  <a:pt x="16000" y="0"/>
                </a:lnTo>
                <a:lnTo>
                  <a:pt x="16000" y="368000"/>
                </a:lnTo>
                <a:lnTo>
                  <a:pt x="0" y="368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A | sample connector"/>
          <p:cNvSpPr/>
          <p:nvPr/>
        </p:nvSpPr>
        <p:spPr>
          <a:xfrm>
            <a:off x="2450592" y="3063240"/>
            <a:ext cx="146304" cy="183"/>
          </a:xfrm>
          <a:custGeom>
            <a:avLst/>
            <a:gdLst/>
            <a:ahLst/>
            <a:cxnLst/>
            <a:rect l="0" t="0" r="r" b="b"/>
            <a:pathLst>
              <a:path w="16000" h="20">
                <a:moveTo>
                  <a:pt x="0" y="0"/>
                </a:moveTo>
                <a:lnTo>
                  <a:pt x="16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A | sample connector"/>
          <p:cNvSpPr/>
          <p:nvPr/>
        </p:nvSpPr>
        <p:spPr>
          <a:xfrm>
            <a:off x="2450592" y="4160520"/>
            <a:ext cx="146304" cy="183"/>
          </a:xfrm>
          <a:custGeom>
            <a:avLst/>
            <a:gdLst/>
            <a:ahLst/>
            <a:cxnLst/>
            <a:rect l="0" t="0" r="r" b="b"/>
            <a:pathLst>
              <a:path w="16000" h="20">
                <a:moveTo>
                  <a:pt x="0" y="0"/>
                </a:moveTo>
                <a:lnTo>
                  <a:pt x="16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A | samples into teacher | shaft"/>
          <p:cNvSpPr/>
          <p:nvPr/>
        </p:nvSpPr>
        <p:spPr>
          <a:xfrm>
            <a:off x="2596896" y="2578608"/>
            <a:ext cx="82296" cy="183"/>
          </a:xfrm>
          <a:custGeom>
            <a:avLst/>
            <a:gdLst/>
            <a:ahLst/>
            <a:cxnLst/>
            <a:rect l="0" t="0" r="r" b="b"/>
            <a:pathLst>
              <a:path w="9000" h="20">
                <a:moveTo>
                  <a:pt x="0" y="0"/>
                </a:moveTo>
                <a:lnTo>
                  <a:pt x="9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A | samples into teacher | head"/>
          <p:cNvSpPr/>
          <p:nvPr/>
        </p:nvSpPr>
        <p:spPr>
          <a:xfrm>
            <a:off x="2679192" y="2491740"/>
            <a:ext cx="155448" cy="173736"/>
          </a:xfrm>
          <a:custGeom>
            <a:avLst/>
            <a:gdLst/>
            <a:ahLst/>
            <a:cxnLst/>
            <a:rect l="0" t="0" r="r" b="b"/>
            <a:pathLst>
              <a:path w="17000" h="19000">
                <a:moveTo>
                  <a:pt x="17000" y="9500"/>
                </a:moveTo>
                <a:lnTo>
                  <a:pt x="0" y="19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A | LLM teacher container"/>
          <p:cNvSpPr/>
          <p:nvPr/>
        </p:nvSpPr>
        <p:spPr>
          <a:xfrm>
            <a:off x="2834640" y="1161288"/>
            <a:ext cx="1956816" cy="4572000"/>
          </a:xfrm>
          <a:custGeom>
            <a:avLst/>
            <a:gdLst/>
            <a:ahLst/>
            <a:cxnLst/>
            <a:rect l="0" t="0" r="r" b="b"/>
            <a:pathLst>
              <a:path w="228000" h="500000">
                <a:moveTo>
                  <a:pt x="5000" y="0"/>
                </a:moveTo>
                <a:lnTo>
                  <a:pt x="223000" y="0"/>
                </a:lnTo>
                <a:cubicBezTo>
                  <a:pt x="225761" y="0"/>
                  <a:pt x="228000" y="2239"/>
                  <a:pt x="228000" y="5000"/>
                </a:cubicBezTo>
                <a:lnTo>
                  <a:pt x="228000" y="495000"/>
                </a:lnTo>
                <a:cubicBezTo>
                  <a:pt x="228000" y="497761"/>
                  <a:pt x="225761" y="500000"/>
                  <a:pt x="223000" y="500000"/>
                </a:cubicBezTo>
                <a:lnTo>
                  <a:pt x="5000" y="500000"/>
                </a:lnTo>
                <a:cubicBezTo>
                  <a:pt x="2239" y="500000"/>
                  <a:pt x="0" y="497761"/>
                  <a:pt x="0" y="49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FFF8E4"/>
              </a:gs>
              <a:gs pos="100000">
                <a:srgbClr val="FFF2DA"/>
              </a:gs>
            </a:gsLst>
            <a:lin ang="5400000" scaled="1"/>
          </a:gradFill>
          <a:ln w="19050" cap="rnd" cmpd="sng" algn="ctr">
            <a:solidFill>
              <a:srgbClr val="FFA925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| LLM teacher (frozen)"/>
          <p:cNvSpPr txBox="1"/>
          <p:nvPr/>
        </p:nvSpPr>
        <p:spPr>
          <a:xfrm>
            <a:off x="2889504" y="1234440"/>
            <a:ext cx="1865376" cy="28346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teacher</a:t>
            </a:r>
          </a:p>
        </p:txBody>
      </p:sp>
      <p:sp>
        <p:nvSpPr>
          <p:cNvPr id="118" name="A | teacher to repeated queries | shaft"/>
          <p:cNvSpPr/>
          <p:nvPr/>
        </p:nvSpPr>
        <p:spPr>
          <a:xfrm>
            <a:off x="3749040" y="2093976"/>
            <a:ext cx="183" cy="64008"/>
          </a:xfrm>
          <a:custGeom>
            <a:avLst/>
            <a:gdLst/>
            <a:ahLst/>
            <a:cxnLst/>
            <a:rect l="0" t="0" r="r" b="b"/>
            <a:pathLst>
              <a:path w="20" h="7000">
                <a:moveTo>
                  <a:pt x="0" y="0"/>
                </a:moveTo>
                <a:lnTo>
                  <a:pt x="0" y="7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A | teacher to repeated queries | head"/>
          <p:cNvSpPr/>
          <p:nvPr/>
        </p:nvSpPr>
        <p:spPr>
          <a:xfrm>
            <a:off x="3653028" y="2157984"/>
            <a:ext cx="192024" cy="155448"/>
          </a:xfrm>
          <a:custGeom>
            <a:avLst/>
            <a:gdLst/>
            <a:ahLst/>
            <a:cxnLst/>
            <a:rect l="0" t="0" r="r" b="b"/>
            <a:pathLst>
              <a:path w="21000" h="17000">
                <a:moveTo>
                  <a:pt x="10500" y="17000"/>
                </a:moveTo>
                <a:lnTo>
                  <a:pt x="0" y="0"/>
                </a:lnTo>
                <a:lnTo>
                  <a:pt x="21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A | repeated queries card"/>
          <p:cNvSpPr/>
          <p:nvPr/>
        </p:nvSpPr>
        <p:spPr>
          <a:xfrm>
            <a:off x="2871216" y="2322576"/>
            <a:ext cx="1874520" cy="658368"/>
          </a:xfrm>
          <a:custGeom>
            <a:avLst/>
            <a:gdLst/>
            <a:ahLst/>
            <a:cxnLst/>
            <a:rect l="0" t="0" r="r" b="b"/>
            <a:pathLst>
              <a:path w="205000" h="84000">
                <a:moveTo>
                  <a:pt x="4000" y="0"/>
                </a:moveTo>
                <a:lnTo>
                  <a:pt x="201000" y="0"/>
                </a:lnTo>
                <a:cubicBezTo>
                  <a:pt x="203209" y="0"/>
                  <a:pt x="205000" y="1791"/>
                  <a:pt x="205000" y="4000"/>
                </a:cubicBezTo>
                <a:lnTo>
                  <a:pt x="205000" y="80000"/>
                </a:lnTo>
                <a:cubicBezTo>
                  <a:pt x="205000" y="82209"/>
                  <a:pt x="203209" y="84000"/>
                  <a:pt x="201000" y="84000"/>
                </a:cubicBezTo>
                <a:lnTo>
                  <a:pt x="4000" y="84000"/>
                </a:lnTo>
                <a:cubicBezTo>
                  <a:pt x="1791" y="84000"/>
                  <a:pt x="0" y="82209"/>
                  <a:pt x="0" y="80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9E9"/>
          </a:solidFill>
          <a:ln w="19050" cap="rnd" cmpd="sng" algn="ctr">
            <a:solidFill>
              <a:srgbClr val="FFA42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 | Repeated queries"/>
          <p:cNvSpPr txBox="1"/>
          <p:nvPr/>
        </p:nvSpPr>
        <p:spPr>
          <a:xfrm>
            <a:off x="2944368" y="2313432"/>
            <a:ext cx="1719072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Repeated queries</a:t>
            </a:r>
          </a:p>
        </p:txBody>
      </p:sp>
      <p:sp>
        <p:nvSpPr>
          <p:cNvPr id="152" name="Text | ···"/>
          <p:cNvSpPr txBox="1"/>
          <p:nvPr/>
        </p:nvSpPr>
        <p:spPr>
          <a:xfrm>
            <a:off x="4105656" y="2642616"/>
            <a:ext cx="283464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43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···</a:t>
            </a:r>
          </a:p>
        </p:txBody>
      </p:sp>
      <p:sp>
        <p:nvSpPr>
          <p:cNvPr id="153" name="A | queries to validation | shaft"/>
          <p:cNvSpPr/>
          <p:nvPr/>
        </p:nvSpPr>
        <p:spPr>
          <a:xfrm>
            <a:off x="3810762" y="2987802"/>
            <a:ext cx="50291" cy="128016"/>
          </a:xfrm>
          <a:custGeom>
            <a:avLst/>
            <a:gdLst/>
            <a:ahLst/>
            <a:cxnLst/>
            <a:rect l="0" t="0" r="r" b="b"/>
            <a:pathLst>
              <a:path w="20" h="6000">
                <a:moveTo>
                  <a:pt x="0" y="0"/>
                </a:moveTo>
                <a:lnTo>
                  <a:pt x="0" y="6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A | queries to validation | head"/>
          <p:cNvSpPr/>
          <p:nvPr/>
        </p:nvSpPr>
        <p:spPr>
          <a:xfrm>
            <a:off x="3742182" y="3079242"/>
            <a:ext cx="155448" cy="128016"/>
          </a:xfrm>
          <a:custGeom>
            <a:avLst/>
            <a:gdLst/>
            <a:ahLst/>
            <a:cxnLst/>
            <a:rect l="0" t="0" r="r" b="b"/>
            <a:pathLst>
              <a:path w="17000" h="14000">
                <a:moveTo>
                  <a:pt x="8500" y="14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A | validated JSON card"/>
          <p:cNvSpPr/>
          <p:nvPr/>
        </p:nvSpPr>
        <p:spPr>
          <a:xfrm>
            <a:off x="2871216" y="3227832"/>
            <a:ext cx="1874520" cy="676656"/>
          </a:xfrm>
          <a:custGeom>
            <a:avLst/>
            <a:gdLst/>
            <a:ahLst/>
            <a:cxnLst/>
            <a:rect l="0" t="0" r="r" b="b"/>
            <a:pathLst>
              <a:path w="205000" h="85000">
                <a:moveTo>
                  <a:pt x="4000" y="0"/>
                </a:moveTo>
                <a:lnTo>
                  <a:pt x="201000" y="0"/>
                </a:lnTo>
                <a:cubicBezTo>
                  <a:pt x="203209" y="0"/>
                  <a:pt x="205000" y="1791"/>
                  <a:pt x="205000" y="4000"/>
                </a:cubicBezTo>
                <a:lnTo>
                  <a:pt x="205000" y="81000"/>
                </a:lnTo>
                <a:cubicBezTo>
                  <a:pt x="205000" y="83209"/>
                  <a:pt x="203209" y="85000"/>
                  <a:pt x="201000" y="85000"/>
                </a:cubicBezTo>
                <a:lnTo>
                  <a:pt x="4000" y="85000"/>
                </a:lnTo>
                <a:cubicBezTo>
                  <a:pt x="1791" y="85000"/>
                  <a:pt x="0" y="83209"/>
                  <a:pt x="0" y="81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9E9"/>
          </a:solidFill>
          <a:ln w="19050" cap="rnd" cmpd="sng" algn="ctr">
            <a:solidFill>
              <a:srgbClr val="FFA42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 | Validated JSON outputs"/>
          <p:cNvSpPr txBox="1"/>
          <p:nvPr/>
        </p:nvSpPr>
        <p:spPr>
          <a:xfrm>
            <a:off x="2962656" y="3255264"/>
            <a:ext cx="1709928" cy="23774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Validated outputs</a:t>
            </a:r>
          </a:p>
        </p:txBody>
      </p:sp>
      <p:sp>
        <p:nvSpPr>
          <p:cNvPr id="177" name="A | JSON to targets | shaft"/>
          <p:cNvSpPr/>
          <p:nvPr/>
        </p:nvSpPr>
        <p:spPr>
          <a:xfrm>
            <a:off x="3804544" y="3922776"/>
            <a:ext cx="45719" cy="128016"/>
          </a:xfrm>
          <a:custGeom>
            <a:avLst/>
            <a:gdLst/>
            <a:ahLst/>
            <a:cxnLst/>
            <a:rect l="0" t="0" r="r" b="b"/>
            <a:pathLst>
              <a:path w="20" h="7000">
                <a:moveTo>
                  <a:pt x="0" y="0"/>
                </a:moveTo>
                <a:lnTo>
                  <a:pt x="0" y="7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A | JSON to targets | head"/>
          <p:cNvSpPr/>
          <p:nvPr/>
        </p:nvSpPr>
        <p:spPr>
          <a:xfrm>
            <a:off x="3717676" y="4039362"/>
            <a:ext cx="173736" cy="146304"/>
          </a:xfrm>
          <a:custGeom>
            <a:avLst/>
            <a:gdLst/>
            <a:ahLst/>
            <a:cxnLst/>
            <a:rect l="0" t="0" r="r" b="b"/>
            <a:pathLst>
              <a:path w="19000" h="16000">
                <a:moveTo>
                  <a:pt x="9500" y="16000"/>
                </a:moveTo>
                <a:lnTo>
                  <a:pt x="0" y="0"/>
                </a:lnTo>
                <a:lnTo>
                  <a:pt x="19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A | teacher targets"/>
          <p:cNvSpPr/>
          <p:nvPr/>
        </p:nvSpPr>
        <p:spPr>
          <a:xfrm>
            <a:off x="2880360" y="4206240"/>
            <a:ext cx="1865376" cy="1417320"/>
          </a:xfrm>
          <a:custGeom>
            <a:avLst/>
            <a:gdLst/>
            <a:ahLst/>
            <a:cxnLst/>
            <a:rect l="0" t="0" r="r" b="b"/>
            <a:pathLst>
              <a:path w="204000" h="155000">
                <a:moveTo>
                  <a:pt x="4000" y="0"/>
                </a:moveTo>
                <a:lnTo>
                  <a:pt x="200000" y="0"/>
                </a:lnTo>
                <a:cubicBezTo>
                  <a:pt x="202209" y="0"/>
                  <a:pt x="204000" y="1791"/>
                  <a:pt x="204000" y="4000"/>
                </a:cubicBezTo>
                <a:lnTo>
                  <a:pt x="204000" y="151000"/>
                </a:lnTo>
                <a:cubicBezTo>
                  <a:pt x="204000" y="153209"/>
                  <a:pt x="202209" y="155000"/>
                  <a:pt x="200000" y="155000"/>
                </a:cubicBezTo>
                <a:lnTo>
                  <a:pt x="4000" y="155000"/>
                </a:lnTo>
                <a:cubicBezTo>
                  <a:pt x="1791" y="155000"/>
                  <a:pt x="0" y="153209"/>
                  <a:pt x="0" y="151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9E9"/>
          </a:solidFill>
          <a:ln w="19050" cap="rnd" cmpd="sng" algn="ctr">
            <a:solidFill>
              <a:srgbClr val="FFA42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 | Teacher targets"/>
          <p:cNvSpPr txBox="1"/>
          <p:nvPr/>
        </p:nvSpPr>
        <p:spPr>
          <a:xfrm>
            <a:off x="2980944" y="4242816"/>
            <a:ext cx="1655064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Teacher targets</a:t>
            </a:r>
          </a:p>
        </p:txBody>
      </p:sp>
      <p:sp>
        <p:nvSpPr>
          <p:cNvPr id="181" name="A | target p(T)"/>
          <p:cNvSpPr/>
          <p:nvPr/>
        </p:nvSpPr>
        <p:spPr>
          <a:xfrm>
            <a:off x="2999232" y="4535424"/>
            <a:ext cx="1645920" cy="310896"/>
          </a:xfrm>
          <a:custGeom>
            <a:avLst/>
            <a:gdLst/>
            <a:ahLst/>
            <a:cxnLst/>
            <a:rect l="0" t="0" r="r" b="b"/>
            <a:pathLst>
              <a:path w="180000" h="34000">
                <a:moveTo>
                  <a:pt x="7000" y="0"/>
                </a:moveTo>
                <a:lnTo>
                  <a:pt x="173000" y="0"/>
                </a:lnTo>
                <a:cubicBezTo>
                  <a:pt x="176866" y="0"/>
                  <a:pt x="180000" y="3134"/>
                  <a:pt x="180000" y="7000"/>
                </a:cubicBezTo>
                <a:lnTo>
                  <a:pt x="180000" y="27000"/>
                </a:lnTo>
                <a:cubicBezTo>
                  <a:pt x="180000" y="30866"/>
                  <a:pt x="176866" y="34000"/>
                  <a:pt x="173000" y="34000"/>
                </a:cubicBezTo>
                <a:lnTo>
                  <a:pt x="7000" y="34000"/>
                </a:lnTo>
                <a:cubicBezTo>
                  <a:pt x="3134" y="34000"/>
                  <a:pt x="0" y="30866"/>
                  <a:pt x="0" y="27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8E2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 | p(T)"/>
              <p:cNvSpPr txBox="1"/>
              <p:nvPr/>
            </p:nvSpPr>
            <p:spPr>
              <a:xfrm>
                <a:off x="3044952" y="4535424"/>
                <a:ext cx="1554480" cy="31089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800" b="0" i="1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(T)</a:t>
                </a:r>
              </a:p>
            </p:txBody>
          </p:sp>
        </mc:Choice>
        <mc:Fallback xmlns="">
          <p:sp>
            <p:nvSpPr>
              <p:cNvPr id="182" name="Text | p(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52" y="4535424"/>
                <a:ext cx="1554480" cy="310896"/>
              </a:xfrm>
              <a:prstGeom prst="rect">
                <a:avLst/>
              </a:prstGeom>
              <a:blipFill>
                <a:blip r:embed="rId3"/>
                <a:stretch>
                  <a:fillRect t="-25490" b="-33333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A | target argmax p(T)"/>
          <p:cNvSpPr/>
          <p:nvPr/>
        </p:nvSpPr>
        <p:spPr>
          <a:xfrm>
            <a:off x="2999232" y="4873752"/>
            <a:ext cx="1645920" cy="310896"/>
          </a:xfrm>
          <a:custGeom>
            <a:avLst/>
            <a:gdLst/>
            <a:ahLst/>
            <a:cxnLst/>
            <a:rect l="0" t="0" r="r" b="b"/>
            <a:pathLst>
              <a:path w="180000" h="34000">
                <a:moveTo>
                  <a:pt x="7000" y="0"/>
                </a:moveTo>
                <a:lnTo>
                  <a:pt x="173000" y="0"/>
                </a:lnTo>
                <a:cubicBezTo>
                  <a:pt x="176866" y="0"/>
                  <a:pt x="180000" y="3134"/>
                  <a:pt x="180000" y="7000"/>
                </a:cubicBezTo>
                <a:lnTo>
                  <a:pt x="180000" y="27000"/>
                </a:lnTo>
                <a:cubicBezTo>
                  <a:pt x="180000" y="30866"/>
                  <a:pt x="176866" y="34000"/>
                  <a:pt x="173000" y="34000"/>
                </a:cubicBezTo>
                <a:lnTo>
                  <a:pt x="7000" y="34000"/>
                </a:lnTo>
                <a:cubicBezTo>
                  <a:pt x="3134" y="34000"/>
                  <a:pt x="0" y="30866"/>
                  <a:pt x="0" y="27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8E2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 | argmax p(T)"/>
              <p:cNvSpPr txBox="1"/>
              <p:nvPr/>
            </p:nvSpPr>
            <p:spPr>
              <a:xfrm>
                <a:off x="3044952" y="4873752"/>
                <a:ext cx="1554480" cy="31089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argmax </a:t>
                </a:r>
                <a14:m>
                  <m:oMath xmlns:m="http://schemas.openxmlformats.org/officeDocument/2006/math">
                    <m:r>
                      <a:rPr lang="en-US" sz="1800" b="0" i="1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(T)</a:t>
                </a:r>
              </a:p>
            </p:txBody>
          </p:sp>
        </mc:Choice>
        <mc:Fallback xmlns="">
          <p:sp>
            <p:nvSpPr>
              <p:cNvPr id="184" name="Text | argmax p(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52" y="4873752"/>
                <a:ext cx="1554480" cy="310896"/>
              </a:xfrm>
              <a:prstGeom prst="rect">
                <a:avLst/>
              </a:prstGeom>
              <a:blipFill>
                <a:blip r:embed="rId4"/>
                <a:stretch>
                  <a:fillRect t="-27451" b="-33333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A | target Δt(T)"/>
          <p:cNvSpPr/>
          <p:nvPr/>
        </p:nvSpPr>
        <p:spPr>
          <a:xfrm>
            <a:off x="2999232" y="5221224"/>
            <a:ext cx="1645920" cy="310896"/>
          </a:xfrm>
          <a:custGeom>
            <a:avLst/>
            <a:gdLst/>
            <a:ahLst/>
            <a:cxnLst/>
            <a:rect l="0" t="0" r="r" b="b"/>
            <a:pathLst>
              <a:path w="180000" h="34000">
                <a:moveTo>
                  <a:pt x="7000" y="0"/>
                </a:moveTo>
                <a:lnTo>
                  <a:pt x="173000" y="0"/>
                </a:lnTo>
                <a:cubicBezTo>
                  <a:pt x="176866" y="0"/>
                  <a:pt x="180000" y="3134"/>
                  <a:pt x="180000" y="7000"/>
                </a:cubicBezTo>
                <a:lnTo>
                  <a:pt x="180000" y="27000"/>
                </a:lnTo>
                <a:cubicBezTo>
                  <a:pt x="180000" y="30866"/>
                  <a:pt x="176866" y="34000"/>
                  <a:pt x="173000" y="34000"/>
                </a:cubicBezTo>
                <a:lnTo>
                  <a:pt x="7000" y="34000"/>
                </a:lnTo>
                <a:cubicBezTo>
                  <a:pt x="3134" y="34000"/>
                  <a:pt x="0" y="30866"/>
                  <a:pt x="0" y="27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8E2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 | Δt(T)"/>
              <p:cNvSpPr txBox="1"/>
              <p:nvPr/>
            </p:nvSpPr>
            <p:spPr>
              <a:xfrm>
                <a:off x="3044952" y="5221224"/>
                <a:ext cx="1554480" cy="31089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sz="1800" b="0" i="1" kern="1200" dirty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800" b="0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(T)</a:t>
                </a:r>
              </a:p>
            </p:txBody>
          </p:sp>
        </mc:Choice>
        <mc:Fallback xmlns="">
          <p:sp>
            <p:nvSpPr>
              <p:cNvPr id="186" name="Text | Δt(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952" y="5221224"/>
                <a:ext cx="1554480" cy="310896"/>
              </a:xfrm>
              <a:prstGeom prst="rect">
                <a:avLst/>
              </a:prstGeom>
              <a:blipFill>
                <a:blip r:embed="rId5"/>
                <a:stretch>
                  <a:fillRect t="-27451" b="-33333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A | targets into loss | shaft"/>
          <p:cNvSpPr/>
          <p:nvPr/>
        </p:nvSpPr>
        <p:spPr>
          <a:xfrm>
            <a:off x="3822192" y="5742432"/>
            <a:ext cx="45719" cy="597068"/>
          </a:xfrm>
          <a:custGeom>
            <a:avLst/>
            <a:gdLst/>
            <a:ahLst/>
            <a:cxnLst/>
            <a:rect l="0" t="0" r="r" b="b"/>
            <a:pathLst>
              <a:path w="20" h="50000">
                <a:moveTo>
                  <a:pt x="0" y="0"/>
                </a:moveTo>
                <a:lnTo>
                  <a:pt x="0" y="50000"/>
                </a:lnTo>
              </a:path>
            </a:pathLst>
          </a:custGeom>
          <a:noFill/>
          <a:ln w="32004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A | targets into loss | head"/>
          <p:cNvSpPr/>
          <p:nvPr/>
        </p:nvSpPr>
        <p:spPr>
          <a:xfrm>
            <a:off x="3725037" y="6322658"/>
            <a:ext cx="192024" cy="146304"/>
          </a:xfrm>
          <a:custGeom>
            <a:avLst/>
            <a:gdLst/>
            <a:ahLst/>
            <a:cxnLst/>
            <a:rect l="0" t="0" r="r" b="b"/>
            <a:pathLst>
              <a:path w="21000" h="16000">
                <a:moveTo>
                  <a:pt x="10500" y="16000"/>
                </a:moveTo>
                <a:lnTo>
                  <a:pt x="0" y="0"/>
                </a:lnTo>
                <a:lnTo>
                  <a:pt x="21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A | samples into loss | shaft"/>
          <p:cNvSpPr/>
          <p:nvPr/>
        </p:nvSpPr>
        <p:spPr>
          <a:xfrm>
            <a:off x="2551176" y="6131174"/>
            <a:ext cx="45719" cy="223906"/>
          </a:xfrm>
          <a:custGeom>
            <a:avLst/>
            <a:gdLst/>
            <a:ahLst/>
            <a:cxnLst/>
            <a:rect l="0" t="0" r="r" b="b"/>
            <a:pathLst>
              <a:path w="20" h="3000">
                <a:moveTo>
                  <a:pt x="0" y="0"/>
                </a:moveTo>
                <a:lnTo>
                  <a:pt x="0" y="3000"/>
                </a:lnTo>
              </a:path>
            </a:pathLst>
          </a:custGeom>
          <a:noFill/>
          <a:ln w="28346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A | samples into loss | head"/>
          <p:cNvSpPr/>
          <p:nvPr/>
        </p:nvSpPr>
        <p:spPr>
          <a:xfrm>
            <a:off x="2465288" y="6327459"/>
            <a:ext cx="173736" cy="137160"/>
          </a:xfrm>
          <a:custGeom>
            <a:avLst/>
            <a:gdLst/>
            <a:ahLst/>
            <a:cxnLst/>
            <a:rect l="0" t="0" r="r" b="b"/>
            <a:pathLst>
              <a:path w="19000" h="15000">
                <a:moveTo>
                  <a:pt x="9500" y="15000"/>
                </a:moveTo>
                <a:lnTo>
                  <a:pt x="0" y="0"/>
                </a:lnTo>
                <a:lnTo>
                  <a:pt x="19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A | loss and optimization group"/>
          <p:cNvSpPr/>
          <p:nvPr/>
        </p:nvSpPr>
        <p:spPr>
          <a:xfrm>
            <a:off x="155448" y="6480810"/>
            <a:ext cx="4773168" cy="1959102"/>
          </a:xfrm>
          <a:custGeom>
            <a:avLst/>
            <a:gdLst/>
            <a:ahLst/>
            <a:cxnLst/>
            <a:rect l="0" t="0" r="r" b="b"/>
            <a:pathLst>
              <a:path w="522000" h="230000">
                <a:moveTo>
                  <a:pt x="6000" y="0"/>
                </a:moveTo>
                <a:lnTo>
                  <a:pt x="516000" y="0"/>
                </a:lnTo>
                <a:cubicBezTo>
                  <a:pt x="519314" y="0"/>
                  <a:pt x="522000" y="2686"/>
                  <a:pt x="522000" y="6000"/>
                </a:cubicBezTo>
                <a:lnTo>
                  <a:pt x="522000" y="224000"/>
                </a:lnTo>
                <a:cubicBezTo>
                  <a:pt x="522000" y="227314"/>
                  <a:pt x="519314" y="230000"/>
                  <a:pt x="516000" y="230000"/>
                </a:cubicBezTo>
                <a:lnTo>
                  <a:pt x="6000" y="230000"/>
                </a:lnTo>
                <a:cubicBezTo>
                  <a:pt x="2686" y="230000"/>
                  <a:pt x="0" y="227314"/>
                  <a:pt x="0" y="224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gradFill rotWithShape="1">
            <a:gsLst>
              <a:gs pos="0">
                <a:srgbClr val="EDF9FF"/>
              </a:gs>
              <a:gs pos="100000">
                <a:srgbClr val="D6EFFF"/>
              </a:gs>
            </a:gsLst>
            <a:lin ang="5400000" scaled="1"/>
          </a:gradFill>
          <a:ln w="19050" cap="rnd" cmpd="sng" algn="ctr">
            <a:solidFill>
              <a:srgbClr val="70CEF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 | Response-aware optimization"/>
          <p:cNvSpPr txBox="1"/>
          <p:nvPr/>
        </p:nvSpPr>
        <p:spPr>
          <a:xfrm>
            <a:off x="752090" y="6622964"/>
            <a:ext cx="3527302" cy="28346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training objectives</a:t>
            </a:r>
          </a:p>
        </p:txBody>
      </p:sp>
      <p:sp>
        <p:nvSpPr>
          <p:cNvPr id="193" name="A | Pointwise losses"/>
          <p:cNvSpPr/>
          <p:nvPr/>
        </p:nvSpPr>
        <p:spPr>
          <a:xfrm>
            <a:off x="274320" y="7057248"/>
            <a:ext cx="1435608" cy="422544"/>
          </a:xfrm>
          <a:custGeom>
            <a:avLst/>
            <a:gdLst/>
            <a:ahLst/>
            <a:cxnLst/>
            <a:rect l="0" t="0" r="r" b="b"/>
            <a:pathLst>
              <a:path w="157000" h="103000">
                <a:moveTo>
                  <a:pt x="5000" y="0"/>
                </a:moveTo>
                <a:lnTo>
                  <a:pt x="152000" y="0"/>
                </a:lnTo>
                <a:cubicBezTo>
                  <a:pt x="154761" y="0"/>
                  <a:pt x="157000" y="2239"/>
                  <a:pt x="157000" y="5000"/>
                </a:cubicBezTo>
                <a:lnTo>
                  <a:pt x="157000" y="98000"/>
                </a:lnTo>
                <a:cubicBezTo>
                  <a:pt x="157000" y="100761"/>
                  <a:pt x="154761" y="103000"/>
                  <a:pt x="152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6BC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Text | Pointwise losses"/>
          <p:cNvSpPr txBox="1"/>
          <p:nvPr/>
        </p:nvSpPr>
        <p:spPr>
          <a:xfrm>
            <a:off x="320040" y="7106340"/>
            <a:ext cx="1325880" cy="3657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Pointwise</a:t>
            </a:r>
          </a:p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 fit</a:t>
            </a:r>
          </a:p>
        </p:txBody>
      </p:sp>
      <p:sp>
        <p:nvSpPr>
          <p:cNvPr id="195" name="A | Response losses"/>
          <p:cNvSpPr/>
          <p:nvPr/>
        </p:nvSpPr>
        <p:spPr>
          <a:xfrm>
            <a:off x="1792224" y="7057247"/>
            <a:ext cx="1435608" cy="422544"/>
          </a:xfrm>
          <a:custGeom>
            <a:avLst/>
            <a:gdLst/>
            <a:ahLst/>
            <a:cxnLst/>
            <a:rect l="0" t="0" r="r" b="b"/>
            <a:pathLst>
              <a:path w="157000" h="103000">
                <a:moveTo>
                  <a:pt x="5000" y="0"/>
                </a:moveTo>
                <a:lnTo>
                  <a:pt x="152000" y="0"/>
                </a:lnTo>
                <a:cubicBezTo>
                  <a:pt x="154761" y="0"/>
                  <a:pt x="157000" y="2239"/>
                  <a:pt x="157000" y="5000"/>
                </a:cubicBezTo>
                <a:lnTo>
                  <a:pt x="157000" y="98000"/>
                </a:lnTo>
                <a:cubicBezTo>
                  <a:pt x="157000" y="100761"/>
                  <a:pt x="154761" y="103000"/>
                  <a:pt x="152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6BC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Text | Response losses"/>
          <p:cNvSpPr txBox="1"/>
          <p:nvPr/>
        </p:nvSpPr>
        <p:spPr>
          <a:xfrm>
            <a:off x="1961691" y="7106340"/>
            <a:ext cx="1124105" cy="3657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Paired</a:t>
            </a:r>
          </a:p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</a:p>
        </p:txBody>
      </p:sp>
      <p:sp>
        <p:nvSpPr>
          <p:cNvPr id="197" name="A | Contrast matching"/>
          <p:cNvSpPr/>
          <p:nvPr/>
        </p:nvSpPr>
        <p:spPr>
          <a:xfrm>
            <a:off x="3300984" y="7057246"/>
            <a:ext cx="1545336" cy="422545"/>
          </a:xfrm>
          <a:custGeom>
            <a:avLst/>
            <a:gdLst/>
            <a:ahLst/>
            <a:cxnLst/>
            <a:rect l="0" t="0" r="r" b="b"/>
            <a:pathLst>
              <a:path w="169000" h="103000">
                <a:moveTo>
                  <a:pt x="5000" y="0"/>
                </a:moveTo>
                <a:lnTo>
                  <a:pt x="164000" y="0"/>
                </a:lnTo>
                <a:cubicBezTo>
                  <a:pt x="166761" y="0"/>
                  <a:pt x="169000" y="2239"/>
                  <a:pt x="169000" y="5000"/>
                </a:cubicBezTo>
                <a:lnTo>
                  <a:pt x="169000" y="98000"/>
                </a:lnTo>
                <a:cubicBezTo>
                  <a:pt x="169000" y="100761"/>
                  <a:pt x="166761" y="103000"/>
                  <a:pt x="164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6BC7F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Text | Contrast matching"/>
          <p:cNvSpPr txBox="1"/>
          <p:nvPr/>
        </p:nvSpPr>
        <p:spPr>
          <a:xfrm>
            <a:off x="3359563" y="7114032"/>
            <a:ext cx="1435608" cy="3657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Departure</a:t>
            </a:r>
          </a:p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</a:p>
        </p:txBody>
      </p:sp>
      <p:sp>
        <p:nvSpPr>
          <p:cNvPr id="243" name="A | joint optimization"/>
          <p:cNvSpPr/>
          <p:nvPr/>
        </p:nvSpPr>
        <p:spPr>
          <a:xfrm>
            <a:off x="1129406" y="7918704"/>
            <a:ext cx="2981893" cy="380025"/>
          </a:xfrm>
          <a:custGeom>
            <a:avLst/>
            <a:gdLst/>
            <a:ahLst/>
            <a:cxnLst/>
            <a:rect l="0" t="0" r="r" b="b"/>
            <a:pathLst>
              <a:path w="420000" h="50000">
                <a:moveTo>
                  <a:pt x="5000" y="0"/>
                </a:moveTo>
                <a:lnTo>
                  <a:pt x="415000" y="0"/>
                </a:lnTo>
                <a:cubicBezTo>
                  <a:pt x="417761" y="0"/>
                  <a:pt x="420000" y="2239"/>
                  <a:pt x="420000" y="5000"/>
                </a:cubicBezTo>
                <a:lnTo>
                  <a:pt x="420000" y="45000"/>
                </a:lnTo>
                <a:cubicBezTo>
                  <a:pt x="420000" y="47761"/>
                  <a:pt x="417761" y="50000"/>
                  <a:pt x="415000" y="50000"/>
                </a:cubicBezTo>
                <a:lnTo>
                  <a:pt x="5000" y="50000"/>
                </a:lnTo>
                <a:cubicBezTo>
                  <a:pt x="2239" y="50000"/>
                  <a:pt x="0" y="47761"/>
                  <a:pt x="0" y="4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5F2FF"/>
              </a:gs>
              <a:gs pos="100000">
                <a:srgbClr val="B8E4F7"/>
              </a:gs>
            </a:gsLst>
            <a:lin ang="5400000" scaled="1"/>
          </a:gradFill>
          <a:ln w="11429" cap="rnd" cmpd="sng" algn="ctr">
            <a:solidFill>
              <a:srgbClr val="138C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4" name="Icon | Optimization gear"/>
          <p:cNvGrpSpPr/>
          <p:nvPr/>
        </p:nvGrpSpPr>
        <p:grpSpPr>
          <a:xfrm>
            <a:off x="1511869" y="7976677"/>
            <a:ext cx="304678" cy="304678"/>
            <a:chOff x="1511869" y="7976677"/>
            <a:chExt cx="304678" cy="304678"/>
          </a:xfrm>
        </p:grpSpPr>
        <p:sp>
          <p:nvSpPr>
            <p:cNvPr id="245" name="Optimization gear | outline"/>
            <p:cNvSpPr/>
            <p:nvPr/>
          </p:nvSpPr>
          <p:spPr>
            <a:xfrm>
              <a:off x="1511869" y="7976677"/>
              <a:ext cx="304678" cy="304678"/>
            </a:xfrm>
            <a:custGeom>
              <a:avLst/>
              <a:gdLst/>
              <a:ahLst/>
              <a:cxnLst/>
              <a:rect l="0" t="0" r="r" b="b"/>
              <a:pathLst>
                <a:path w="33320" h="33320">
                  <a:moveTo>
                    <a:pt x="16660" y="0"/>
                  </a:moveTo>
                  <a:lnTo>
                    <a:pt x="19910" y="320"/>
                  </a:lnTo>
                  <a:lnTo>
                    <a:pt x="21734" y="4409"/>
                  </a:lnTo>
                  <a:lnTo>
                    <a:pt x="24027" y="5635"/>
                  </a:lnTo>
                  <a:lnTo>
                    <a:pt x="28440" y="4880"/>
                  </a:lnTo>
                  <a:lnTo>
                    <a:pt x="30512" y="7404"/>
                  </a:lnTo>
                  <a:lnTo>
                    <a:pt x="28911" y="11586"/>
                  </a:lnTo>
                  <a:lnTo>
                    <a:pt x="29665" y="14073"/>
                  </a:lnTo>
                  <a:lnTo>
                    <a:pt x="33320" y="16660"/>
                  </a:lnTo>
                  <a:lnTo>
                    <a:pt x="33000" y="19910"/>
                  </a:lnTo>
                  <a:lnTo>
                    <a:pt x="28911" y="21734"/>
                  </a:lnTo>
                  <a:lnTo>
                    <a:pt x="27685" y="24027"/>
                  </a:lnTo>
                  <a:lnTo>
                    <a:pt x="28440" y="28440"/>
                  </a:lnTo>
                  <a:lnTo>
                    <a:pt x="25916" y="30512"/>
                  </a:lnTo>
                  <a:lnTo>
                    <a:pt x="21734" y="28911"/>
                  </a:lnTo>
                  <a:lnTo>
                    <a:pt x="19247" y="29665"/>
                  </a:lnTo>
                  <a:lnTo>
                    <a:pt x="16660" y="33320"/>
                  </a:lnTo>
                  <a:lnTo>
                    <a:pt x="13410" y="33000"/>
                  </a:lnTo>
                  <a:lnTo>
                    <a:pt x="11586" y="28911"/>
                  </a:lnTo>
                  <a:lnTo>
                    <a:pt x="9293" y="27685"/>
                  </a:lnTo>
                  <a:lnTo>
                    <a:pt x="4880" y="28440"/>
                  </a:lnTo>
                  <a:lnTo>
                    <a:pt x="2808" y="25916"/>
                  </a:lnTo>
                  <a:lnTo>
                    <a:pt x="4409" y="21734"/>
                  </a:lnTo>
                  <a:lnTo>
                    <a:pt x="3655" y="19247"/>
                  </a:lnTo>
                  <a:lnTo>
                    <a:pt x="0" y="16660"/>
                  </a:lnTo>
                  <a:lnTo>
                    <a:pt x="320" y="13410"/>
                  </a:lnTo>
                  <a:lnTo>
                    <a:pt x="4409" y="11586"/>
                  </a:lnTo>
                  <a:lnTo>
                    <a:pt x="5635" y="9293"/>
                  </a:lnTo>
                  <a:lnTo>
                    <a:pt x="4880" y="4880"/>
                  </a:lnTo>
                  <a:lnTo>
                    <a:pt x="7404" y="2808"/>
                  </a:lnTo>
                  <a:lnTo>
                    <a:pt x="11586" y="4409"/>
                  </a:lnTo>
                  <a:lnTo>
                    <a:pt x="14073" y="3655"/>
                  </a:lnTo>
                  <a:close/>
                </a:path>
              </a:pathLst>
            </a:custGeom>
            <a:solidFill>
              <a:srgbClr val="084A7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Optimization gear | ellipse"/>
            <p:cNvSpPr/>
            <p:nvPr/>
          </p:nvSpPr>
          <p:spPr>
            <a:xfrm>
              <a:off x="1608247" y="8073055"/>
              <a:ext cx="111923" cy="111923"/>
            </a:xfrm>
            <a:prstGeom prst="ellipse">
              <a:avLst/>
            </a:prstGeom>
            <a:solidFill>
              <a:srgbClr val="BFE7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7" name="Text | Joint optimization"/>
          <p:cNvSpPr txBox="1"/>
          <p:nvPr/>
        </p:nvSpPr>
        <p:spPr>
          <a:xfrm>
            <a:off x="1920240" y="7918704"/>
            <a:ext cx="2066544" cy="40233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9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training</a:t>
            </a:r>
          </a:p>
        </p:txBody>
      </p:sp>
      <p:sp>
        <p:nvSpPr>
          <p:cNvPr id="248" name="B | structured inputs container"/>
          <p:cNvSpPr/>
          <p:nvPr/>
        </p:nvSpPr>
        <p:spPr>
          <a:xfrm>
            <a:off x="5248656" y="1014984"/>
            <a:ext cx="4791456" cy="1600200"/>
          </a:xfrm>
          <a:custGeom>
            <a:avLst/>
            <a:gdLst/>
            <a:ahLst/>
            <a:cxnLst/>
            <a:rect l="0" t="0" r="r" b="b"/>
            <a:pathLst>
              <a:path w="524000" h="175000">
                <a:moveTo>
                  <a:pt x="7000" y="0"/>
                </a:moveTo>
                <a:lnTo>
                  <a:pt x="517000" y="0"/>
                </a:lnTo>
                <a:cubicBezTo>
                  <a:pt x="520866" y="0"/>
                  <a:pt x="524000" y="3134"/>
                  <a:pt x="524000" y="7000"/>
                </a:cubicBezTo>
                <a:lnTo>
                  <a:pt x="524000" y="168000"/>
                </a:lnTo>
                <a:cubicBezTo>
                  <a:pt x="524000" y="171866"/>
                  <a:pt x="520866" y="175000"/>
                  <a:pt x="517000" y="175000"/>
                </a:cubicBezTo>
                <a:lnTo>
                  <a:pt x="7000" y="175000"/>
                </a:lnTo>
                <a:cubicBezTo>
                  <a:pt x="3134" y="175000"/>
                  <a:pt x="0" y="171866"/>
                  <a:pt x="0" y="168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gradFill rotWithShape="1">
            <a:gsLst>
              <a:gs pos="0">
                <a:srgbClr val="F8FFF9"/>
              </a:gs>
              <a:gs pos="100000">
                <a:srgbClr val="EDFFF0"/>
              </a:gs>
            </a:gsLst>
            <a:lin ang="5400000" scaled="1"/>
          </a:gradFill>
          <a:ln w="19050" cap="rnd" cmpd="sng" algn="ctr">
            <a:solidFill>
              <a:srgbClr val="42AC61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B | structured state label"/>
          <p:cNvSpPr/>
          <p:nvPr/>
        </p:nvSpPr>
        <p:spPr>
          <a:xfrm>
            <a:off x="6345936" y="868680"/>
            <a:ext cx="2596896" cy="283464"/>
          </a:xfrm>
          <a:custGeom>
            <a:avLst/>
            <a:gdLst/>
            <a:ahLst/>
            <a:cxnLst/>
            <a:rect l="0" t="0" r="r" b="b"/>
            <a:pathLst>
              <a:path w="284000" h="31000">
                <a:moveTo>
                  <a:pt x="5000" y="0"/>
                </a:moveTo>
                <a:lnTo>
                  <a:pt x="279000" y="0"/>
                </a:lnTo>
                <a:cubicBezTo>
                  <a:pt x="281761" y="0"/>
                  <a:pt x="284000" y="2239"/>
                  <a:pt x="284000" y="5000"/>
                </a:cubicBezTo>
                <a:lnTo>
                  <a:pt x="284000" y="26000"/>
                </a:lnTo>
                <a:cubicBezTo>
                  <a:pt x="284000" y="28761"/>
                  <a:pt x="281761" y="31000"/>
                  <a:pt x="279000" y="31000"/>
                </a:cubicBezTo>
                <a:lnTo>
                  <a:pt x="5000" y="31000"/>
                </a:lnTo>
                <a:cubicBezTo>
                  <a:pt x="2239" y="31000"/>
                  <a:pt x="0" y="28761"/>
                  <a:pt x="0" y="26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E5F8E7"/>
          </a:solidFill>
          <a:ln w="19050" cap="rnd" cmpd="sng" algn="ctr">
            <a:solidFill>
              <a:srgbClr val="3CA25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Text | Structured states (inputs)"/>
          <p:cNvSpPr txBox="1"/>
          <p:nvPr/>
        </p:nvSpPr>
        <p:spPr>
          <a:xfrm>
            <a:off x="6483096" y="886968"/>
            <a:ext cx="232257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8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 states (inputs)</a:t>
            </a:r>
          </a:p>
        </p:txBody>
      </p:sp>
      <p:sp>
        <p:nvSpPr>
          <p:cNvPr id="251" name="B | persona input"/>
          <p:cNvSpPr/>
          <p:nvPr/>
        </p:nvSpPr>
        <p:spPr>
          <a:xfrm>
            <a:off x="5349240" y="1271016"/>
            <a:ext cx="2221992" cy="1225296"/>
          </a:xfrm>
          <a:custGeom>
            <a:avLst/>
            <a:gdLst/>
            <a:ahLst/>
            <a:cxnLst/>
            <a:rect l="0" t="0" r="r" b="b"/>
            <a:pathLst>
              <a:path w="243000" h="134000">
                <a:moveTo>
                  <a:pt x="4000" y="0"/>
                </a:moveTo>
                <a:lnTo>
                  <a:pt x="239000" y="0"/>
                </a:lnTo>
                <a:cubicBezTo>
                  <a:pt x="241209" y="0"/>
                  <a:pt x="243000" y="1791"/>
                  <a:pt x="243000" y="4000"/>
                </a:cubicBezTo>
                <a:lnTo>
                  <a:pt x="243000" y="130000"/>
                </a:lnTo>
                <a:cubicBezTo>
                  <a:pt x="243000" y="132209"/>
                  <a:pt x="241209" y="134000"/>
                  <a:pt x="239000" y="134000"/>
                </a:cubicBezTo>
                <a:lnTo>
                  <a:pt x="4000" y="134000"/>
                </a:lnTo>
                <a:cubicBezTo>
                  <a:pt x="1791" y="134000"/>
                  <a:pt x="0" y="132209"/>
                  <a:pt x="0" y="130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2A96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B | mode input"/>
          <p:cNvSpPr/>
          <p:nvPr/>
        </p:nvSpPr>
        <p:spPr>
          <a:xfrm>
            <a:off x="7699248" y="1271016"/>
            <a:ext cx="2221992" cy="1225296"/>
          </a:xfrm>
          <a:custGeom>
            <a:avLst/>
            <a:gdLst/>
            <a:ahLst/>
            <a:cxnLst/>
            <a:rect l="0" t="0" r="r" b="b"/>
            <a:pathLst>
              <a:path w="243000" h="134000">
                <a:moveTo>
                  <a:pt x="4000" y="0"/>
                </a:moveTo>
                <a:lnTo>
                  <a:pt x="239000" y="0"/>
                </a:lnTo>
                <a:cubicBezTo>
                  <a:pt x="241209" y="0"/>
                  <a:pt x="243000" y="1791"/>
                  <a:pt x="243000" y="4000"/>
                </a:cubicBezTo>
                <a:lnTo>
                  <a:pt x="243000" y="130000"/>
                </a:lnTo>
                <a:cubicBezTo>
                  <a:pt x="243000" y="132209"/>
                  <a:pt x="241209" y="134000"/>
                  <a:pt x="239000" y="134000"/>
                </a:cubicBezTo>
                <a:lnTo>
                  <a:pt x="4000" y="134000"/>
                </a:lnTo>
                <a:cubicBezTo>
                  <a:pt x="1791" y="134000"/>
                  <a:pt x="0" y="132209"/>
                  <a:pt x="0" y="130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2A96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Text | Persona + Trip Context"/>
          <p:cNvSpPr txBox="1"/>
          <p:nvPr/>
        </p:nvSpPr>
        <p:spPr>
          <a:xfrm>
            <a:off x="5458968" y="1307592"/>
            <a:ext cx="2002536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+ Trip</a:t>
            </a:r>
          </a:p>
        </p:txBody>
      </p:sp>
      <p:sp>
        <p:nvSpPr>
          <p:cNvPr id="254" name="Text | Mode + Supply Attributes"/>
          <p:cNvSpPr txBox="1"/>
          <p:nvPr/>
        </p:nvSpPr>
        <p:spPr>
          <a:xfrm>
            <a:off x="7772400" y="1307592"/>
            <a:ext cx="2066544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4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+ Supply</a:t>
            </a:r>
          </a:p>
        </p:txBody>
      </p:sp>
      <p:sp>
        <p:nvSpPr>
          <p:cNvPr id="306" name="Text | 9 categorical · 17 numeric"/>
          <p:cNvSpPr txBox="1"/>
          <p:nvPr/>
        </p:nvSpPr>
        <p:spPr>
          <a:xfrm>
            <a:off x="5340096" y="2199132"/>
            <a:ext cx="2295144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categorical · 17 numeric</a:t>
            </a:r>
          </a:p>
        </p:txBody>
      </p:sp>
      <p:sp>
        <p:nvSpPr>
          <p:cNvPr id="359" name="Text | 12 attributes per mode"/>
          <p:cNvSpPr txBox="1"/>
          <p:nvPr/>
        </p:nvSpPr>
        <p:spPr>
          <a:xfrm>
            <a:off x="7808975" y="2203704"/>
            <a:ext cx="2066544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3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attributes per mode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Text | uₘ"/>
              <p:cNvSpPr txBox="1"/>
              <p:nvPr/>
            </p:nvSpPr>
            <p:spPr>
              <a:xfrm>
                <a:off x="5980176" y="4354373"/>
                <a:ext cx="841248" cy="265176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655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655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US" sz="1655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ₘ</m:t>
                      </m:r>
                    </m:oMath>
                  </m:oMathPara>
                </a14:m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7" name="Text | uₘ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176" y="4354373"/>
                <a:ext cx="841248" cy="265176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Text | z(a)"/>
              <p:cNvSpPr txBox="1"/>
              <p:nvPr/>
            </p:nvSpPr>
            <p:spPr>
              <a:xfrm>
                <a:off x="7991856" y="4754880"/>
                <a:ext cx="1801368" cy="228600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584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𝑧</m:t>
                      </m:r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US" sz="1584" b="0" i="1" kern="1200" dirty="0" smtClean="0">
                          <a:solidFill>
                            <a:srgbClr val="06145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4" name="Text | z(a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856" y="4754880"/>
                <a:ext cx="1801368" cy="228600"/>
              </a:xfrm>
              <a:prstGeom prst="rect">
                <a:avLst/>
              </a:prstGeom>
              <a:blipFill>
                <a:blip r:embed="rId7"/>
                <a:stretch>
                  <a:fillRect t="-7895" b="-342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8" name="B | predictions dashed group"/>
          <p:cNvSpPr/>
          <p:nvPr/>
        </p:nvSpPr>
        <p:spPr>
          <a:xfrm>
            <a:off x="5239512" y="6071616"/>
            <a:ext cx="4800600" cy="1536192"/>
          </a:xfrm>
          <a:custGeom>
            <a:avLst/>
            <a:gdLst/>
            <a:ahLst/>
            <a:cxnLst/>
            <a:rect l="0" t="0" r="r" b="b"/>
            <a:pathLst>
              <a:path w="525000" h="168000">
                <a:moveTo>
                  <a:pt x="6000" y="0"/>
                </a:moveTo>
                <a:lnTo>
                  <a:pt x="519000" y="0"/>
                </a:lnTo>
                <a:cubicBezTo>
                  <a:pt x="522314" y="0"/>
                  <a:pt x="525000" y="2686"/>
                  <a:pt x="525000" y="6000"/>
                </a:cubicBezTo>
                <a:lnTo>
                  <a:pt x="525000" y="162000"/>
                </a:lnTo>
                <a:cubicBezTo>
                  <a:pt x="525000" y="165314"/>
                  <a:pt x="522314" y="168000"/>
                  <a:pt x="519000" y="168000"/>
                </a:cubicBezTo>
                <a:lnTo>
                  <a:pt x="6000" y="168000"/>
                </a:lnTo>
                <a:cubicBezTo>
                  <a:pt x="2686" y="168000"/>
                  <a:pt x="0" y="165314"/>
                  <a:pt x="0" y="162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F7FFF9"/>
          </a:solidFill>
          <a:ln w="13716" cap="rnd" cmpd="sng" algn="ctr">
            <a:solidFill>
              <a:srgbClr val="198F38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" name="B | predictions inner frame"/>
          <p:cNvSpPr/>
          <p:nvPr/>
        </p:nvSpPr>
        <p:spPr>
          <a:xfrm>
            <a:off x="5340096" y="6291072"/>
            <a:ext cx="4608576" cy="1207008"/>
          </a:xfrm>
          <a:custGeom>
            <a:avLst/>
            <a:gdLst/>
            <a:ahLst/>
            <a:cxnLst/>
            <a:rect l="0" t="0" r="r" b="b"/>
            <a:pathLst>
              <a:path w="504000" h="132000">
                <a:moveTo>
                  <a:pt x="7000" y="0"/>
                </a:moveTo>
                <a:lnTo>
                  <a:pt x="497000" y="0"/>
                </a:lnTo>
                <a:cubicBezTo>
                  <a:pt x="500866" y="0"/>
                  <a:pt x="504000" y="3134"/>
                  <a:pt x="504000" y="7000"/>
                </a:cubicBezTo>
                <a:lnTo>
                  <a:pt x="504000" y="125000"/>
                </a:lnTo>
                <a:cubicBezTo>
                  <a:pt x="504000" y="128866"/>
                  <a:pt x="500866" y="132000"/>
                  <a:pt x="497000" y="132000"/>
                </a:cubicBezTo>
                <a:lnTo>
                  <a:pt x="7000" y="132000"/>
                </a:lnTo>
                <a:cubicBezTo>
                  <a:pt x="3134" y="132000"/>
                  <a:pt x="0" y="128866"/>
                  <a:pt x="0" y="125000"/>
                </a:cubicBezTo>
                <a:lnTo>
                  <a:pt x="0" y="7000"/>
                </a:lnTo>
                <a:cubicBezTo>
                  <a:pt x="0" y="3134"/>
                  <a:pt x="3134" y="0"/>
                  <a:pt x="7000" y="0"/>
                </a:cubicBezTo>
                <a:close/>
              </a:path>
            </a:pathLst>
          </a:custGeom>
          <a:solidFill>
            <a:srgbClr val="F0FFF4"/>
          </a:solidFill>
          <a:ln w="19050" cap="rnd" cmpd="sng" algn="ctr">
            <a:solidFill>
              <a:srgbClr val="43B36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" name="B | prediction group label"/>
          <p:cNvSpPr/>
          <p:nvPr/>
        </p:nvSpPr>
        <p:spPr>
          <a:xfrm>
            <a:off x="6245353" y="6163056"/>
            <a:ext cx="2826694" cy="256032"/>
          </a:xfrm>
          <a:custGeom>
            <a:avLst/>
            <a:gdLst/>
            <a:ahLst/>
            <a:cxnLst/>
            <a:rect l="0" t="0" r="r" b="b"/>
            <a:pathLst>
              <a:path w="285000" h="28000">
                <a:moveTo>
                  <a:pt x="5000" y="0"/>
                </a:moveTo>
                <a:lnTo>
                  <a:pt x="280000" y="0"/>
                </a:lnTo>
                <a:cubicBezTo>
                  <a:pt x="282761" y="0"/>
                  <a:pt x="285000" y="2239"/>
                  <a:pt x="285000" y="5000"/>
                </a:cubicBezTo>
                <a:lnTo>
                  <a:pt x="285000" y="23000"/>
                </a:lnTo>
                <a:cubicBezTo>
                  <a:pt x="285000" y="25761"/>
                  <a:pt x="282761" y="28000"/>
                  <a:pt x="280000" y="28000"/>
                </a:cubicBezTo>
                <a:lnTo>
                  <a:pt x="5000" y="28000"/>
                </a:lnTo>
                <a:cubicBezTo>
                  <a:pt x="2239" y="28000"/>
                  <a:pt x="0" y="25761"/>
                  <a:pt x="0" y="23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E6F8E8"/>
          </a:solidFill>
          <a:ln w="19050" cap="rnd" cmpd="sng" algn="ctr">
            <a:solidFill>
              <a:srgbClr val="39A54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" name="Text | Student predictions (outputs)"/>
          <p:cNvSpPr txBox="1"/>
          <p:nvPr/>
        </p:nvSpPr>
        <p:spPr>
          <a:xfrm>
            <a:off x="6419088" y="6163056"/>
            <a:ext cx="2441448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12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predictions (outputs)</a:t>
            </a:r>
          </a:p>
        </p:txBody>
      </p:sp>
      <p:sp>
        <p:nvSpPr>
          <p:cNvPr id="412" name="B | mode output"/>
          <p:cNvSpPr/>
          <p:nvPr/>
        </p:nvSpPr>
        <p:spPr>
          <a:xfrm>
            <a:off x="5413248" y="6483096"/>
            <a:ext cx="2130552" cy="941832"/>
          </a:xfrm>
          <a:custGeom>
            <a:avLst/>
            <a:gdLst/>
            <a:ahLst/>
            <a:cxnLst/>
            <a:rect l="0" t="0" r="r" b="b"/>
            <a:pathLst>
              <a:path w="233000" h="103000">
                <a:moveTo>
                  <a:pt x="4000" y="0"/>
                </a:moveTo>
                <a:lnTo>
                  <a:pt x="229000" y="0"/>
                </a:lnTo>
                <a:cubicBezTo>
                  <a:pt x="231209" y="0"/>
                  <a:pt x="233000" y="1791"/>
                  <a:pt x="233000" y="4000"/>
                </a:cubicBezTo>
                <a:lnTo>
                  <a:pt x="233000" y="99000"/>
                </a:lnTo>
                <a:cubicBezTo>
                  <a:pt x="233000" y="101209"/>
                  <a:pt x="231209" y="103000"/>
                  <a:pt x="229000" y="103000"/>
                </a:cubicBezTo>
                <a:lnTo>
                  <a:pt x="4000" y="103000"/>
                </a:lnTo>
                <a:cubicBezTo>
                  <a:pt x="1791" y="103000"/>
                  <a:pt x="0" y="101209"/>
                  <a:pt x="0" y="99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BAC67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3" name="B | departure output"/>
          <p:cNvSpPr/>
          <p:nvPr/>
        </p:nvSpPr>
        <p:spPr>
          <a:xfrm>
            <a:off x="7757792" y="6491219"/>
            <a:ext cx="2167128" cy="941832"/>
          </a:xfrm>
          <a:custGeom>
            <a:avLst/>
            <a:gdLst/>
            <a:ahLst/>
            <a:cxnLst/>
            <a:rect l="0" t="0" r="r" b="b"/>
            <a:pathLst>
              <a:path w="237000" h="103000">
                <a:moveTo>
                  <a:pt x="4000" y="0"/>
                </a:moveTo>
                <a:lnTo>
                  <a:pt x="233000" y="0"/>
                </a:lnTo>
                <a:cubicBezTo>
                  <a:pt x="235209" y="0"/>
                  <a:pt x="237000" y="1791"/>
                  <a:pt x="237000" y="4000"/>
                </a:cubicBezTo>
                <a:lnTo>
                  <a:pt x="237000" y="99000"/>
                </a:lnTo>
                <a:cubicBezTo>
                  <a:pt x="237000" y="101209"/>
                  <a:pt x="235209" y="103000"/>
                  <a:pt x="233000" y="103000"/>
                </a:cubicBezTo>
                <a:lnTo>
                  <a:pt x="4000" y="103000"/>
                </a:lnTo>
                <a:cubicBezTo>
                  <a:pt x="1791" y="103000"/>
                  <a:pt x="0" y="101209"/>
                  <a:pt x="0" y="99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4BAC67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4" name="Text | Mode probabilities"/>
          <p:cNvSpPr txBox="1"/>
          <p:nvPr/>
        </p:nvSpPr>
        <p:spPr>
          <a:xfrm>
            <a:off x="5792724" y="6537960"/>
            <a:ext cx="145389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probabilities</a:t>
            </a:r>
          </a:p>
        </p:txBody>
      </p:sp>
      <p:sp>
        <p:nvSpPr>
          <p:cNvPr id="416" name="B | mode chart baseline"/>
          <p:cNvSpPr/>
          <p:nvPr/>
        </p:nvSpPr>
        <p:spPr>
          <a:xfrm>
            <a:off x="5586984" y="7178040"/>
            <a:ext cx="1856232" cy="183"/>
          </a:xfrm>
          <a:custGeom>
            <a:avLst/>
            <a:gdLst/>
            <a:ahLst/>
            <a:cxnLst/>
            <a:rect l="0" t="0" r="r" b="b"/>
            <a:pathLst>
              <a:path w="203000" h="20">
                <a:moveTo>
                  <a:pt x="0" y="0"/>
                </a:moveTo>
                <a:lnTo>
                  <a:pt x="203000" y="0"/>
                </a:lnTo>
              </a:path>
            </a:pathLst>
          </a:custGeom>
          <a:noFill/>
          <a:ln w="14173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7" name="B | illustrative mode probability bar"/>
          <p:cNvSpPr/>
          <p:nvPr/>
        </p:nvSpPr>
        <p:spPr>
          <a:xfrm>
            <a:off x="5715000" y="6784848"/>
            <a:ext cx="246888" cy="393192"/>
          </a:xfrm>
          <a:prstGeom prst="rect">
            <a:avLst/>
          </a:prstGeom>
          <a:gradFill rotWithShape="1">
            <a:gsLst>
              <a:gs pos="0">
                <a:srgbClr val="248AFE"/>
              </a:gs>
              <a:gs pos="100000">
                <a:srgbClr val="006CF4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B | illustrative mode probability bar"/>
          <p:cNvSpPr/>
          <p:nvPr/>
        </p:nvSpPr>
        <p:spPr>
          <a:xfrm>
            <a:off x="6135624" y="6949440"/>
            <a:ext cx="265176" cy="228600"/>
          </a:xfrm>
          <a:prstGeom prst="rect">
            <a:avLst/>
          </a:prstGeom>
          <a:gradFill rotWithShape="1">
            <a:gsLst>
              <a:gs pos="0">
                <a:srgbClr val="309C5C"/>
              </a:gs>
              <a:gs pos="100000">
                <a:srgbClr val="137C45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" name="B | illustrative mode probability bar"/>
          <p:cNvSpPr/>
          <p:nvPr/>
        </p:nvSpPr>
        <p:spPr>
          <a:xfrm>
            <a:off x="6519672" y="7068312"/>
            <a:ext cx="283464" cy="109728"/>
          </a:xfrm>
          <a:prstGeom prst="rect">
            <a:avLst/>
          </a:prstGeom>
          <a:gradFill rotWithShape="1">
            <a:gsLst>
              <a:gs pos="0">
                <a:srgbClr val="FF7233"/>
              </a:gs>
              <a:gs pos="100000">
                <a:srgbClr val="ED4F19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" name="B | illustrative mode probability bar"/>
          <p:cNvSpPr/>
          <p:nvPr/>
        </p:nvSpPr>
        <p:spPr>
          <a:xfrm>
            <a:off x="6958584" y="7086600"/>
            <a:ext cx="292608" cy="91440"/>
          </a:xfrm>
          <a:prstGeom prst="rect">
            <a:avLst/>
          </a:prstGeom>
          <a:gradFill rotWithShape="1">
            <a:gsLst>
              <a:gs pos="0">
                <a:srgbClr val="A167F1"/>
              </a:gs>
              <a:gs pos="100000">
                <a:srgbClr val="854CED"/>
              </a:gs>
            </a:gsLst>
            <a:lin ang="5400000" scaled="1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1" name="Text | Car"/>
          <p:cNvSpPr txBox="1"/>
          <p:nvPr/>
        </p:nvSpPr>
        <p:spPr>
          <a:xfrm>
            <a:off x="5550408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</a:p>
        </p:txBody>
      </p:sp>
      <p:sp>
        <p:nvSpPr>
          <p:cNvPr id="422" name="Text | PT"/>
          <p:cNvSpPr txBox="1"/>
          <p:nvPr/>
        </p:nvSpPr>
        <p:spPr>
          <a:xfrm>
            <a:off x="5971032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</a:p>
        </p:txBody>
      </p:sp>
      <p:sp>
        <p:nvSpPr>
          <p:cNvPr id="423" name="Text | Bike"/>
          <p:cNvSpPr txBox="1"/>
          <p:nvPr/>
        </p:nvSpPr>
        <p:spPr>
          <a:xfrm>
            <a:off x="6373368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Bike</a:t>
            </a:r>
          </a:p>
        </p:txBody>
      </p:sp>
      <p:sp>
        <p:nvSpPr>
          <p:cNvPr id="424" name="Text | Walk"/>
          <p:cNvSpPr txBox="1"/>
          <p:nvPr/>
        </p:nvSpPr>
        <p:spPr>
          <a:xfrm>
            <a:off x="6830568" y="7196328"/>
            <a:ext cx="493776" cy="2103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32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Text | Departure shift   Δt"/>
              <p:cNvSpPr txBox="1"/>
              <p:nvPr/>
            </p:nvSpPr>
            <p:spPr>
              <a:xfrm>
                <a:off x="7992039" y="6547968"/>
                <a:ext cx="1737360" cy="23774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lnSpc>
                    <a:spcPts val="15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200" b="1" i="0" kern="1200" dirty="0">
                    <a:solidFill>
                      <a:srgbClr val="06145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Departure shift   </a:t>
                </a:r>
                <a14:m>
                  <m:oMath xmlns:m="http://schemas.openxmlformats.org/officeDocument/2006/math">
                    <m:r>
                      <a:rPr lang="en-US" sz="1200" b="1" i="0" kern="1200" dirty="0" smtClean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𝚫</m:t>
                    </m:r>
                    <m:r>
                      <a:rPr lang="en-US" sz="1200" b="1" i="1" kern="1200" dirty="0">
                        <a:solidFill>
                          <a:srgbClr val="06145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</m:oMath>
                </a14:m>
                <a:endParaRPr lang="en-US" sz="1200" b="1" i="0" kern="1200" dirty="0">
                  <a:solidFill>
                    <a:srgbClr val="06145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5" name="Text | Departure shift   Δ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039" y="6547968"/>
                <a:ext cx="1737360" cy="237744"/>
              </a:xfrm>
              <a:prstGeom prst="rect">
                <a:avLst/>
              </a:prstGeom>
              <a:blipFill>
                <a:blip r:embed="rId8"/>
                <a:stretch>
                  <a:fillRect t="-10256" b="-28205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1" name="B | departure time axis"/>
          <p:cNvSpPr/>
          <p:nvPr/>
        </p:nvSpPr>
        <p:spPr>
          <a:xfrm>
            <a:off x="7863840" y="7150608"/>
            <a:ext cx="1920240" cy="183"/>
          </a:xfrm>
          <a:custGeom>
            <a:avLst/>
            <a:gdLst/>
            <a:ahLst/>
            <a:cxnLst/>
            <a:rect l="0" t="0" r="r" b="b"/>
            <a:pathLst>
              <a:path w="210000" h="20">
                <a:moveTo>
                  <a:pt x="0" y="0"/>
                </a:moveTo>
                <a:lnTo>
                  <a:pt x="210000" y="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2" name="B | time axis tick"/>
          <p:cNvSpPr/>
          <p:nvPr/>
        </p:nvSpPr>
        <p:spPr>
          <a:xfrm>
            <a:off x="7936992" y="7077456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3" name="Text | −60"/>
          <p:cNvSpPr txBox="1"/>
          <p:nvPr/>
        </p:nvSpPr>
        <p:spPr>
          <a:xfrm>
            <a:off x="7808976" y="7223760"/>
            <a:ext cx="36576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−60</a:t>
            </a:r>
          </a:p>
        </p:txBody>
      </p:sp>
      <p:sp>
        <p:nvSpPr>
          <p:cNvPr id="444" name="B | time axis tick"/>
          <p:cNvSpPr/>
          <p:nvPr/>
        </p:nvSpPr>
        <p:spPr>
          <a:xfrm>
            <a:off x="8769096" y="7077456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5" name="Text | 0"/>
          <p:cNvSpPr txBox="1"/>
          <p:nvPr/>
        </p:nvSpPr>
        <p:spPr>
          <a:xfrm>
            <a:off x="8631936" y="7223760"/>
            <a:ext cx="283464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46" name="B | time axis tick"/>
          <p:cNvSpPr/>
          <p:nvPr/>
        </p:nvSpPr>
        <p:spPr>
          <a:xfrm>
            <a:off x="9509760" y="7077456"/>
            <a:ext cx="183" cy="155448"/>
          </a:xfrm>
          <a:custGeom>
            <a:avLst/>
            <a:gdLst/>
            <a:ahLst/>
            <a:cxnLst/>
            <a:rect l="0" t="0" r="r" b="b"/>
            <a:pathLst>
              <a:path w="20" h="17000">
                <a:moveTo>
                  <a:pt x="0" y="0"/>
                </a:moveTo>
                <a:lnTo>
                  <a:pt x="0" y="17000"/>
                </a:lnTo>
              </a:path>
            </a:pathLst>
          </a:custGeom>
          <a:noFill/>
          <a:ln w="11429" cap="rnd" cmpd="sng" algn="ctr">
            <a:solidFill>
              <a:srgbClr val="06145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" name="Text | +60 (min)"/>
          <p:cNvSpPr txBox="1"/>
          <p:nvPr/>
        </p:nvSpPr>
        <p:spPr>
          <a:xfrm>
            <a:off x="9180576" y="7223760"/>
            <a:ext cx="694944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+60 (min)</a:t>
            </a:r>
          </a:p>
        </p:txBody>
      </p:sp>
      <p:sp>
        <p:nvSpPr>
          <p:cNvPr id="448" name="B | departure marker"/>
          <p:cNvSpPr/>
          <p:nvPr/>
        </p:nvSpPr>
        <p:spPr>
          <a:xfrm>
            <a:off x="8439912" y="7022592"/>
            <a:ext cx="146304" cy="128016"/>
          </a:xfrm>
          <a:custGeom>
            <a:avLst/>
            <a:gdLst/>
            <a:ahLst/>
            <a:cxnLst/>
            <a:rect l="0" t="0" r="r" b="b"/>
            <a:pathLst>
              <a:path w="16000" h="14000">
                <a:moveTo>
                  <a:pt x="0" y="0"/>
                </a:moveTo>
                <a:lnTo>
                  <a:pt x="16000" y="0"/>
                </a:lnTo>
                <a:lnTo>
                  <a:pt x="8000" y="14000"/>
                </a:lnTo>
                <a:close/>
              </a:path>
            </a:pathLst>
          </a:custGeom>
          <a:solidFill>
            <a:srgbClr val="FF79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9" name="B | student parameters"/>
          <p:cNvSpPr/>
          <p:nvPr/>
        </p:nvSpPr>
        <p:spPr>
          <a:xfrm>
            <a:off x="5312664" y="7891272"/>
            <a:ext cx="1911096" cy="466344"/>
          </a:xfrm>
          <a:custGeom>
            <a:avLst/>
            <a:gdLst/>
            <a:ahLst/>
            <a:cxnLst/>
            <a:rect l="0" t="0" r="r" b="b"/>
            <a:pathLst>
              <a:path w="209000" h="51000">
                <a:moveTo>
                  <a:pt x="5000" y="0"/>
                </a:moveTo>
                <a:lnTo>
                  <a:pt x="204000" y="0"/>
                </a:lnTo>
                <a:cubicBezTo>
                  <a:pt x="206761" y="0"/>
                  <a:pt x="209000" y="2239"/>
                  <a:pt x="209000" y="5000"/>
                </a:cubicBezTo>
                <a:lnTo>
                  <a:pt x="209000" y="46000"/>
                </a:lnTo>
                <a:cubicBezTo>
                  <a:pt x="209000" y="48761"/>
                  <a:pt x="206761" y="51000"/>
                  <a:pt x="204000" y="51000"/>
                </a:cubicBezTo>
                <a:lnTo>
                  <a:pt x="5000" y="51000"/>
                </a:lnTo>
                <a:cubicBezTo>
                  <a:pt x="2239" y="51000"/>
                  <a:pt x="0" y="48761"/>
                  <a:pt x="0" y="46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E4F9E5"/>
              </a:gs>
              <a:gs pos="100000">
                <a:srgbClr val="C5EAC8"/>
              </a:gs>
            </a:gsLst>
            <a:lin ang="5400000" scaled="1"/>
          </a:gradFill>
          <a:ln w="19050" cap="rnd" cmpd="sng" algn="ctr">
            <a:solidFill>
              <a:srgbClr val="248F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0" name="Icon | Student parameter chip"/>
          <p:cNvGrpSpPr/>
          <p:nvPr/>
        </p:nvGrpSpPr>
        <p:grpSpPr>
          <a:xfrm>
            <a:off x="5499933" y="7995879"/>
            <a:ext cx="311262" cy="302850"/>
            <a:chOff x="5499933" y="7995879"/>
            <a:chExt cx="311262" cy="302850"/>
          </a:xfrm>
        </p:grpSpPr>
        <p:sp>
          <p:nvSpPr>
            <p:cNvPr id="451" name="Student parameter chip | outline"/>
            <p:cNvSpPr/>
            <p:nvPr/>
          </p:nvSpPr>
          <p:spPr>
            <a:xfrm>
              <a:off x="5570982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Student parameter chip | outline"/>
            <p:cNvSpPr/>
            <p:nvPr/>
          </p:nvSpPr>
          <p:spPr>
            <a:xfrm>
              <a:off x="5570982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Student parameter chip | outline"/>
            <p:cNvSpPr/>
            <p:nvPr/>
          </p:nvSpPr>
          <p:spPr>
            <a:xfrm>
              <a:off x="5499933" y="8065008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Student parameter chip | outline"/>
            <p:cNvSpPr/>
            <p:nvPr/>
          </p:nvSpPr>
          <p:spPr>
            <a:xfrm>
              <a:off x="5760446" y="8065008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Student parameter chip | outline"/>
            <p:cNvSpPr/>
            <p:nvPr/>
          </p:nvSpPr>
          <p:spPr>
            <a:xfrm>
              <a:off x="5611581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Student parameter chip | outline"/>
            <p:cNvSpPr/>
            <p:nvPr/>
          </p:nvSpPr>
          <p:spPr>
            <a:xfrm>
              <a:off x="5611581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Student parameter chip | outline"/>
            <p:cNvSpPr/>
            <p:nvPr/>
          </p:nvSpPr>
          <p:spPr>
            <a:xfrm>
              <a:off x="5499933" y="8104510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Student parameter chip | outline"/>
            <p:cNvSpPr/>
            <p:nvPr/>
          </p:nvSpPr>
          <p:spPr>
            <a:xfrm>
              <a:off x="5760446" y="8104510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Student parameter chip | outline"/>
            <p:cNvSpPr/>
            <p:nvPr/>
          </p:nvSpPr>
          <p:spPr>
            <a:xfrm>
              <a:off x="5652181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Student parameter chip | outline"/>
            <p:cNvSpPr/>
            <p:nvPr/>
          </p:nvSpPr>
          <p:spPr>
            <a:xfrm>
              <a:off x="5652181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Student parameter chip | outline"/>
            <p:cNvSpPr/>
            <p:nvPr/>
          </p:nvSpPr>
          <p:spPr>
            <a:xfrm>
              <a:off x="5499933" y="8144012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Student parameter chip | outline"/>
            <p:cNvSpPr/>
            <p:nvPr/>
          </p:nvSpPr>
          <p:spPr>
            <a:xfrm>
              <a:off x="5760446" y="8144012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Student parameter chip | outline"/>
            <p:cNvSpPr/>
            <p:nvPr/>
          </p:nvSpPr>
          <p:spPr>
            <a:xfrm>
              <a:off x="5692780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Student parameter chip | outline"/>
            <p:cNvSpPr/>
            <p:nvPr/>
          </p:nvSpPr>
          <p:spPr>
            <a:xfrm>
              <a:off x="5692780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Student parameter chip | outline"/>
            <p:cNvSpPr/>
            <p:nvPr/>
          </p:nvSpPr>
          <p:spPr>
            <a:xfrm>
              <a:off x="5499933" y="8183514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Student parameter chip | outline"/>
            <p:cNvSpPr/>
            <p:nvPr/>
          </p:nvSpPr>
          <p:spPr>
            <a:xfrm>
              <a:off x="5760446" y="8183514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Student parameter chip | outline"/>
            <p:cNvSpPr/>
            <p:nvPr/>
          </p:nvSpPr>
          <p:spPr>
            <a:xfrm>
              <a:off x="5733379" y="7995879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Student parameter chip | outline"/>
            <p:cNvSpPr/>
            <p:nvPr/>
          </p:nvSpPr>
          <p:spPr>
            <a:xfrm>
              <a:off x="5733379" y="8249351"/>
              <a:ext cx="183" cy="49378"/>
            </a:xfrm>
            <a:custGeom>
              <a:avLst/>
              <a:gdLst/>
              <a:ahLst/>
              <a:cxnLst/>
              <a:rect l="0" t="0" r="r" b="b"/>
              <a:pathLst>
                <a:path w="20" h="5400">
                  <a:moveTo>
                    <a:pt x="0" y="0"/>
                  </a:moveTo>
                  <a:lnTo>
                    <a:pt x="0" y="540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Student parameter chip | outline"/>
            <p:cNvSpPr/>
            <p:nvPr/>
          </p:nvSpPr>
          <p:spPr>
            <a:xfrm>
              <a:off x="5499933" y="8223016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Student parameter chip | outline"/>
            <p:cNvSpPr/>
            <p:nvPr/>
          </p:nvSpPr>
          <p:spPr>
            <a:xfrm>
              <a:off x="5760446" y="8223016"/>
              <a:ext cx="50749" cy="183"/>
            </a:xfrm>
            <a:custGeom>
              <a:avLst/>
              <a:gdLst/>
              <a:ahLst/>
              <a:cxnLst/>
              <a:rect l="0" t="0" r="r" b="b"/>
              <a:pathLst>
                <a:path w="5550" h="20">
                  <a:moveTo>
                    <a:pt x="0" y="0"/>
                  </a:moveTo>
                  <a:lnTo>
                    <a:pt x="5550" y="0"/>
                  </a:lnTo>
                </a:path>
              </a:pathLst>
            </a:custGeom>
            <a:noFill/>
            <a:ln w="22859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Student parameter chip | shape"/>
            <p:cNvSpPr/>
            <p:nvPr/>
          </p:nvSpPr>
          <p:spPr>
            <a:xfrm>
              <a:off x="5547299" y="8041965"/>
              <a:ext cx="219913" cy="213970"/>
            </a:xfrm>
            <a:custGeom>
              <a:avLst/>
              <a:gdLst/>
              <a:ahLst/>
              <a:cxnLst/>
              <a:rect l="0" t="0" r="r" b="b"/>
              <a:pathLst>
                <a:path w="24050" h="23400">
                  <a:moveTo>
                    <a:pt x="370" y="0"/>
                  </a:moveTo>
                  <a:lnTo>
                    <a:pt x="23680" y="0"/>
                  </a:lnTo>
                  <a:cubicBezTo>
                    <a:pt x="23884" y="0"/>
                    <a:pt x="24050" y="166"/>
                    <a:pt x="24050" y="370"/>
                  </a:cubicBezTo>
                  <a:lnTo>
                    <a:pt x="24050" y="23030"/>
                  </a:lnTo>
                  <a:cubicBezTo>
                    <a:pt x="24050" y="23234"/>
                    <a:pt x="23884" y="23400"/>
                    <a:pt x="23680" y="23400"/>
                  </a:cubicBezTo>
                  <a:lnTo>
                    <a:pt x="370" y="23400"/>
                  </a:lnTo>
                  <a:cubicBezTo>
                    <a:pt x="166" y="23400"/>
                    <a:pt x="0" y="23234"/>
                    <a:pt x="0" y="23030"/>
                  </a:cubicBezTo>
                  <a:lnTo>
                    <a:pt x="0" y="370"/>
                  </a:lnTo>
                  <a:cubicBezTo>
                    <a:pt x="0" y="166"/>
                    <a:pt x="166" y="0"/>
                    <a:pt x="370" y="0"/>
                  </a:cubicBezTo>
                  <a:close/>
                </a:path>
              </a:pathLst>
            </a:custGeom>
            <a:solidFill>
              <a:srgbClr val="F0FFF2"/>
            </a:solidFill>
            <a:ln w="28346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Student parameter chip | shape"/>
            <p:cNvSpPr/>
            <p:nvPr/>
          </p:nvSpPr>
          <p:spPr>
            <a:xfrm>
              <a:off x="5584515" y="8078175"/>
              <a:ext cx="145481" cy="141549"/>
            </a:xfrm>
            <a:custGeom>
              <a:avLst/>
              <a:gdLst/>
              <a:ahLst/>
              <a:cxnLst/>
              <a:rect l="0" t="0" r="r" b="b"/>
              <a:pathLst>
                <a:path w="15910" h="15480">
                  <a:moveTo>
                    <a:pt x="370" y="0"/>
                  </a:moveTo>
                  <a:lnTo>
                    <a:pt x="15540" y="0"/>
                  </a:lnTo>
                  <a:cubicBezTo>
                    <a:pt x="15744" y="0"/>
                    <a:pt x="15910" y="166"/>
                    <a:pt x="15910" y="370"/>
                  </a:cubicBezTo>
                  <a:lnTo>
                    <a:pt x="15910" y="15110"/>
                  </a:lnTo>
                  <a:cubicBezTo>
                    <a:pt x="15910" y="15314"/>
                    <a:pt x="15744" y="15480"/>
                    <a:pt x="15540" y="15480"/>
                  </a:cubicBezTo>
                  <a:lnTo>
                    <a:pt x="370" y="15480"/>
                  </a:lnTo>
                  <a:cubicBezTo>
                    <a:pt x="166" y="15480"/>
                    <a:pt x="0" y="15314"/>
                    <a:pt x="0" y="15110"/>
                  </a:cubicBezTo>
                  <a:lnTo>
                    <a:pt x="0" y="370"/>
                  </a:lnTo>
                  <a:cubicBezTo>
                    <a:pt x="0" y="166"/>
                    <a:pt x="166" y="0"/>
                    <a:pt x="370" y="0"/>
                  </a:cubicBezTo>
                  <a:close/>
                </a:path>
              </a:pathLst>
            </a:custGeom>
            <a:noFill/>
            <a:ln w="19202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Student parameter chip | shape"/>
            <p:cNvSpPr/>
            <p:nvPr/>
          </p:nvSpPr>
          <p:spPr>
            <a:xfrm>
              <a:off x="5614965" y="8107802"/>
              <a:ext cx="87965" cy="85588"/>
            </a:xfrm>
            <a:prstGeom prst="rect">
              <a:avLst/>
            </a:prstGeom>
            <a:solidFill>
              <a:srgbClr val="3AAA52"/>
            </a:solidFill>
            <a:ln w="12801" cap="rnd" cmpd="sng" algn="ctr">
              <a:solidFill>
                <a:srgbClr val="168C30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4" name="Text | Student parameters"/>
          <p:cNvSpPr txBox="1"/>
          <p:nvPr/>
        </p:nvSpPr>
        <p:spPr>
          <a:xfrm>
            <a:off x="6071616" y="8033187"/>
            <a:ext cx="1216152" cy="19202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</a:t>
            </a:r>
          </a:p>
          <a:p>
            <a:pPr algn="l">
              <a:lnSpc>
                <a:spcPts val="120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4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</a:p>
        </p:txBody>
      </p:sp>
      <p:sp>
        <p:nvSpPr>
          <p:cNvPr id="476" name="B | validation selection"/>
          <p:cNvSpPr/>
          <p:nvPr/>
        </p:nvSpPr>
        <p:spPr>
          <a:xfrm>
            <a:off x="7424928" y="7891272"/>
            <a:ext cx="896112" cy="466344"/>
          </a:xfrm>
          <a:custGeom>
            <a:avLst/>
            <a:gdLst/>
            <a:ahLst/>
            <a:cxnLst/>
            <a:rect l="0" t="0" r="r" b="b"/>
            <a:pathLst>
              <a:path w="98000" h="51000">
                <a:moveTo>
                  <a:pt x="4000" y="0"/>
                </a:moveTo>
                <a:lnTo>
                  <a:pt x="94000" y="0"/>
                </a:lnTo>
                <a:cubicBezTo>
                  <a:pt x="96209" y="0"/>
                  <a:pt x="98000" y="1791"/>
                  <a:pt x="98000" y="4000"/>
                </a:cubicBezTo>
                <a:lnTo>
                  <a:pt x="98000" y="47000"/>
                </a:lnTo>
                <a:cubicBezTo>
                  <a:pt x="98000" y="49209"/>
                  <a:pt x="96209" y="51000"/>
                  <a:pt x="94000" y="51000"/>
                </a:cubicBezTo>
                <a:lnTo>
                  <a:pt x="4000" y="51000"/>
                </a:lnTo>
                <a:cubicBezTo>
                  <a:pt x="1791" y="51000"/>
                  <a:pt x="0" y="49209"/>
                  <a:pt x="0" y="4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71B6E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0" name="Text | Validation/ / selection"/>
          <p:cNvSpPr txBox="1"/>
          <p:nvPr/>
        </p:nvSpPr>
        <p:spPr>
          <a:xfrm>
            <a:off x="7541514" y="7961596"/>
            <a:ext cx="502920" cy="38404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Validation/</a:t>
            </a:r>
          </a:p>
          <a:p>
            <a:pPr algn="l">
              <a:lnSpc>
                <a:spcPts val="98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</p:txBody>
      </p:sp>
      <p:sp>
        <p:nvSpPr>
          <p:cNvPr id="491" name="B | selected checkpoint"/>
          <p:cNvSpPr/>
          <p:nvPr/>
        </p:nvSpPr>
        <p:spPr>
          <a:xfrm>
            <a:off x="8503920" y="7891272"/>
            <a:ext cx="941832" cy="466344"/>
          </a:xfrm>
          <a:custGeom>
            <a:avLst/>
            <a:gdLst/>
            <a:ahLst/>
            <a:cxnLst/>
            <a:rect l="0" t="0" r="r" b="b"/>
            <a:pathLst>
              <a:path w="103000" h="51000">
                <a:moveTo>
                  <a:pt x="4000" y="0"/>
                </a:moveTo>
                <a:lnTo>
                  <a:pt x="99000" y="0"/>
                </a:lnTo>
                <a:cubicBezTo>
                  <a:pt x="101209" y="0"/>
                  <a:pt x="103000" y="1791"/>
                  <a:pt x="103000" y="4000"/>
                </a:cubicBezTo>
                <a:lnTo>
                  <a:pt x="103000" y="47000"/>
                </a:lnTo>
                <a:cubicBezTo>
                  <a:pt x="103000" y="49209"/>
                  <a:pt x="101209" y="51000"/>
                  <a:pt x="99000" y="51000"/>
                </a:cubicBezTo>
                <a:lnTo>
                  <a:pt x="4000" y="51000"/>
                </a:lnTo>
                <a:cubicBezTo>
                  <a:pt x="1791" y="51000"/>
                  <a:pt x="0" y="49209"/>
                  <a:pt x="0" y="4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71B6E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6" name="Text | Selected / checkpoint"/>
          <p:cNvSpPr txBox="1"/>
          <p:nvPr/>
        </p:nvSpPr>
        <p:spPr>
          <a:xfrm>
            <a:off x="8611362" y="7932632"/>
            <a:ext cx="649224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</a:t>
            </a:r>
          </a:p>
          <a:p>
            <a:pPr algn="l">
              <a:lnSpc>
                <a:spcPts val="1187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</a:t>
            </a:r>
          </a:p>
        </p:txBody>
      </p:sp>
      <p:sp>
        <p:nvSpPr>
          <p:cNvPr id="507" name="B | parameters to validation | shaft"/>
          <p:cNvSpPr/>
          <p:nvPr/>
        </p:nvSpPr>
        <p:spPr>
          <a:xfrm>
            <a:off x="7223760" y="8129016"/>
            <a:ext cx="64008" cy="183"/>
          </a:xfrm>
          <a:custGeom>
            <a:avLst/>
            <a:gdLst/>
            <a:ahLst/>
            <a:cxnLst/>
            <a:rect l="0" t="0" r="r" b="b"/>
            <a:pathLst>
              <a:path w="7000" h="20">
                <a:moveTo>
                  <a:pt x="0" y="0"/>
                </a:moveTo>
                <a:lnTo>
                  <a:pt x="7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8" name="B | parameters to validation | head"/>
          <p:cNvSpPr/>
          <p:nvPr/>
        </p:nvSpPr>
        <p:spPr>
          <a:xfrm>
            <a:off x="7287768" y="8055864"/>
            <a:ext cx="137160" cy="146304"/>
          </a:xfrm>
          <a:custGeom>
            <a:avLst/>
            <a:gdLst/>
            <a:ahLst/>
            <a:cxnLst/>
            <a:rect l="0" t="0" r="r" b="b"/>
            <a:pathLst>
              <a:path w="15000" h="16000">
                <a:moveTo>
                  <a:pt x="15000" y="8000"/>
                </a:moveTo>
                <a:lnTo>
                  <a:pt x="0" y="16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9" name="B | validation to checkpoint | shaft"/>
          <p:cNvSpPr/>
          <p:nvPr/>
        </p:nvSpPr>
        <p:spPr>
          <a:xfrm>
            <a:off x="8321040" y="8129016"/>
            <a:ext cx="54864" cy="183"/>
          </a:xfrm>
          <a:custGeom>
            <a:avLst/>
            <a:gdLst/>
            <a:ahLst/>
            <a:cxnLst/>
            <a:rect l="0" t="0" r="r" b="b"/>
            <a:pathLst>
              <a:path w="6000" h="20">
                <a:moveTo>
                  <a:pt x="0" y="0"/>
                </a:moveTo>
                <a:lnTo>
                  <a:pt x="6000" y="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0" name="B | validation to checkpoint | head"/>
          <p:cNvSpPr/>
          <p:nvPr/>
        </p:nvSpPr>
        <p:spPr>
          <a:xfrm>
            <a:off x="8375904" y="8055864"/>
            <a:ext cx="128016" cy="146304"/>
          </a:xfrm>
          <a:custGeom>
            <a:avLst/>
            <a:gdLst/>
            <a:ahLst/>
            <a:cxnLst/>
            <a:rect l="0" t="0" r="r" b="b"/>
            <a:pathLst>
              <a:path w="14000" h="16000">
                <a:moveTo>
                  <a:pt x="14000" y="8000"/>
                </a:moveTo>
                <a:lnTo>
                  <a:pt x="0" y="16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1" name="C | deployment inputs"/>
          <p:cNvSpPr/>
          <p:nvPr/>
        </p:nvSpPr>
        <p:spPr>
          <a:xfrm>
            <a:off x="10341864" y="877824"/>
            <a:ext cx="4764024" cy="1572768"/>
          </a:xfrm>
          <a:custGeom>
            <a:avLst/>
            <a:gdLst/>
            <a:ahLst/>
            <a:cxnLst/>
            <a:rect l="0" t="0" r="r" b="b"/>
            <a:pathLst>
              <a:path w="521000" h="172000">
                <a:moveTo>
                  <a:pt x="6000" y="0"/>
                </a:moveTo>
                <a:lnTo>
                  <a:pt x="515000" y="0"/>
                </a:lnTo>
                <a:cubicBezTo>
                  <a:pt x="518314" y="0"/>
                  <a:pt x="521000" y="2686"/>
                  <a:pt x="521000" y="6000"/>
                </a:cubicBezTo>
                <a:lnTo>
                  <a:pt x="521000" y="166000"/>
                </a:lnTo>
                <a:cubicBezTo>
                  <a:pt x="521000" y="169314"/>
                  <a:pt x="518314" y="172000"/>
                  <a:pt x="515000" y="172000"/>
                </a:cubicBezTo>
                <a:lnTo>
                  <a:pt x="6000" y="172000"/>
                </a:lnTo>
                <a:cubicBezTo>
                  <a:pt x="2686" y="172000"/>
                  <a:pt x="0" y="169314"/>
                  <a:pt x="0" y="166000"/>
                </a:cubicBez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gradFill rotWithShape="1">
            <a:gsLst>
              <a:gs pos="0">
                <a:srgbClr val="FFF5E7"/>
              </a:gs>
              <a:gs pos="100000">
                <a:srgbClr val="FFEBD3"/>
              </a:gs>
            </a:gsLst>
            <a:lin ang="5400000" scaled="1"/>
          </a:gradFill>
          <a:ln w="19050" cap="rnd" cmpd="sng" algn="ctr">
            <a:solidFill>
              <a:srgbClr val="F6AC6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" name="Text | Deployment inputs"/>
          <p:cNvSpPr txBox="1"/>
          <p:nvPr/>
        </p:nvSpPr>
        <p:spPr>
          <a:xfrm>
            <a:off x="10488168" y="905256"/>
            <a:ext cx="4315968" cy="26517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1" i="0" kern="1200" dirty="0">
                <a:solidFill>
                  <a:srgbClr val="B731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 inputs</a:t>
            </a:r>
          </a:p>
        </p:txBody>
      </p:sp>
      <p:sp>
        <p:nvSpPr>
          <p:cNvPr id="513" name="C | population input"/>
          <p:cNvSpPr/>
          <p:nvPr/>
        </p:nvSpPr>
        <p:spPr>
          <a:xfrm>
            <a:off x="10451592" y="1179576"/>
            <a:ext cx="2221992" cy="1143000"/>
          </a:xfrm>
          <a:custGeom>
            <a:avLst/>
            <a:gdLst/>
            <a:ahLst/>
            <a:cxnLst/>
            <a:rect l="0" t="0" r="r" b="b"/>
            <a:pathLst>
              <a:path w="243000" h="125000">
                <a:moveTo>
                  <a:pt x="5000" y="0"/>
                </a:moveTo>
                <a:lnTo>
                  <a:pt x="238000" y="0"/>
                </a:lnTo>
                <a:cubicBezTo>
                  <a:pt x="240761" y="0"/>
                  <a:pt x="243000" y="2239"/>
                  <a:pt x="243000" y="5000"/>
                </a:cubicBezTo>
                <a:lnTo>
                  <a:pt x="243000" y="120000"/>
                </a:lnTo>
                <a:cubicBezTo>
                  <a:pt x="243000" y="122761"/>
                  <a:pt x="240761" y="125000"/>
                  <a:pt x="238000" y="125000"/>
                </a:cubicBezTo>
                <a:lnTo>
                  <a:pt x="5000" y="125000"/>
                </a:lnTo>
                <a:cubicBezTo>
                  <a:pt x="2239" y="125000"/>
                  <a:pt x="0" y="122761"/>
                  <a:pt x="0" y="12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F9A4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4" name="C | transport supply input"/>
          <p:cNvSpPr/>
          <p:nvPr/>
        </p:nvSpPr>
        <p:spPr>
          <a:xfrm>
            <a:off x="12765024" y="1179576"/>
            <a:ext cx="2221992" cy="1143000"/>
          </a:xfrm>
          <a:custGeom>
            <a:avLst/>
            <a:gdLst/>
            <a:ahLst/>
            <a:cxnLst/>
            <a:rect l="0" t="0" r="r" b="b"/>
            <a:pathLst>
              <a:path w="243000" h="125000">
                <a:moveTo>
                  <a:pt x="5000" y="0"/>
                </a:moveTo>
                <a:lnTo>
                  <a:pt x="238000" y="0"/>
                </a:lnTo>
                <a:cubicBezTo>
                  <a:pt x="240761" y="0"/>
                  <a:pt x="243000" y="2239"/>
                  <a:pt x="243000" y="5000"/>
                </a:cubicBezTo>
                <a:lnTo>
                  <a:pt x="243000" y="120000"/>
                </a:lnTo>
                <a:cubicBezTo>
                  <a:pt x="243000" y="122761"/>
                  <a:pt x="240761" y="125000"/>
                  <a:pt x="238000" y="125000"/>
                </a:cubicBezTo>
                <a:lnTo>
                  <a:pt x="5000" y="125000"/>
                </a:lnTo>
                <a:cubicBezTo>
                  <a:pt x="2239" y="125000"/>
                  <a:pt x="0" y="122761"/>
                  <a:pt x="0" y="12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F9A49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5" name="Text | Population + OD"/>
          <p:cNvSpPr txBox="1"/>
          <p:nvPr/>
        </p:nvSpPr>
        <p:spPr>
          <a:xfrm>
            <a:off x="10607040" y="1225296"/>
            <a:ext cx="1938528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5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 + OD</a:t>
            </a:r>
          </a:p>
        </p:txBody>
      </p:sp>
      <p:grpSp>
        <p:nvGrpSpPr>
          <p:cNvPr id="516" name="Icon | Population trio"/>
          <p:cNvGrpSpPr/>
          <p:nvPr/>
        </p:nvGrpSpPr>
        <p:grpSpPr>
          <a:xfrm>
            <a:off x="10634563" y="1604223"/>
            <a:ext cx="786293" cy="497838"/>
            <a:chOff x="10634563" y="1604223"/>
            <a:chExt cx="895838" cy="540960"/>
          </a:xfrm>
        </p:grpSpPr>
        <p:sp>
          <p:nvSpPr>
            <p:cNvPr id="517" name="Population trio | ellipse"/>
            <p:cNvSpPr/>
            <p:nvPr/>
          </p:nvSpPr>
          <p:spPr>
            <a:xfrm>
              <a:off x="10708447" y="1604223"/>
              <a:ext cx="166238" cy="167884"/>
            </a:xfrm>
            <a:prstGeom prst="ellipse">
              <a:avLst/>
            </a:prstGeom>
            <a:solidFill>
              <a:srgbClr val="FF772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Population trio | outline"/>
            <p:cNvSpPr/>
            <p:nvPr/>
          </p:nvSpPr>
          <p:spPr>
            <a:xfrm>
              <a:off x="10634563" y="1796979"/>
              <a:ext cx="323240" cy="348204"/>
            </a:xfrm>
            <a:custGeom>
              <a:avLst/>
              <a:gdLst/>
              <a:ahLst/>
              <a:cxnLst/>
              <a:rect l="0" t="0" r="r" b="b"/>
              <a:pathLst>
                <a:path w="35350" h="38080">
                  <a:moveTo>
                    <a:pt x="17170" y="0"/>
                  </a:moveTo>
                  <a:cubicBezTo>
                    <a:pt x="3030" y="0"/>
                    <a:pt x="1010" y="9520"/>
                    <a:pt x="0" y="22440"/>
                  </a:cubicBezTo>
                  <a:quadBezTo>
                    <a:pt x="3030" y="25160"/>
                    <a:pt x="6060" y="22440"/>
                  </a:quadBezTo>
                  <a:lnTo>
                    <a:pt x="8080" y="12920"/>
                  </a:lnTo>
                  <a:lnTo>
                    <a:pt x="8080" y="38080"/>
                  </a:lnTo>
                  <a:lnTo>
                    <a:pt x="17170" y="38080"/>
                  </a:lnTo>
                  <a:lnTo>
                    <a:pt x="17170" y="26520"/>
                  </a:lnTo>
                  <a:lnTo>
                    <a:pt x="19190" y="26520"/>
                  </a:lnTo>
                  <a:lnTo>
                    <a:pt x="19190" y="38080"/>
                  </a:lnTo>
                  <a:lnTo>
                    <a:pt x="28280" y="38080"/>
                  </a:lnTo>
                  <a:lnTo>
                    <a:pt x="28280" y="12920"/>
                  </a:lnTo>
                  <a:lnTo>
                    <a:pt x="30300" y="22440"/>
                  </a:lnTo>
                  <a:quadBezTo>
                    <a:pt x="34340" y="25160"/>
                    <a:pt x="35350" y="21080"/>
                  </a:quadBezTo>
                  <a:cubicBezTo>
                    <a:pt x="33330" y="8160"/>
                    <a:pt x="32320" y="0"/>
                    <a:pt x="17170" y="0"/>
                  </a:cubicBezTo>
                  <a:close/>
                </a:path>
              </a:pathLst>
            </a:custGeom>
            <a:solidFill>
              <a:srgbClr val="FF772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Population trio | ellipse"/>
            <p:cNvSpPr/>
            <p:nvPr/>
          </p:nvSpPr>
          <p:spPr>
            <a:xfrm>
              <a:off x="10994746" y="1604223"/>
              <a:ext cx="166238" cy="167884"/>
            </a:xfrm>
            <a:prstGeom prst="ellipse">
              <a:avLst/>
            </a:prstGeom>
            <a:solidFill>
              <a:srgbClr val="064A8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Population trio | outline"/>
            <p:cNvSpPr/>
            <p:nvPr/>
          </p:nvSpPr>
          <p:spPr>
            <a:xfrm>
              <a:off x="10920862" y="1796979"/>
              <a:ext cx="323240" cy="348204"/>
            </a:xfrm>
            <a:custGeom>
              <a:avLst/>
              <a:gdLst/>
              <a:ahLst/>
              <a:cxnLst/>
              <a:rect l="0" t="0" r="r" b="b"/>
              <a:pathLst>
                <a:path w="35350" h="38080">
                  <a:moveTo>
                    <a:pt x="17170" y="0"/>
                  </a:moveTo>
                  <a:cubicBezTo>
                    <a:pt x="3030" y="0"/>
                    <a:pt x="1010" y="9520"/>
                    <a:pt x="0" y="22440"/>
                  </a:cubicBezTo>
                  <a:quadBezTo>
                    <a:pt x="3030" y="25160"/>
                    <a:pt x="6060" y="22440"/>
                  </a:quadBezTo>
                  <a:lnTo>
                    <a:pt x="8080" y="12920"/>
                  </a:lnTo>
                  <a:lnTo>
                    <a:pt x="8080" y="38080"/>
                  </a:lnTo>
                  <a:lnTo>
                    <a:pt x="17170" y="38080"/>
                  </a:lnTo>
                  <a:lnTo>
                    <a:pt x="17170" y="26520"/>
                  </a:lnTo>
                  <a:lnTo>
                    <a:pt x="19190" y="26520"/>
                  </a:lnTo>
                  <a:lnTo>
                    <a:pt x="19190" y="38080"/>
                  </a:lnTo>
                  <a:lnTo>
                    <a:pt x="28280" y="38080"/>
                  </a:lnTo>
                  <a:lnTo>
                    <a:pt x="28280" y="12920"/>
                  </a:lnTo>
                  <a:lnTo>
                    <a:pt x="30300" y="22440"/>
                  </a:lnTo>
                  <a:quadBezTo>
                    <a:pt x="34340" y="25160"/>
                    <a:pt x="35350" y="21080"/>
                  </a:quadBezTo>
                  <a:cubicBezTo>
                    <a:pt x="33330" y="8160"/>
                    <a:pt x="32320" y="0"/>
                    <a:pt x="17170" y="0"/>
                  </a:cubicBezTo>
                  <a:close/>
                </a:path>
              </a:pathLst>
            </a:custGeom>
            <a:solidFill>
              <a:srgbClr val="064A8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Population trio | ellipse"/>
            <p:cNvSpPr/>
            <p:nvPr/>
          </p:nvSpPr>
          <p:spPr>
            <a:xfrm>
              <a:off x="11281044" y="1604223"/>
              <a:ext cx="166238" cy="167884"/>
            </a:xfrm>
            <a:prstGeom prst="ellipse">
              <a:avLst/>
            </a:prstGeom>
            <a:solidFill>
              <a:srgbClr val="24964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Population trio | outline"/>
            <p:cNvSpPr/>
            <p:nvPr/>
          </p:nvSpPr>
          <p:spPr>
            <a:xfrm>
              <a:off x="11207161" y="1796979"/>
              <a:ext cx="323240" cy="348204"/>
            </a:xfrm>
            <a:custGeom>
              <a:avLst/>
              <a:gdLst/>
              <a:ahLst/>
              <a:cxnLst/>
              <a:rect l="0" t="0" r="r" b="b"/>
              <a:pathLst>
                <a:path w="35350" h="38080">
                  <a:moveTo>
                    <a:pt x="17170" y="0"/>
                  </a:moveTo>
                  <a:cubicBezTo>
                    <a:pt x="3030" y="0"/>
                    <a:pt x="1010" y="9520"/>
                    <a:pt x="0" y="22440"/>
                  </a:cubicBezTo>
                  <a:quadBezTo>
                    <a:pt x="3030" y="25160"/>
                    <a:pt x="6060" y="22440"/>
                  </a:quadBezTo>
                  <a:lnTo>
                    <a:pt x="8080" y="12920"/>
                  </a:lnTo>
                  <a:lnTo>
                    <a:pt x="8080" y="38080"/>
                  </a:lnTo>
                  <a:lnTo>
                    <a:pt x="17170" y="38080"/>
                  </a:lnTo>
                  <a:lnTo>
                    <a:pt x="17170" y="26520"/>
                  </a:lnTo>
                  <a:lnTo>
                    <a:pt x="19190" y="26520"/>
                  </a:lnTo>
                  <a:lnTo>
                    <a:pt x="19190" y="38080"/>
                  </a:lnTo>
                  <a:lnTo>
                    <a:pt x="28280" y="38080"/>
                  </a:lnTo>
                  <a:lnTo>
                    <a:pt x="28280" y="12920"/>
                  </a:lnTo>
                  <a:lnTo>
                    <a:pt x="30300" y="22440"/>
                  </a:lnTo>
                  <a:quadBezTo>
                    <a:pt x="34340" y="25160"/>
                    <a:pt x="35350" y="21080"/>
                  </a:quadBezTo>
                  <a:cubicBezTo>
                    <a:pt x="33330" y="8160"/>
                    <a:pt x="32320" y="0"/>
                    <a:pt x="17170" y="0"/>
                  </a:cubicBezTo>
                  <a:close/>
                </a:path>
              </a:pathLst>
            </a:custGeom>
            <a:solidFill>
              <a:srgbClr val="24964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23" name="Text | • Population / • Trip context / • OD pairs"/>
          <p:cNvSpPr txBox="1"/>
          <p:nvPr/>
        </p:nvSpPr>
        <p:spPr>
          <a:xfrm>
            <a:off x="11521440" y="1595628"/>
            <a:ext cx="1005840" cy="60350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Population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Trip context</a:t>
            </a:r>
          </a:p>
          <a:p>
            <a:pPr algn="l">
              <a:lnSpc>
                <a:spcPts val="165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OD pairs</a:t>
            </a:r>
          </a:p>
        </p:txBody>
      </p:sp>
      <p:sp>
        <p:nvSpPr>
          <p:cNvPr id="524" name="Text | Transport supply"/>
          <p:cNvSpPr txBox="1"/>
          <p:nvPr/>
        </p:nvSpPr>
        <p:spPr>
          <a:xfrm>
            <a:off x="12893040" y="1225296"/>
            <a:ext cx="196596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0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5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supply</a:t>
            </a:r>
          </a:p>
        </p:txBody>
      </p:sp>
      <p:sp>
        <p:nvSpPr>
          <p:cNvPr id="555" name="Text | • Timetable"/>
          <p:cNvSpPr txBox="1"/>
          <p:nvPr/>
        </p:nvSpPr>
        <p:spPr>
          <a:xfrm>
            <a:off x="13862304" y="2039112"/>
            <a:ext cx="1033272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Timetable</a:t>
            </a:r>
          </a:p>
        </p:txBody>
      </p:sp>
      <p:sp>
        <p:nvSpPr>
          <p:cNvPr id="556" name="C | deployment inputs into supply preparation | shaft"/>
          <p:cNvSpPr/>
          <p:nvPr/>
        </p:nvSpPr>
        <p:spPr>
          <a:xfrm>
            <a:off x="11503152" y="2322576"/>
            <a:ext cx="1152144" cy="173736"/>
          </a:xfrm>
          <a:custGeom>
            <a:avLst/>
            <a:gdLst/>
            <a:ahLst/>
            <a:cxnLst/>
            <a:rect l="0" t="0" r="r" b="b"/>
            <a:pathLst>
              <a:path w="126000" h="19000">
                <a:moveTo>
                  <a:pt x="0" y="0"/>
                </a:moveTo>
                <a:lnTo>
                  <a:pt x="0" y="15000"/>
                </a:lnTo>
                <a:lnTo>
                  <a:pt x="126000" y="15000"/>
                </a:lnTo>
                <a:lnTo>
                  <a:pt x="126000" y="19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8" name="C | supply into preparation"/>
          <p:cNvSpPr/>
          <p:nvPr/>
        </p:nvSpPr>
        <p:spPr>
          <a:xfrm>
            <a:off x="12655296" y="2322576"/>
            <a:ext cx="1225296" cy="137160"/>
          </a:xfrm>
          <a:custGeom>
            <a:avLst/>
            <a:gdLst/>
            <a:ahLst/>
            <a:cxnLst/>
            <a:rect l="0" t="0" r="r" b="b"/>
            <a:pathLst>
              <a:path w="134000" h="15000">
                <a:moveTo>
                  <a:pt x="134000" y="0"/>
                </a:moveTo>
                <a:lnTo>
                  <a:pt x="134000" y="15000"/>
                </a:lnTo>
                <a:lnTo>
                  <a:pt x="0" y="15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9" name="C | supply preparation"/>
          <p:cNvSpPr/>
          <p:nvPr/>
        </p:nvSpPr>
        <p:spPr>
          <a:xfrm>
            <a:off x="10351008" y="2596896"/>
            <a:ext cx="4754880" cy="941832"/>
          </a:xfrm>
          <a:custGeom>
            <a:avLst/>
            <a:gdLst/>
            <a:ahLst/>
            <a:cxnLst/>
            <a:rect l="0" t="0" r="r" b="b"/>
            <a:pathLst>
              <a:path w="520000" h="103000">
                <a:moveTo>
                  <a:pt x="5000" y="0"/>
                </a:moveTo>
                <a:lnTo>
                  <a:pt x="515000" y="0"/>
                </a:lnTo>
                <a:cubicBezTo>
                  <a:pt x="517761" y="0"/>
                  <a:pt x="520000" y="2239"/>
                  <a:pt x="520000" y="5000"/>
                </a:cubicBezTo>
                <a:lnTo>
                  <a:pt x="520000" y="98000"/>
                </a:lnTo>
                <a:cubicBezTo>
                  <a:pt x="520000" y="100761"/>
                  <a:pt x="517761" y="103000"/>
                  <a:pt x="515000" y="103000"/>
                </a:cubicBezTo>
                <a:lnTo>
                  <a:pt x="5000" y="103000"/>
                </a:lnTo>
                <a:cubicBezTo>
                  <a:pt x="2239" y="103000"/>
                  <a:pt x="0" y="100761"/>
                  <a:pt x="0" y="98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1DD"/>
          </a:solidFill>
          <a:ln w="19050" cap="rnd" cmpd="sng" algn="ctr">
            <a:solidFill>
              <a:srgbClr val="F2A154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0" name="Text | Supply preparation"/>
          <p:cNvSpPr txBox="1"/>
          <p:nvPr/>
        </p:nvSpPr>
        <p:spPr>
          <a:xfrm>
            <a:off x="10488168" y="2615184"/>
            <a:ext cx="320040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1" i="0" kern="1200" dirty="0">
                <a:solidFill>
                  <a:srgbClr val="B831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Supply preparation</a:t>
            </a:r>
          </a:p>
        </p:txBody>
      </p:sp>
      <p:sp>
        <p:nvSpPr>
          <p:cNvPr id="561" name="C | supply cache"/>
          <p:cNvSpPr/>
          <p:nvPr/>
        </p:nvSpPr>
        <p:spPr>
          <a:xfrm>
            <a:off x="10506456" y="2889504"/>
            <a:ext cx="1636776" cy="539496"/>
          </a:xfrm>
          <a:custGeom>
            <a:avLst/>
            <a:gdLst/>
            <a:ahLst/>
            <a:cxnLst/>
            <a:rect l="0" t="0" r="r" b="b"/>
            <a:pathLst>
              <a:path w="179000" h="59000">
                <a:moveTo>
                  <a:pt x="4000" y="0"/>
                </a:moveTo>
                <a:lnTo>
                  <a:pt x="175000" y="0"/>
                </a:lnTo>
                <a:cubicBezTo>
                  <a:pt x="177209" y="0"/>
                  <a:pt x="179000" y="1791"/>
                  <a:pt x="179000" y="4000"/>
                </a:cubicBezTo>
                <a:lnTo>
                  <a:pt x="179000" y="55000"/>
                </a:lnTo>
                <a:cubicBezTo>
                  <a:pt x="179000" y="57209"/>
                  <a:pt x="177209" y="59000"/>
                  <a:pt x="175000" y="59000"/>
                </a:cubicBezTo>
                <a:lnTo>
                  <a:pt x="4000" y="59000"/>
                </a:lnTo>
                <a:cubicBezTo>
                  <a:pt x="1791" y="59000"/>
                  <a:pt x="0" y="57209"/>
                  <a:pt x="0" y="55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741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2" name="Icon | Supply cache database"/>
          <p:cNvGrpSpPr/>
          <p:nvPr/>
        </p:nvGrpSpPr>
        <p:grpSpPr>
          <a:xfrm>
            <a:off x="10675620" y="2984236"/>
            <a:ext cx="329184" cy="399410"/>
            <a:chOff x="10675620" y="2984236"/>
            <a:chExt cx="329184" cy="399410"/>
          </a:xfrm>
        </p:grpSpPr>
        <p:sp>
          <p:nvSpPr>
            <p:cNvPr id="563" name="Supply cache database | shape"/>
            <p:cNvSpPr/>
            <p:nvPr/>
          </p:nvSpPr>
          <p:spPr>
            <a:xfrm>
              <a:off x="10675620" y="3054462"/>
              <a:ext cx="329184" cy="258958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Supply cache database | ellipse"/>
            <p:cNvSpPr/>
            <p:nvPr/>
          </p:nvSpPr>
          <p:spPr>
            <a:xfrm>
              <a:off x="10675620" y="3243194"/>
              <a:ext cx="329184" cy="131674"/>
            </a:xfrm>
            <a:prstGeom prst="ellipse">
              <a:avLst/>
            </a:prstGeom>
            <a:solidFill>
              <a:srgbClr val="C4E9FE"/>
            </a:solidFill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Supply cache database | shape"/>
            <p:cNvSpPr/>
            <p:nvPr/>
          </p:nvSpPr>
          <p:spPr>
            <a:xfrm>
              <a:off x="10683850" y="3186135"/>
              <a:ext cx="312725" cy="127284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Supply cache database | outline"/>
            <p:cNvSpPr/>
            <p:nvPr/>
          </p:nvSpPr>
          <p:spPr>
            <a:xfrm>
              <a:off x="10675620" y="3050073"/>
              <a:ext cx="329184" cy="333573"/>
            </a:xfrm>
            <a:custGeom>
              <a:avLst/>
              <a:gdLst/>
              <a:ahLst/>
              <a:cxnLst/>
              <a:rect l="0" t="0" r="r" b="b"/>
              <a:pathLst>
                <a:path w="36000" h="36480">
                  <a:moveTo>
                    <a:pt x="0" y="0"/>
                  </a:moveTo>
                  <a:lnTo>
                    <a:pt x="0" y="28320"/>
                  </a:lnTo>
                  <a:cubicBezTo>
                    <a:pt x="0" y="36480"/>
                    <a:pt x="36000" y="36480"/>
                    <a:pt x="36000" y="28320"/>
                  </a:cubicBezTo>
                  <a:lnTo>
                    <a:pt x="36000" y="0"/>
                  </a:lnTo>
                </a:path>
              </a:pathLst>
            </a:custGeom>
            <a:noFill/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Supply cache database | ellipse"/>
            <p:cNvSpPr/>
            <p:nvPr/>
          </p:nvSpPr>
          <p:spPr>
            <a:xfrm>
              <a:off x="10675620" y="2984236"/>
              <a:ext cx="329184" cy="140452"/>
            </a:xfrm>
            <a:prstGeom prst="ellipse">
              <a:avLst/>
            </a:prstGeom>
            <a:solidFill>
              <a:srgbClr val="D7F0FF"/>
            </a:solidFill>
            <a:ln w="20116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Supply cache database | outline"/>
            <p:cNvSpPr/>
            <p:nvPr/>
          </p:nvSpPr>
          <p:spPr>
            <a:xfrm>
              <a:off x="10675620" y="3155412"/>
              <a:ext cx="329184" cy="83393"/>
            </a:xfrm>
            <a:custGeom>
              <a:avLst/>
              <a:gdLst/>
              <a:ahLst/>
              <a:cxnLst/>
              <a:rect l="0" t="0" r="r" b="b"/>
              <a:pathLst>
                <a:path w="36000" h="9120">
                  <a:moveTo>
                    <a:pt x="0" y="0"/>
                  </a:moveTo>
                  <a:cubicBezTo>
                    <a:pt x="450" y="9120"/>
                    <a:pt x="35550" y="9120"/>
                    <a:pt x="360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Supply cache database | outline"/>
            <p:cNvSpPr/>
            <p:nvPr/>
          </p:nvSpPr>
          <p:spPr>
            <a:xfrm>
              <a:off x="10675620" y="3234416"/>
              <a:ext cx="329184" cy="83393"/>
            </a:xfrm>
            <a:custGeom>
              <a:avLst/>
              <a:gdLst/>
              <a:ahLst/>
              <a:cxnLst/>
              <a:rect l="0" t="0" r="r" b="b"/>
              <a:pathLst>
                <a:path w="36000" h="9120">
                  <a:moveTo>
                    <a:pt x="0" y="0"/>
                  </a:moveTo>
                  <a:cubicBezTo>
                    <a:pt x="450" y="9120"/>
                    <a:pt x="35550" y="9120"/>
                    <a:pt x="360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70" name="Text | Supply cache / (reusable)"/>
          <p:cNvSpPr txBox="1"/>
          <p:nvPr/>
        </p:nvSpPr>
        <p:spPr>
          <a:xfrm>
            <a:off x="11036808" y="2990911"/>
            <a:ext cx="932688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8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Supply cache</a:t>
            </a:r>
          </a:p>
        </p:txBody>
      </p:sp>
      <p:sp>
        <p:nvSpPr>
          <p:cNvPr id="571" name="C | accessibility planner"/>
          <p:cNvSpPr/>
          <p:nvPr/>
        </p:nvSpPr>
        <p:spPr>
          <a:xfrm>
            <a:off x="13213079" y="2889504"/>
            <a:ext cx="1840803" cy="548640"/>
          </a:xfrm>
          <a:custGeom>
            <a:avLst/>
            <a:gdLst/>
            <a:ahLst/>
            <a:cxnLst/>
            <a:rect l="0" t="0" r="r" b="b"/>
            <a:pathLst>
              <a:path w="194000" h="60000">
                <a:moveTo>
                  <a:pt x="4000" y="0"/>
                </a:moveTo>
                <a:lnTo>
                  <a:pt x="190000" y="0"/>
                </a:lnTo>
                <a:cubicBezTo>
                  <a:pt x="192209" y="0"/>
                  <a:pt x="194000" y="1791"/>
                  <a:pt x="194000" y="4000"/>
                </a:cubicBezTo>
                <a:lnTo>
                  <a:pt x="194000" y="56000"/>
                </a:lnTo>
                <a:cubicBezTo>
                  <a:pt x="194000" y="58209"/>
                  <a:pt x="192209" y="60000"/>
                  <a:pt x="190000" y="60000"/>
                </a:cubicBezTo>
                <a:lnTo>
                  <a:pt x="4000" y="60000"/>
                </a:lnTo>
                <a:cubicBezTo>
                  <a:pt x="1791" y="60000"/>
                  <a:pt x="0" y="58209"/>
                  <a:pt x="0" y="56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741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8" name="Text | Accessibility planner / (mode-specific)"/>
          <p:cNvSpPr txBox="1"/>
          <p:nvPr/>
        </p:nvSpPr>
        <p:spPr>
          <a:xfrm>
            <a:off x="13894491" y="2984236"/>
            <a:ext cx="1161288" cy="4114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Accessibility 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planner</a:t>
            </a:r>
          </a:p>
        </p:txBody>
      </p:sp>
      <p:sp>
        <p:nvSpPr>
          <p:cNvPr id="590" name="C | cache lookup and reuse | shaft"/>
          <p:cNvSpPr/>
          <p:nvPr/>
        </p:nvSpPr>
        <p:spPr>
          <a:xfrm>
            <a:off x="12162114" y="3140416"/>
            <a:ext cx="913211" cy="45719"/>
          </a:xfrm>
          <a:custGeom>
            <a:avLst/>
            <a:gdLst/>
            <a:ahLst/>
            <a:cxnLst/>
            <a:rect l="0" t="0" r="r" b="b"/>
            <a:pathLst>
              <a:path w="101000" h="20">
                <a:moveTo>
                  <a:pt x="0" y="0"/>
                </a:moveTo>
                <a:lnTo>
                  <a:pt x="101000" y="0"/>
                </a:lnTo>
              </a:path>
            </a:pathLst>
          </a:custGeom>
          <a:noFill/>
          <a:ln w="28346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1" name="C | cache lookup and reuse | head"/>
          <p:cNvSpPr/>
          <p:nvPr/>
        </p:nvSpPr>
        <p:spPr>
          <a:xfrm>
            <a:off x="13057632" y="3067264"/>
            <a:ext cx="137160" cy="146304"/>
          </a:xfrm>
          <a:custGeom>
            <a:avLst/>
            <a:gdLst/>
            <a:ahLst/>
            <a:cxnLst/>
            <a:rect l="0" t="0" r="r" b="b"/>
            <a:pathLst>
              <a:path w="15000" h="16000">
                <a:moveTo>
                  <a:pt x="15000" y="8000"/>
                </a:moveTo>
                <a:lnTo>
                  <a:pt x="0" y="16000"/>
                </a:lnTo>
                <a:lnTo>
                  <a:pt x="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2" name="C | supply preparation to state | shaft"/>
          <p:cNvSpPr/>
          <p:nvPr/>
        </p:nvSpPr>
        <p:spPr>
          <a:xfrm>
            <a:off x="12646152" y="3163824"/>
            <a:ext cx="183" cy="347472"/>
          </a:xfrm>
          <a:custGeom>
            <a:avLst/>
            <a:gdLst/>
            <a:ahLst/>
            <a:cxnLst/>
            <a:rect l="0" t="0" r="r" b="b"/>
            <a:pathLst>
              <a:path w="20" h="38000">
                <a:moveTo>
                  <a:pt x="0" y="0"/>
                </a:moveTo>
                <a:lnTo>
                  <a:pt x="0" y="38000"/>
                </a:lnTo>
              </a:path>
            </a:pathLst>
          </a:custGeom>
          <a:noFill/>
          <a:ln w="28346" cap="rnd" cmpd="sng" algn="ctr">
            <a:solidFill>
              <a:srgbClr val="158C3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4" name="C | state assembly"/>
          <p:cNvSpPr/>
          <p:nvPr/>
        </p:nvSpPr>
        <p:spPr>
          <a:xfrm>
            <a:off x="11009376" y="3630168"/>
            <a:ext cx="3355848" cy="594360"/>
          </a:xfrm>
          <a:custGeom>
            <a:avLst/>
            <a:gdLst/>
            <a:ahLst/>
            <a:cxnLst/>
            <a:rect l="0" t="0" r="r" b="b"/>
            <a:pathLst>
              <a:path w="367000" h="65000">
                <a:moveTo>
                  <a:pt x="5000" y="0"/>
                </a:moveTo>
                <a:lnTo>
                  <a:pt x="362000" y="0"/>
                </a:lnTo>
                <a:cubicBezTo>
                  <a:pt x="364761" y="0"/>
                  <a:pt x="367000" y="2239"/>
                  <a:pt x="367000" y="5000"/>
                </a:cubicBezTo>
                <a:lnTo>
                  <a:pt x="367000" y="60000"/>
                </a:lnTo>
                <a:cubicBezTo>
                  <a:pt x="367000" y="62761"/>
                  <a:pt x="364761" y="65000"/>
                  <a:pt x="362000" y="65000"/>
                </a:cubicBezTo>
                <a:lnTo>
                  <a:pt x="5000" y="65000"/>
                </a:lnTo>
                <a:cubicBezTo>
                  <a:pt x="2239" y="65000"/>
                  <a:pt x="0" y="62761"/>
                  <a:pt x="0" y="60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D822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5" name="Text | State assembly"/>
          <p:cNvSpPr txBox="1"/>
          <p:nvPr/>
        </p:nvSpPr>
        <p:spPr>
          <a:xfrm>
            <a:off x="11978640" y="3685032"/>
            <a:ext cx="2249424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2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assembly</a:t>
            </a:r>
          </a:p>
        </p:txBody>
      </p:sp>
      <p:sp>
        <p:nvSpPr>
          <p:cNvPr id="616" name="Text | Features + availability"/>
          <p:cNvSpPr txBox="1"/>
          <p:nvPr/>
        </p:nvSpPr>
        <p:spPr>
          <a:xfrm>
            <a:off x="11987784" y="3941064"/>
            <a:ext cx="2231136" cy="24688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 + availability</a:t>
            </a:r>
          </a:p>
        </p:txBody>
      </p:sp>
      <p:sp>
        <p:nvSpPr>
          <p:cNvPr id="617" name="C | state into frozen S9 | shaft"/>
          <p:cNvSpPr/>
          <p:nvPr/>
        </p:nvSpPr>
        <p:spPr>
          <a:xfrm>
            <a:off x="12701016" y="4224528"/>
            <a:ext cx="183" cy="54864"/>
          </a:xfrm>
          <a:custGeom>
            <a:avLst/>
            <a:gdLst/>
            <a:ahLst/>
            <a:cxnLst/>
            <a:rect l="0" t="0" r="r" b="b"/>
            <a:pathLst>
              <a:path w="20" h="6000">
                <a:moveTo>
                  <a:pt x="0" y="0"/>
                </a:moveTo>
                <a:lnTo>
                  <a:pt x="0" y="6000"/>
                </a:lnTo>
              </a:path>
            </a:pathLst>
          </a:custGeom>
          <a:noFill/>
          <a:ln w="30175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9" name="C | frozen S9"/>
          <p:cNvSpPr/>
          <p:nvPr/>
        </p:nvSpPr>
        <p:spPr>
          <a:xfrm>
            <a:off x="11375136" y="4389120"/>
            <a:ext cx="2679192" cy="512064"/>
          </a:xfrm>
          <a:custGeom>
            <a:avLst/>
            <a:gdLst/>
            <a:ahLst/>
            <a:cxnLst/>
            <a:rect l="0" t="0" r="r" b="b"/>
            <a:pathLst>
              <a:path w="293000" h="56000">
                <a:moveTo>
                  <a:pt x="5000" y="0"/>
                </a:moveTo>
                <a:lnTo>
                  <a:pt x="288000" y="0"/>
                </a:lnTo>
                <a:cubicBezTo>
                  <a:pt x="290761" y="0"/>
                  <a:pt x="293000" y="2239"/>
                  <a:pt x="293000" y="5000"/>
                </a:cubicBezTo>
                <a:lnTo>
                  <a:pt x="293000" y="51000"/>
                </a:lnTo>
                <a:cubicBezTo>
                  <a:pt x="293000" y="53761"/>
                  <a:pt x="290761" y="56000"/>
                  <a:pt x="288000" y="56000"/>
                </a:cubicBezTo>
                <a:lnTo>
                  <a:pt x="5000" y="56000"/>
                </a:lnTo>
                <a:cubicBezTo>
                  <a:pt x="2239" y="56000"/>
                  <a:pt x="0" y="53761"/>
                  <a:pt x="0" y="51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gradFill rotWithShape="1">
            <a:gsLst>
              <a:gs pos="0">
                <a:srgbClr val="DDF5FF"/>
              </a:gs>
              <a:gs pos="100000">
                <a:srgbClr val="C2E6FB"/>
              </a:gs>
            </a:gsLst>
            <a:lin ang="5400000" scaled="1"/>
          </a:gradFill>
          <a:ln w="19050" cap="rnd" cmpd="sng" algn="ctr">
            <a:solidFill>
              <a:srgbClr val="0685F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0" name="Icon | Frozen S9 processor"/>
          <p:cNvGrpSpPr/>
          <p:nvPr/>
        </p:nvGrpSpPr>
        <p:grpSpPr>
          <a:xfrm>
            <a:off x="11887566" y="4426428"/>
            <a:ext cx="429037" cy="437448"/>
            <a:chOff x="11887566" y="4426428"/>
            <a:chExt cx="429037" cy="437448"/>
          </a:xfrm>
        </p:grpSpPr>
        <p:sp>
          <p:nvSpPr>
            <p:cNvPr id="621" name="Frozen S9 processor | outline"/>
            <p:cNvSpPr/>
            <p:nvPr/>
          </p:nvSpPr>
          <p:spPr>
            <a:xfrm>
              <a:off x="11985498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ozen S9 processor | outline"/>
            <p:cNvSpPr/>
            <p:nvPr/>
          </p:nvSpPr>
          <p:spPr>
            <a:xfrm>
              <a:off x="11985498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ozen S9 processor | outline"/>
            <p:cNvSpPr/>
            <p:nvPr/>
          </p:nvSpPr>
          <p:spPr>
            <a:xfrm>
              <a:off x="11887566" y="4526280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ozen S9 processor | outline"/>
            <p:cNvSpPr/>
            <p:nvPr/>
          </p:nvSpPr>
          <p:spPr>
            <a:xfrm>
              <a:off x="12246651" y="4526280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ozen S9 processor | outline"/>
            <p:cNvSpPr/>
            <p:nvPr/>
          </p:nvSpPr>
          <p:spPr>
            <a:xfrm>
              <a:off x="12041459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ozen S9 processor | outline"/>
            <p:cNvSpPr/>
            <p:nvPr/>
          </p:nvSpPr>
          <p:spPr>
            <a:xfrm>
              <a:off x="12041459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ozen S9 processor | outline"/>
            <p:cNvSpPr/>
            <p:nvPr/>
          </p:nvSpPr>
          <p:spPr>
            <a:xfrm>
              <a:off x="11887566" y="4583339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ozen S9 processor | outline"/>
            <p:cNvSpPr/>
            <p:nvPr/>
          </p:nvSpPr>
          <p:spPr>
            <a:xfrm>
              <a:off x="12246651" y="4583339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ozen S9 processor | outline"/>
            <p:cNvSpPr/>
            <p:nvPr/>
          </p:nvSpPr>
          <p:spPr>
            <a:xfrm>
              <a:off x="12097421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ozen S9 processor | outline"/>
            <p:cNvSpPr/>
            <p:nvPr/>
          </p:nvSpPr>
          <p:spPr>
            <a:xfrm>
              <a:off x="12097421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ozen S9 processor | outline"/>
            <p:cNvSpPr/>
            <p:nvPr/>
          </p:nvSpPr>
          <p:spPr>
            <a:xfrm>
              <a:off x="11887566" y="4640397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ozen S9 processor | outline"/>
            <p:cNvSpPr/>
            <p:nvPr/>
          </p:nvSpPr>
          <p:spPr>
            <a:xfrm>
              <a:off x="12246651" y="4640397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ozen S9 processor | outline"/>
            <p:cNvSpPr/>
            <p:nvPr/>
          </p:nvSpPr>
          <p:spPr>
            <a:xfrm>
              <a:off x="12153382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ozen S9 processor | outline"/>
            <p:cNvSpPr/>
            <p:nvPr/>
          </p:nvSpPr>
          <p:spPr>
            <a:xfrm>
              <a:off x="12153382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ozen S9 processor | outline"/>
            <p:cNvSpPr/>
            <p:nvPr/>
          </p:nvSpPr>
          <p:spPr>
            <a:xfrm>
              <a:off x="11887566" y="4697456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ozen S9 processor | outline"/>
            <p:cNvSpPr/>
            <p:nvPr/>
          </p:nvSpPr>
          <p:spPr>
            <a:xfrm>
              <a:off x="12246651" y="4697456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ozen S9 processor | outline"/>
            <p:cNvSpPr/>
            <p:nvPr/>
          </p:nvSpPr>
          <p:spPr>
            <a:xfrm>
              <a:off x="12209343" y="4426428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ozen S9 processor | outline"/>
            <p:cNvSpPr/>
            <p:nvPr/>
          </p:nvSpPr>
          <p:spPr>
            <a:xfrm>
              <a:off x="12209343" y="4792553"/>
              <a:ext cx="183" cy="71323"/>
            </a:xfrm>
            <a:custGeom>
              <a:avLst/>
              <a:gdLst/>
              <a:ahLst/>
              <a:cxnLst/>
              <a:rect l="0" t="0" r="r" b="b"/>
              <a:pathLst>
                <a:path w="20" h="7800">
                  <a:moveTo>
                    <a:pt x="0" y="0"/>
                  </a:moveTo>
                  <a:lnTo>
                    <a:pt x="0" y="780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ozen S9 processor | outline"/>
            <p:cNvSpPr/>
            <p:nvPr/>
          </p:nvSpPr>
          <p:spPr>
            <a:xfrm>
              <a:off x="11887566" y="4754514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ozen S9 processor | outline"/>
            <p:cNvSpPr/>
            <p:nvPr/>
          </p:nvSpPr>
          <p:spPr>
            <a:xfrm>
              <a:off x="12246651" y="4754514"/>
              <a:ext cx="69952" cy="183"/>
            </a:xfrm>
            <a:custGeom>
              <a:avLst/>
              <a:gdLst/>
              <a:ahLst/>
              <a:cxnLst/>
              <a:rect l="0" t="0" r="r" b="b"/>
              <a:pathLst>
                <a:path w="7650" h="20">
                  <a:moveTo>
                    <a:pt x="0" y="0"/>
                  </a:moveTo>
                  <a:lnTo>
                    <a:pt x="7650" y="0"/>
                  </a:lnTo>
                </a:path>
              </a:pathLst>
            </a:custGeom>
            <a:noFill/>
            <a:ln w="22859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ozen S9 processor | shape"/>
            <p:cNvSpPr/>
            <p:nvPr/>
          </p:nvSpPr>
          <p:spPr>
            <a:xfrm>
              <a:off x="11952854" y="4492996"/>
              <a:ext cx="303124" cy="309067"/>
            </a:xfrm>
            <a:custGeom>
              <a:avLst/>
              <a:gdLst/>
              <a:ahLst/>
              <a:cxnLst/>
              <a:rect l="0" t="0" r="r" b="b"/>
              <a:pathLst>
                <a:path w="33150" h="33800">
                  <a:moveTo>
                    <a:pt x="510" y="0"/>
                  </a:moveTo>
                  <a:lnTo>
                    <a:pt x="32640" y="0"/>
                  </a:lnTo>
                  <a:cubicBezTo>
                    <a:pt x="32922" y="0"/>
                    <a:pt x="33150" y="228"/>
                    <a:pt x="33150" y="510"/>
                  </a:cubicBezTo>
                  <a:lnTo>
                    <a:pt x="33150" y="33290"/>
                  </a:lnTo>
                  <a:cubicBezTo>
                    <a:pt x="33150" y="33572"/>
                    <a:pt x="32922" y="33800"/>
                    <a:pt x="32640" y="33800"/>
                  </a:cubicBezTo>
                  <a:lnTo>
                    <a:pt x="510" y="33800"/>
                  </a:lnTo>
                  <a:cubicBezTo>
                    <a:pt x="228" y="33800"/>
                    <a:pt x="0" y="33572"/>
                    <a:pt x="0" y="33290"/>
                  </a:cubicBezTo>
                  <a:lnTo>
                    <a:pt x="0" y="510"/>
                  </a:lnTo>
                  <a:cubicBezTo>
                    <a:pt x="0" y="228"/>
                    <a:pt x="228" y="0"/>
                    <a:pt x="510" y="0"/>
                  </a:cubicBezTo>
                  <a:close/>
                </a:path>
              </a:pathLst>
            </a:custGeom>
            <a:solidFill>
              <a:srgbClr val="D8F3FF"/>
            </a:solidFill>
            <a:ln w="28346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ozen S9 processor | shape"/>
            <p:cNvSpPr/>
            <p:nvPr/>
          </p:nvSpPr>
          <p:spPr>
            <a:xfrm>
              <a:off x="12004152" y="4545300"/>
              <a:ext cx="200528" cy="204460"/>
            </a:xfrm>
            <a:custGeom>
              <a:avLst/>
              <a:gdLst/>
              <a:ahLst/>
              <a:cxnLst/>
              <a:rect l="0" t="0" r="r" b="b"/>
              <a:pathLst>
                <a:path w="21930" h="22360">
                  <a:moveTo>
                    <a:pt x="510" y="0"/>
                  </a:moveTo>
                  <a:lnTo>
                    <a:pt x="21420" y="0"/>
                  </a:lnTo>
                  <a:cubicBezTo>
                    <a:pt x="21702" y="0"/>
                    <a:pt x="21930" y="228"/>
                    <a:pt x="21930" y="510"/>
                  </a:cubicBezTo>
                  <a:lnTo>
                    <a:pt x="21930" y="21850"/>
                  </a:lnTo>
                  <a:cubicBezTo>
                    <a:pt x="21930" y="22132"/>
                    <a:pt x="21702" y="22360"/>
                    <a:pt x="21420" y="22360"/>
                  </a:cubicBezTo>
                  <a:lnTo>
                    <a:pt x="510" y="22360"/>
                  </a:lnTo>
                  <a:cubicBezTo>
                    <a:pt x="228" y="22360"/>
                    <a:pt x="0" y="22132"/>
                    <a:pt x="0" y="21850"/>
                  </a:cubicBezTo>
                  <a:lnTo>
                    <a:pt x="0" y="510"/>
                  </a:lnTo>
                  <a:cubicBezTo>
                    <a:pt x="0" y="228"/>
                    <a:pt x="228" y="0"/>
                    <a:pt x="510" y="0"/>
                  </a:cubicBezTo>
                  <a:close/>
                </a:path>
              </a:pathLst>
            </a:custGeom>
            <a:noFill/>
            <a:ln w="19202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ozen S9 processor | shape"/>
            <p:cNvSpPr/>
            <p:nvPr/>
          </p:nvSpPr>
          <p:spPr>
            <a:xfrm>
              <a:off x="12046123" y="4588093"/>
              <a:ext cx="121249" cy="123627"/>
            </a:xfrm>
            <a:prstGeom prst="rect">
              <a:avLst/>
            </a:prstGeom>
            <a:solidFill>
              <a:srgbClr val="C8E8FB"/>
            </a:solidFill>
            <a:ln w="12801" cap="rnd" cmpd="sng" algn="ctr">
              <a:solidFill>
                <a:srgbClr val="0766DB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4" name="Text | Frozen S9"/>
          <p:cNvSpPr txBox="1"/>
          <p:nvPr/>
        </p:nvSpPr>
        <p:spPr>
          <a:xfrm>
            <a:off x="12371832" y="4443984"/>
            <a:ext cx="1609344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5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Student</a:t>
            </a:r>
          </a:p>
        </p:txBody>
      </p:sp>
      <p:sp>
        <p:nvSpPr>
          <p:cNvPr id="657" name="C | routing context card"/>
          <p:cNvSpPr/>
          <p:nvPr/>
        </p:nvSpPr>
        <p:spPr>
          <a:xfrm>
            <a:off x="10469880" y="5654082"/>
            <a:ext cx="1024128" cy="402336"/>
          </a:xfrm>
          <a:custGeom>
            <a:avLst/>
            <a:gdLst/>
            <a:ahLst/>
            <a:cxnLst/>
            <a:rect l="0" t="0" r="r" b="b"/>
            <a:pathLst>
              <a:path w="122000" h="71000">
                <a:moveTo>
                  <a:pt x="4000" y="0"/>
                </a:moveTo>
                <a:lnTo>
                  <a:pt x="118000" y="0"/>
                </a:lnTo>
                <a:cubicBezTo>
                  <a:pt x="120209" y="0"/>
                  <a:pt x="122000" y="1791"/>
                  <a:pt x="122000" y="4000"/>
                </a:cubicBezTo>
                <a:lnTo>
                  <a:pt x="122000" y="67000"/>
                </a:lnTo>
                <a:cubicBezTo>
                  <a:pt x="122000" y="69209"/>
                  <a:pt x="120209" y="71000"/>
                  <a:pt x="118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8" name="C | routing context card"/>
          <p:cNvSpPr/>
          <p:nvPr/>
        </p:nvSpPr>
        <p:spPr>
          <a:xfrm>
            <a:off x="11674602" y="5654082"/>
            <a:ext cx="1218438" cy="402336"/>
          </a:xfrm>
          <a:custGeom>
            <a:avLst/>
            <a:gdLst/>
            <a:ahLst/>
            <a:cxnLst/>
            <a:rect l="0" t="0" r="r" b="b"/>
            <a:pathLst>
              <a:path w="149000" h="71000">
                <a:moveTo>
                  <a:pt x="4000" y="0"/>
                </a:moveTo>
                <a:lnTo>
                  <a:pt x="145000" y="0"/>
                </a:lnTo>
                <a:cubicBezTo>
                  <a:pt x="147209" y="0"/>
                  <a:pt x="149000" y="1791"/>
                  <a:pt x="149000" y="4000"/>
                </a:cubicBezTo>
                <a:lnTo>
                  <a:pt x="149000" y="67000"/>
                </a:lnTo>
                <a:cubicBezTo>
                  <a:pt x="149000" y="69209"/>
                  <a:pt x="147209" y="71000"/>
                  <a:pt x="145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9" name="C | routing context card"/>
          <p:cNvSpPr/>
          <p:nvPr/>
        </p:nvSpPr>
        <p:spPr>
          <a:xfrm>
            <a:off x="13043733" y="5654082"/>
            <a:ext cx="836859" cy="402336"/>
          </a:xfrm>
          <a:custGeom>
            <a:avLst/>
            <a:gdLst/>
            <a:ahLst/>
            <a:cxnLst/>
            <a:rect l="0" t="0" r="r" b="b"/>
            <a:pathLst>
              <a:path w="105000" h="71000">
                <a:moveTo>
                  <a:pt x="4000" y="0"/>
                </a:moveTo>
                <a:lnTo>
                  <a:pt x="101000" y="0"/>
                </a:lnTo>
                <a:cubicBezTo>
                  <a:pt x="103209" y="0"/>
                  <a:pt x="105000" y="1791"/>
                  <a:pt x="105000" y="4000"/>
                </a:cubicBezTo>
                <a:lnTo>
                  <a:pt x="105000" y="67000"/>
                </a:lnTo>
                <a:cubicBezTo>
                  <a:pt x="105000" y="69209"/>
                  <a:pt x="103209" y="71000"/>
                  <a:pt x="101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0" name="C | routing context card"/>
          <p:cNvSpPr/>
          <p:nvPr/>
        </p:nvSpPr>
        <p:spPr>
          <a:xfrm>
            <a:off x="14006322" y="5654082"/>
            <a:ext cx="962406" cy="402336"/>
          </a:xfrm>
          <a:custGeom>
            <a:avLst/>
            <a:gdLst/>
            <a:ahLst/>
            <a:cxnLst/>
            <a:rect l="0" t="0" r="r" b="b"/>
            <a:pathLst>
              <a:path w="114000" h="71000">
                <a:moveTo>
                  <a:pt x="4000" y="0"/>
                </a:moveTo>
                <a:lnTo>
                  <a:pt x="110000" y="0"/>
                </a:lnTo>
                <a:cubicBezTo>
                  <a:pt x="112209" y="0"/>
                  <a:pt x="114000" y="1791"/>
                  <a:pt x="114000" y="4000"/>
                </a:cubicBezTo>
                <a:lnTo>
                  <a:pt x="114000" y="67000"/>
                </a:lnTo>
                <a:cubicBezTo>
                  <a:pt x="114000" y="69209"/>
                  <a:pt x="112209" y="71000"/>
                  <a:pt x="110000" y="71000"/>
                </a:cubicBezTo>
                <a:lnTo>
                  <a:pt x="4000" y="71000"/>
                </a:lnTo>
                <a:cubicBezTo>
                  <a:pt x="1791" y="71000"/>
                  <a:pt x="0" y="69209"/>
                  <a:pt x="0" y="67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AA05A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6" name="Text | (origin-destination)"/>
          <p:cNvSpPr txBox="1"/>
          <p:nvPr/>
        </p:nvSpPr>
        <p:spPr>
          <a:xfrm>
            <a:off x="10488168" y="5742432"/>
            <a:ext cx="1005840" cy="25441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rigin-</a:t>
            </a:r>
          </a:p>
          <a:p>
            <a:pPr algn="ctr">
              <a:lnSpc>
                <a:spcPts val="10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destination</a:t>
            </a:r>
          </a:p>
        </p:txBody>
      </p:sp>
      <p:sp>
        <p:nvSpPr>
          <p:cNvPr id="692" name="Text | Adjusted / departure time / (t + Δt)"/>
          <p:cNvSpPr txBox="1"/>
          <p:nvPr/>
        </p:nvSpPr>
        <p:spPr>
          <a:xfrm>
            <a:off x="11868912" y="5679324"/>
            <a:ext cx="868680" cy="362669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Adjusted</a:t>
            </a:r>
          </a:p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departure time</a:t>
            </a:r>
          </a:p>
        </p:txBody>
      </p:sp>
      <p:sp>
        <p:nvSpPr>
          <p:cNvPr id="707" name="Text | Roads"/>
          <p:cNvSpPr txBox="1"/>
          <p:nvPr/>
        </p:nvSpPr>
        <p:spPr>
          <a:xfrm>
            <a:off x="13247370" y="5787255"/>
            <a:ext cx="475488" cy="1416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Roads</a:t>
            </a:r>
          </a:p>
        </p:txBody>
      </p:sp>
      <p:sp>
        <p:nvSpPr>
          <p:cNvPr id="720" name="Text | Timetable"/>
          <p:cNvSpPr txBox="1"/>
          <p:nvPr/>
        </p:nvSpPr>
        <p:spPr>
          <a:xfrm>
            <a:off x="14054328" y="5797296"/>
            <a:ext cx="905256" cy="13033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Timetable</a:t>
            </a:r>
          </a:p>
        </p:txBody>
      </p:sp>
      <p:sp>
        <p:nvSpPr>
          <p:cNvPr id="725" name="C | multimodal routing"/>
          <p:cNvSpPr/>
          <p:nvPr/>
        </p:nvSpPr>
        <p:spPr>
          <a:xfrm>
            <a:off x="11096244" y="6208776"/>
            <a:ext cx="3707892" cy="414188"/>
          </a:xfrm>
          <a:custGeom>
            <a:avLst/>
            <a:gdLst/>
            <a:ahLst/>
            <a:cxnLst/>
            <a:rect l="0" t="0" r="r" b="b"/>
            <a:pathLst>
              <a:path w="411000" h="49000">
                <a:moveTo>
                  <a:pt x="4000" y="0"/>
                </a:moveTo>
                <a:lnTo>
                  <a:pt x="407000" y="0"/>
                </a:lnTo>
                <a:cubicBezTo>
                  <a:pt x="409209" y="0"/>
                  <a:pt x="411000" y="1791"/>
                  <a:pt x="411000" y="4000"/>
                </a:cubicBezTo>
                <a:lnTo>
                  <a:pt x="411000" y="45000"/>
                </a:lnTo>
                <a:cubicBezTo>
                  <a:pt x="411000" y="47209"/>
                  <a:pt x="409209" y="49000"/>
                  <a:pt x="407000" y="49000"/>
                </a:cubicBezTo>
                <a:lnTo>
                  <a:pt x="4000" y="49000"/>
                </a:lnTo>
                <a:cubicBezTo>
                  <a:pt x="1791" y="49000"/>
                  <a:pt x="0" y="47209"/>
                  <a:pt x="0" y="45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79D4E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2" name="Text | Multimodal routing + fallback"/>
          <p:cNvSpPr txBox="1"/>
          <p:nvPr/>
        </p:nvSpPr>
        <p:spPr>
          <a:xfrm>
            <a:off x="11887200" y="6281928"/>
            <a:ext cx="2624328" cy="29260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9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98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 routing + fallback</a:t>
            </a:r>
          </a:p>
        </p:txBody>
      </p:sp>
      <p:sp>
        <p:nvSpPr>
          <p:cNvPr id="743" name="C | activity plans"/>
          <p:cNvSpPr/>
          <p:nvPr/>
        </p:nvSpPr>
        <p:spPr>
          <a:xfrm>
            <a:off x="10607040" y="6821424"/>
            <a:ext cx="1874520" cy="429768"/>
          </a:xfrm>
          <a:custGeom>
            <a:avLst/>
            <a:gdLst/>
            <a:ahLst/>
            <a:cxnLst/>
            <a:rect l="0" t="0" r="r" b="b"/>
            <a:pathLst>
              <a:path w="226000" h="47000">
                <a:moveTo>
                  <a:pt x="4000" y="0"/>
                </a:moveTo>
                <a:lnTo>
                  <a:pt x="222000" y="0"/>
                </a:lnTo>
                <a:cubicBezTo>
                  <a:pt x="224209" y="0"/>
                  <a:pt x="226000" y="1791"/>
                  <a:pt x="226000" y="4000"/>
                </a:cubicBezTo>
                <a:lnTo>
                  <a:pt x="226000" y="43000"/>
                </a:lnTo>
                <a:cubicBezTo>
                  <a:pt x="226000" y="45209"/>
                  <a:pt x="224209" y="47000"/>
                  <a:pt x="222000" y="47000"/>
                </a:cubicBezTo>
                <a:lnTo>
                  <a:pt x="4000" y="47000"/>
                </a:lnTo>
                <a:cubicBezTo>
                  <a:pt x="1791" y="47000"/>
                  <a:pt x="0" y="45209"/>
                  <a:pt x="0" y="43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39742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1" name="Text | Activity plans"/>
          <p:cNvSpPr txBox="1"/>
          <p:nvPr/>
        </p:nvSpPr>
        <p:spPr>
          <a:xfrm>
            <a:off x="11201400" y="6885432"/>
            <a:ext cx="1225296" cy="28346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plans</a:t>
            </a:r>
          </a:p>
        </p:txBody>
      </p:sp>
      <p:sp>
        <p:nvSpPr>
          <p:cNvPr id="762" name="C | MATSim simulator"/>
          <p:cNvSpPr/>
          <p:nvPr/>
        </p:nvSpPr>
        <p:spPr>
          <a:xfrm>
            <a:off x="13176504" y="6821424"/>
            <a:ext cx="1810512" cy="438912"/>
          </a:xfrm>
          <a:custGeom>
            <a:avLst/>
            <a:gdLst/>
            <a:ahLst/>
            <a:cxnLst/>
            <a:rect l="0" t="0" r="r" b="b"/>
            <a:pathLst>
              <a:path w="205000" h="48000">
                <a:moveTo>
                  <a:pt x="4000" y="0"/>
                </a:moveTo>
                <a:lnTo>
                  <a:pt x="201000" y="0"/>
                </a:lnTo>
                <a:cubicBezTo>
                  <a:pt x="203209" y="0"/>
                  <a:pt x="205000" y="1791"/>
                  <a:pt x="205000" y="4000"/>
                </a:cubicBezTo>
                <a:lnTo>
                  <a:pt x="205000" y="44000"/>
                </a:lnTo>
                <a:cubicBezTo>
                  <a:pt x="205000" y="46209"/>
                  <a:pt x="203209" y="48000"/>
                  <a:pt x="201000" y="48000"/>
                </a:cubicBezTo>
                <a:lnTo>
                  <a:pt x="4000" y="48000"/>
                </a:lnTo>
                <a:cubicBezTo>
                  <a:pt x="1791" y="48000"/>
                  <a:pt x="0" y="46209"/>
                  <a:pt x="0" y="44000"/>
                </a:cubicBezTo>
                <a:lnTo>
                  <a:pt x="0" y="4000"/>
                </a:lnTo>
                <a:cubicBezTo>
                  <a:pt x="0" y="1791"/>
                  <a:pt x="1791" y="0"/>
                  <a:pt x="4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39742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3" name="Icon | MATSim database"/>
          <p:cNvGrpSpPr/>
          <p:nvPr/>
        </p:nvGrpSpPr>
        <p:grpSpPr>
          <a:xfrm>
            <a:off x="13364870" y="6876379"/>
            <a:ext cx="336499" cy="357805"/>
            <a:chOff x="13364870" y="6876379"/>
            <a:chExt cx="336499" cy="357805"/>
          </a:xfrm>
        </p:grpSpPr>
        <p:sp>
          <p:nvSpPr>
            <p:cNvPr id="764" name="MATSim database | shape"/>
            <p:cNvSpPr/>
            <p:nvPr/>
          </p:nvSpPr>
          <p:spPr>
            <a:xfrm>
              <a:off x="13364870" y="6939290"/>
              <a:ext cx="336499" cy="231983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MATSim database | ellipse"/>
            <p:cNvSpPr/>
            <p:nvPr/>
          </p:nvSpPr>
          <p:spPr>
            <a:xfrm>
              <a:off x="13364870" y="7108363"/>
              <a:ext cx="336499" cy="117958"/>
            </a:xfrm>
            <a:prstGeom prst="ellipse">
              <a:avLst/>
            </a:prstGeom>
            <a:solidFill>
              <a:srgbClr val="C4E9FE"/>
            </a:solidFill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MATSim database | shape"/>
            <p:cNvSpPr/>
            <p:nvPr/>
          </p:nvSpPr>
          <p:spPr>
            <a:xfrm>
              <a:off x="13373283" y="7057248"/>
              <a:ext cx="319674" cy="114026"/>
            </a:xfrm>
            <a:prstGeom prst="rect">
              <a:avLst/>
            </a:prstGeom>
            <a:solidFill>
              <a:srgbClr val="C4E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MATSim database | outline"/>
            <p:cNvSpPr/>
            <p:nvPr/>
          </p:nvSpPr>
          <p:spPr>
            <a:xfrm>
              <a:off x="13364870" y="6935358"/>
              <a:ext cx="336499" cy="298826"/>
            </a:xfrm>
            <a:custGeom>
              <a:avLst/>
              <a:gdLst/>
              <a:ahLst/>
              <a:cxnLst/>
              <a:rect l="0" t="0" r="r" b="b"/>
              <a:pathLst>
                <a:path w="36800" h="32680">
                  <a:moveTo>
                    <a:pt x="0" y="0"/>
                  </a:moveTo>
                  <a:lnTo>
                    <a:pt x="0" y="25370"/>
                  </a:lnTo>
                  <a:cubicBezTo>
                    <a:pt x="0" y="32680"/>
                    <a:pt x="36800" y="32680"/>
                    <a:pt x="36800" y="25370"/>
                  </a:cubicBezTo>
                  <a:lnTo>
                    <a:pt x="36800" y="0"/>
                  </a:lnTo>
                </a:path>
              </a:pathLst>
            </a:custGeom>
            <a:noFill/>
            <a:ln w="19202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MATSim database | ellipse"/>
            <p:cNvSpPr/>
            <p:nvPr/>
          </p:nvSpPr>
          <p:spPr>
            <a:xfrm>
              <a:off x="13364870" y="6876379"/>
              <a:ext cx="336499" cy="125821"/>
            </a:xfrm>
            <a:prstGeom prst="ellipse">
              <a:avLst/>
            </a:prstGeom>
            <a:solidFill>
              <a:srgbClr val="D7F0FF"/>
            </a:solidFill>
            <a:ln w="20116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MATSim database | outline"/>
            <p:cNvSpPr/>
            <p:nvPr/>
          </p:nvSpPr>
          <p:spPr>
            <a:xfrm>
              <a:off x="13364870" y="7029724"/>
              <a:ext cx="336499" cy="74706"/>
            </a:xfrm>
            <a:custGeom>
              <a:avLst/>
              <a:gdLst/>
              <a:ahLst/>
              <a:cxnLst/>
              <a:rect l="0" t="0" r="r" b="b"/>
              <a:pathLst>
                <a:path w="36800" h="8170">
                  <a:moveTo>
                    <a:pt x="0" y="0"/>
                  </a:moveTo>
                  <a:cubicBezTo>
                    <a:pt x="460" y="8170"/>
                    <a:pt x="36340" y="8170"/>
                    <a:pt x="368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MATSim database | outline"/>
            <p:cNvSpPr/>
            <p:nvPr/>
          </p:nvSpPr>
          <p:spPr>
            <a:xfrm>
              <a:off x="13364870" y="7100499"/>
              <a:ext cx="336499" cy="74706"/>
            </a:xfrm>
            <a:custGeom>
              <a:avLst/>
              <a:gdLst/>
              <a:ahLst/>
              <a:cxnLst/>
              <a:rect l="0" t="0" r="r" b="b"/>
              <a:pathLst>
                <a:path w="36800" h="8170">
                  <a:moveTo>
                    <a:pt x="0" y="0"/>
                  </a:moveTo>
                  <a:cubicBezTo>
                    <a:pt x="460" y="8170"/>
                    <a:pt x="36340" y="8170"/>
                    <a:pt x="36800" y="0"/>
                  </a:cubicBezTo>
                </a:path>
              </a:pathLst>
            </a:custGeom>
            <a:noFill/>
            <a:ln w="18288" cap="rnd" cmpd="sng" algn="ctr">
              <a:solidFill>
                <a:srgbClr val="084D82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71" name="Text | MATSim"/>
          <p:cNvSpPr txBox="1"/>
          <p:nvPr/>
        </p:nvSpPr>
        <p:spPr>
          <a:xfrm>
            <a:off x="13844016" y="6867144"/>
            <a:ext cx="960120" cy="329184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MATSim</a:t>
            </a:r>
          </a:p>
        </p:txBody>
      </p:sp>
      <p:sp>
        <p:nvSpPr>
          <p:cNvPr id="772" name="C | routing to MATSim | shaft"/>
          <p:cNvSpPr/>
          <p:nvPr/>
        </p:nvSpPr>
        <p:spPr>
          <a:xfrm>
            <a:off x="12710160" y="6656832"/>
            <a:ext cx="256032" cy="384048"/>
          </a:xfrm>
          <a:custGeom>
            <a:avLst/>
            <a:gdLst/>
            <a:ahLst/>
            <a:cxnLst/>
            <a:rect l="0" t="0" r="r" b="b"/>
            <a:pathLst>
              <a:path w="28000" h="42000">
                <a:moveTo>
                  <a:pt x="0" y="0"/>
                </a:moveTo>
                <a:lnTo>
                  <a:pt x="0" y="42000"/>
                </a:lnTo>
                <a:lnTo>
                  <a:pt x="28000" y="42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3" name="C | routing to MATSim | head"/>
          <p:cNvSpPr/>
          <p:nvPr/>
        </p:nvSpPr>
        <p:spPr>
          <a:xfrm>
            <a:off x="12966192" y="6958584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4" name="C | plans to MATSim | shaft"/>
          <p:cNvSpPr/>
          <p:nvPr/>
        </p:nvSpPr>
        <p:spPr>
          <a:xfrm>
            <a:off x="12527280" y="7040880"/>
            <a:ext cx="438912" cy="183"/>
          </a:xfrm>
          <a:custGeom>
            <a:avLst/>
            <a:gdLst/>
            <a:ahLst/>
            <a:cxnLst/>
            <a:rect l="0" t="0" r="r" b="b"/>
            <a:pathLst>
              <a:path w="48000" h="20">
                <a:moveTo>
                  <a:pt x="0" y="0"/>
                </a:moveTo>
                <a:lnTo>
                  <a:pt x="48000" y="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5" name="C | plans to MATSim | head"/>
          <p:cNvSpPr/>
          <p:nvPr/>
        </p:nvSpPr>
        <p:spPr>
          <a:xfrm>
            <a:off x="12966192" y="6958584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6" name="C | MATSim to simulation outputs | shaft"/>
          <p:cNvSpPr/>
          <p:nvPr/>
        </p:nvSpPr>
        <p:spPr>
          <a:xfrm>
            <a:off x="14054328" y="7260336"/>
            <a:ext cx="45719" cy="153162"/>
          </a:xfrm>
          <a:custGeom>
            <a:avLst/>
            <a:gdLst/>
            <a:ahLst/>
            <a:cxnLst/>
            <a:rect l="0" t="0" r="r" b="b"/>
            <a:pathLst>
              <a:path w="20" h="8000">
                <a:moveTo>
                  <a:pt x="0" y="0"/>
                </a:moveTo>
                <a:lnTo>
                  <a:pt x="0" y="8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8" name="C | outputs group"/>
          <p:cNvSpPr/>
          <p:nvPr/>
        </p:nvSpPr>
        <p:spPr>
          <a:xfrm>
            <a:off x="10351008" y="7406640"/>
            <a:ext cx="4754880" cy="1005840"/>
          </a:xfrm>
          <a:custGeom>
            <a:avLst/>
            <a:gdLst/>
            <a:ahLst/>
            <a:cxnLst/>
            <a:rect l="0" t="0" r="r" b="b"/>
            <a:pathLst>
              <a:path w="520000" h="110000">
                <a:moveTo>
                  <a:pt x="5000" y="0"/>
                </a:moveTo>
                <a:lnTo>
                  <a:pt x="515000" y="0"/>
                </a:lnTo>
                <a:cubicBezTo>
                  <a:pt x="517761" y="0"/>
                  <a:pt x="520000" y="2239"/>
                  <a:pt x="520000" y="5000"/>
                </a:cubicBezTo>
                <a:lnTo>
                  <a:pt x="520000" y="105000"/>
                </a:lnTo>
                <a:cubicBezTo>
                  <a:pt x="520000" y="107761"/>
                  <a:pt x="517761" y="110000"/>
                  <a:pt x="515000" y="110000"/>
                </a:cubicBezTo>
                <a:lnTo>
                  <a:pt x="5000" y="110000"/>
                </a:lnTo>
                <a:cubicBezTo>
                  <a:pt x="2239" y="110000"/>
                  <a:pt x="0" y="107761"/>
                  <a:pt x="0" y="105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2DD"/>
          </a:solidFill>
          <a:ln w="19050" cap="rnd" cmpd="sng" algn="ctr">
            <a:solidFill>
              <a:srgbClr val="EE95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9" name="Text | Simulation outputs"/>
          <p:cNvSpPr txBox="1"/>
          <p:nvPr/>
        </p:nvSpPr>
        <p:spPr>
          <a:xfrm>
            <a:off x="10506456" y="7415784"/>
            <a:ext cx="4206240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5" b="1" i="0" kern="1200" dirty="0">
                <a:solidFill>
                  <a:srgbClr val="BB38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outputs</a:t>
            </a:r>
          </a:p>
        </p:txBody>
      </p:sp>
      <p:sp>
        <p:nvSpPr>
          <p:cNvPr id="780" name="C | output metric card"/>
          <p:cNvSpPr/>
          <p:nvPr/>
        </p:nvSpPr>
        <p:spPr>
          <a:xfrm>
            <a:off x="10469880" y="7671816"/>
            <a:ext cx="850392" cy="630936"/>
          </a:xfrm>
          <a:custGeom>
            <a:avLst/>
            <a:gdLst/>
            <a:ahLst/>
            <a:cxnLst/>
            <a:rect l="0" t="0" r="r" b="b"/>
            <a:pathLst>
              <a:path w="93000" h="69000">
                <a:moveTo>
                  <a:pt x="5000" y="0"/>
                </a:moveTo>
                <a:lnTo>
                  <a:pt x="88000" y="0"/>
                </a:lnTo>
                <a:cubicBezTo>
                  <a:pt x="90761" y="0"/>
                  <a:pt x="93000" y="2239"/>
                  <a:pt x="93000" y="5000"/>
                </a:cubicBezTo>
                <a:lnTo>
                  <a:pt x="93000" y="64000"/>
                </a:lnTo>
                <a:cubicBezTo>
                  <a:pt x="93000" y="66761"/>
                  <a:pt x="90761" y="69000"/>
                  <a:pt x="88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1" name="C | output metric card"/>
          <p:cNvSpPr/>
          <p:nvPr/>
        </p:nvSpPr>
        <p:spPr>
          <a:xfrm>
            <a:off x="11402568" y="7671816"/>
            <a:ext cx="832104" cy="630936"/>
          </a:xfrm>
          <a:custGeom>
            <a:avLst/>
            <a:gdLst/>
            <a:ahLst/>
            <a:cxnLst/>
            <a:rect l="0" t="0" r="r" b="b"/>
            <a:pathLst>
              <a:path w="91000" h="69000">
                <a:moveTo>
                  <a:pt x="5000" y="0"/>
                </a:moveTo>
                <a:lnTo>
                  <a:pt x="86000" y="0"/>
                </a:lnTo>
                <a:cubicBezTo>
                  <a:pt x="88761" y="0"/>
                  <a:pt x="91000" y="2239"/>
                  <a:pt x="91000" y="5000"/>
                </a:cubicBezTo>
                <a:lnTo>
                  <a:pt x="91000" y="64000"/>
                </a:lnTo>
                <a:cubicBezTo>
                  <a:pt x="91000" y="66761"/>
                  <a:pt x="88761" y="69000"/>
                  <a:pt x="86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2" name="C | output metric card"/>
          <p:cNvSpPr/>
          <p:nvPr/>
        </p:nvSpPr>
        <p:spPr>
          <a:xfrm>
            <a:off x="12307824" y="7671816"/>
            <a:ext cx="804672" cy="630936"/>
          </a:xfrm>
          <a:custGeom>
            <a:avLst/>
            <a:gdLst/>
            <a:ahLst/>
            <a:cxnLst/>
            <a:rect l="0" t="0" r="r" b="b"/>
            <a:pathLst>
              <a:path w="88000" h="69000">
                <a:moveTo>
                  <a:pt x="5000" y="0"/>
                </a:moveTo>
                <a:lnTo>
                  <a:pt x="83000" y="0"/>
                </a:lnTo>
                <a:cubicBezTo>
                  <a:pt x="85761" y="0"/>
                  <a:pt x="88000" y="2239"/>
                  <a:pt x="88000" y="5000"/>
                </a:cubicBezTo>
                <a:lnTo>
                  <a:pt x="88000" y="64000"/>
                </a:lnTo>
                <a:cubicBezTo>
                  <a:pt x="88000" y="66761"/>
                  <a:pt x="85761" y="69000"/>
                  <a:pt x="83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3" name="C | output metric card"/>
          <p:cNvSpPr/>
          <p:nvPr/>
        </p:nvSpPr>
        <p:spPr>
          <a:xfrm>
            <a:off x="13176504" y="7671816"/>
            <a:ext cx="813816" cy="630936"/>
          </a:xfrm>
          <a:custGeom>
            <a:avLst/>
            <a:gdLst/>
            <a:ahLst/>
            <a:cxnLst/>
            <a:rect l="0" t="0" r="r" b="b"/>
            <a:pathLst>
              <a:path w="89000" h="69000">
                <a:moveTo>
                  <a:pt x="5000" y="0"/>
                </a:moveTo>
                <a:lnTo>
                  <a:pt x="84000" y="0"/>
                </a:lnTo>
                <a:cubicBezTo>
                  <a:pt x="86761" y="0"/>
                  <a:pt x="89000" y="2239"/>
                  <a:pt x="89000" y="5000"/>
                </a:cubicBezTo>
                <a:lnTo>
                  <a:pt x="89000" y="64000"/>
                </a:lnTo>
                <a:cubicBezTo>
                  <a:pt x="89000" y="66761"/>
                  <a:pt x="86761" y="69000"/>
                  <a:pt x="84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4" name="C | output metric card"/>
          <p:cNvSpPr/>
          <p:nvPr/>
        </p:nvSpPr>
        <p:spPr>
          <a:xfrm>
            <a:off x="14063472" y="7671816"/>
            <a:ext cx="932688" cy="630936"/>
          </a:xfrm>
          <a:custGeom>
            <a:avLst/>
            <a:gdLst/>
            <a:ahLst/>
            <a:cxnLst/>
            <a:rect l="0" t="0" r="r" b="b"/>
            <a:pathLst>
              <a:path w="102000" h="69000">
                <a:moveTo>
                  <a:pt x="5000" y="0"/>
                </a:moveTo>
                <a:lnTo>
                  <a:pt x="97000" y="0"/>
                </a:lnTo>
                <a:cubicBezTo>
                  <a:pt x="99761" y="0"/>
                  <a:pt x="102000" y="2239"/>
                  <a:pt x="102000" y="5000"/>
                </a:cubicBezTo>
                <a:lnTo>
                  <a:pt x="102000" y="64000"/>
                </a:lnTo>
                <a:cubicBezTo>
                  <a:pt x="102000" y="66761"/>
                  <a:pt x="99761" y="69000"/>
                  <a:pt x="97000" y="69000"/>
                </a:cubicBezTo>
                <a:lnTo>
                  <a:pt x="5000" y="69000"/>
                </a:lnTo>
                <a:cubicBezTo>
                  <a:pt x="2239" y="69000"/>
                  <a:pt x="0" y="66761"/>
                  <a:pt x="0" y="64000"/>
                </a:cubicBezTo>
                <a:lnTo>
                  <a:pt x="0" y="5000"/>
                </a:lnTo>
                <a:cubicBezTo>
                  <a:pt x="0" y="2239"/>
                  <a:pt x="2239" y="0"/>
                  <a:pt x="5000" y="0"/>
                </a:cubicBezTo>
                <a:close/>
              </a:path>
            </a:pathLst>
          </a:custGeom>
          <a:solidFill>
            <a:srgbClr val="FFFFFF"/>
          </a:solidFill>
          <a:ln w="19050" cap="rnd" cmpd="sng" algn="ctr">
            <a:solidFill>
              <a:srgbClr val="F09E50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6" name="Text | Mode shares"/>
          <p:cNvSpPr txBox="1"/>
          <p:nvPr/>
        </p:nvSpPr>
        <p:spPr>
          <a:xfrm>
            <a:off x="10488168" y="8083296"/>
            <a:ext cx="813816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hares</a:t>
            </a:r>
          </a:p>
        </p:txBody>
      </p:sp>
      <p:sp>
        <p:nvSpPr>
          <p:cNvPr id="857" name="Text | PT boardings"/>
          <p:cNvSpPr txBox="1"/>
          <p:nvPr/>
        </p:nvSpPr>
        <p:spPr>
          <a:xfrm>
            <a:off x="11420856" y="8083296"/>
            <a:ext cx="795528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oardings</a:t>
            </a:r>
          </a:p>
        </p:txBody>
      </p:sp>
      <p:sp>
        <p:nvSpPr>
          <p:cNvPr id="858" name="Text | Car VKT"/>
          <p:cNvSpPr txBox="1"/>
          <p:nvPr/>
        </p:nvSpPr>
        <p:spPr>
          <a:xfrm>
            <a:off x="12326112" y="8083296"/>
            <a:ext cx="768096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 VKT</a:t>
            </a:r>
          </a:p>
        </p:txBody>
      </p:sp>
      <p:sp>
        <p:nvSpPr>
          <p:cNvPr id="859" name="Text | Trip time"/>
          <p:cNvSpPr txBox="1"/>
          <p:nvPr/>
        </p:nvSpPr>
        <p:spPr>
          <a:xfrm>
            <a:off x="13194792" y="8083296"/>
            <a:ext cx="777240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4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Trip time</a:t>
            </a:r>
          </a:p>
        </p:txBody>
      </p:sp>
      <p:sp>
        <p:nvSpPr>
          <p:cNvPr id="860" name="Text | Completed trips"/>
          <p:cNvSpPr txBox="1"/>
          <p:nvPr/>
        </p:nvSpPr>
        <p:spPr>
          <a:xfrm>
            <a:off x="14081760" y="8083296"/>
            <a:ext cx="896112" cy="201168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Completed</a:t>
            </a:r>
          </a:p>
        </p:txBody>
      </p:sp>
      <p:sp>
        <p:nvSpPr>
          <p:cNvPr id="861" name="Training | predictions down"/>
          <p:cNvSpPr/>
          <p:nvPr/>
        </p:nvSpPr>
        <p:spPr>
          <a:xfrm>
            <a:off x="5431536" y="7516368"/>
            <a:ext cx="2185416" cy="191040"/>
          </a:xfrm>
          <a:custGeom>
            <a:avLst/>
            <a:gdLst/>
            <a:ahLst/>
            <a:cxnLst/>
            <a:rect l="0" t="0" r="r" b="b"/>
            <a:pathLst>
              <a:path w="67000" h="24000">
                <a:moveTo>
                  <a:pt x="67000" y="0"/>
                </a:moveTo>
                <a:lnTo>
                  <a:pt x="67000" y="24000"/>
                </a:lnTo>
                <a:lnTo>
                  <a:pt x="0" y="24000"/>
                </a:lnTo>
              </a:path>
            </a:pathLst>
          </a:custGeom>
          <a:noFill/>
          <a:ln w="31089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3" name="Training | losses into optimizer bus"/>
          <p:cNvSpPr/>
          <p:nvPr/>
        </p:nvSpPr>
        <p:spPr>
          <a:xfrm flipH="1">
            <a:off x="2465288" y="7492734"/>
            <a:ext cx="45719" cy="250533"/>
          </a:xfrm>
          <a:custGeom>
            <a:avLst/>
            <a:gdLst/>
            <a:ahLst/>
            <a:cxnLst/>
            <a:rect l="0" t="0" r="r" b="b"/>
            <a:pathLst>
              <a:path w="20" h="15000">
                <a:moveTo>
                  <a:pt x="0" y="0"/>
                </a:moveTo>
                <a:lnTo>
                  <a:pt x="0" y="15000"/>
                </a:lnTo>
              </a:path>
            </a:pathLst>
          </a:custGeom>
          <a:noFill/>
          <a:ln w="27432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4" name="Training | prediction/loss flow into joint optimization | shaft"/>
          <p:cNvSpPr/>
          <p:nvPr/>
        </p:nvSpPr>
        <p:spPr>
          <a:xfrm>
            <a:off x="2510028" y="7707408"/>
            <a:ext cx="3037272" cy="110712"/>
          </a:xfrm>
          <a:custGeom>
            <a:avLst/>
            <a:gdLst/>
            <a:ahLst/>
            <a:cxnLst/>
            <a:rect l="0" t="0" r="r" b="b"/>
            <a:pathLst>
              <a:path w="475000" h="3000">
                <a:moveTo>
                  <a:pt x="475000" y="0"/>
                </a:moveTo>
                <a:lnTo>
                  <a:pt x="0" y="0"/>
                </a:lnTo>
                <a:lnTo>
                  <a:pt x="0" y="300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5" name="Training | prediction/loss flow into joint optimization | head"/>
          <p:cNvSpPr/>
          <p:nvPr/>
        </p:nvSpPr>
        <p:spPr>
          <a:xfrm>
            <a:off x="2418812" y="7795138"/>
            <a:ext cx="164592" cy="128016"/>
          </a:xfrm>
          <a:custGeom>
            <a:avLst/>
            <a:gdLst/>
            <a:ahLst/>
            <a:cxnLst/>
            <a:rect l="0" t="0" r="r" b="b"/>
            <a:pathLst>
              <a:path w="18000" h="14000">
                <a:moveTo>
                  <a:pt x="9000" y="14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8" name="Text | Update"/>
          <p:cNvSpPr txBox="1"/>
          <p:nvPr/>
        </p:nvSpPr>
        <p:spPr>
          <a:xfrm>
            <a:off x="4279392" y="7900416"/>
            <a:ext cx="658368" cy="21945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39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</a:p>
        </p:txBody>
      </p:sp>
      <p:sp>
        <p:nvSpPr>
          <p:cNvPr id="869" name="Training | update Student parameters | shaft"/>
          <p:cNvSpPr/>
          <p:nvPr/>
        </p:nvSpPr>
        <p:spPr>
          <a:xfrm>
            <a:off x="4123944" y="8129016"/>
            <a:ext cx="1042416" cy="183"/>
          </a:xfrm>
          <a:custGeom>
            <a:avLst/>
            <a:gdLst/>
            <a:ahLst/>
            <a:cxnLst/>
            <a:rect l="0" t="0" r="r" b="b"/>
            <a:pathLst>
              <a:path w="114000" h="20">
                <a:moveTo>
                  <a:pt x="0" y="0"/>
                </a:moveTo>
                <a:lnTo>
                  <a:pt x="114000" y="0"/>
                </a:lnTo>
              </a:path>
            </a:pathLst>
          </a:custGeom>
          <a:noFill/>
          <a:ln w="29260" cap="rnd" cmpd="sng" algn="ctr">
            <a:solidFill>
              <a:srgbClr val="125893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0" name="Training | update Student parameters | head"/>
          <p:cNvSpPr/>
          <p:nvPr/>
        </p:nvSpPr>
        <p:spPr>
          <a:xfrm>
            <a:off x="5166360" y="8046720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1" name="Export | selected checkpoint to frozen S9 | shaft"/>
          <p:cNvSpPr/>
          <p:nvPr/>
        </p:nvSpPr>
        <p:spPr>
          <a:xfrm>
            <a:off x="9445752" y="4663440"/>
            <a:ext cx="1783080" cy="3465576"/>
          </a:xfrm>
          <a:custGeom>
            <a:avLst/>
            <a:gdLst/>
            <a:ahLst/>
            <a:cxnLst/>
            <a:rect l="0" t="0" r="r" b="b"/>
            <a:pathLst>
              <a:path w="195000" h="379000">
                <a:moveTo>
                  <a:pt x="0" y="379000"/>
                </a:moveTo>
                <a:lnTo>
                  <a:pt x="96000" y="379000"/>
                </a:lnTo>
                <a:lnTo>
                  <a:pt x="96000" y="0"/>
                </a:lnTo>
                <a:lnTo>
                  <a:pt x="195000" y="0"/>
                </a:lnTo>
              </a:path>
            </a:pathLst>
          </a:custGeom>
          <a:noFill/>
          <a:ln w="28575" cap="rnd" cmpd="sng" algn="ctr">
            <a:solidFill>
              <a:srgbClr val="076ED1"/>
            </a:solidFill>
            <a:custDash>
              <a:ds d="470000" sp="260000"/>
            </a:custDash>
            <a:round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2" name="Export | selected checkpoint to frozen S9 | head"/>
          <p:cNvSpPr/>
          <p:nvPr/>
        </p:nvSpPr>
        <p:spPr>
          <a:xfrm>
            <a:off x="11228832" y="4581144"/>
            <a:ext cx="146304" cy="164592"/>
          </a:xfrm>
          <a:custGeom>
            <a:avLst/>
            <a:gdLst/>
            <a:ahLst/>
            <a:cxnLst/>
            <a:rect l="0" t="0" r="r" b="b"/>
            <a:pathLst>
              <a:path w="16000" h="18000">
                <a:moveTo>
                  <a:pt x="16000" y="9000"/>
                </a:moveTo>
                <a:lnTo>
                  <a:pt x="0" y="18000"/>
                </a:lnTo>
                <a:lnTo>
                  <a:pt x="0" y="0"/>
                </a:lnTo>
                <a:close/>
              </a:path>
            </a:pathLst>
          </a:custGeom>
          <a:solidFill>
            <a:srgbClr val="076E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3" name="Text | Export / (frozen)"/>
          <p:cNvSpPr txBox="1"/>
          <p:nvPr/>
        </p:nvSpPr>
        <p:spPr>
          <a:xfrm>
            <a:off x="9473184" y="7772830"/>
            <a:ext cx="676656" cy="39319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</a:t>
            </a:r>
          </a:p>
        </p:txBody>
      </p:sp>
      <p:sp>
        <p:nvSpPr>
          <p:cNvPr id="874" name="Text | Export / (frozen)"/>
          <p:cNvSpPr txBox="1"/>
          <p:nvPr/>
        </p:nvSpPr>
        <p:spPr>
          <a:xfrm>
            <a:off x="10396728" y="4261104"/>
            <a:ext cx="841248" cy="4114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8" b="0" i="1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</a:t>
            </a:r>
          </a:p>
        </p:txBody>
      </p:sp>
      <p:pic>
        <p:nvPicPr>
          <p:cNvPr id="882" name="图形 881">
            <a:extLst>
              <a:ext uri="{FF2B5EF4-FFF2-40B4-BE49-F238E27FC236}">
                <a16:creationId xmlns:a16="http://schemas.microsoft.com/office/drawing/2014/main" id="{80B48840-D522-1010-3A1D-D4BB3D699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90654" y="1664208"/>
            <a:ext cx="518537" cy="432114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2CD1120C-EE4D-B308-B27E-B0B830AC4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5048" y="1603691"/>
            <a:ext cx="405606" cy="486727"/>
          </a:xfrm>
          <a:prstGeom prst="rect">
            <a:avLst/>
          </a:prstGeom>
        </p:spPr>
      </p:pic>
      <p:pic>
        <p:nvPicPr>
          <p:cNvPr id="888" name="图形 887">
            <a:extLst>
              <a:ext uri="{FF2B5EF4-FFF2-40B4-BE49-F238E27FC236}">
                <a16:creationId xmlns:a16="http://schemas.microsoft.com/office/drawing/2014/main" id="{AAD8F3F0-BDC1-4689-49C0-BE5216A30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02480" y="1719072"/>
            <a:ext cx="418560" cy="348800"/>
          </a:xfrm>
          <a:prstGeom prst="rect">
            <a:avLst/>
          </a:prstGeom>
        </p:spPr>
      </p:pic>
      <p:pic>
        <p:nvPicPr>
          <p:cNvPr id="890" name="图形 889">
            <a:extLst>
              <a:ext uri="{FF2B5EF4-FFF2-40B4-BE49-F238E27FC236}">
                <a16:creationId xmlns:a16="http://schemas.microsoft.com/office/drawing/2014/main" id="{A615A7B7-8920-1E3B-D61B-4C6172A7C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3206" y="1666122"/>
            <a:ext cx="298243" cy="357892"/>
          </a:xfrm>
          <a:prstGeom prst="rect">
            <a:avLst/>
          </a:prstGeom>
        </p:spPr>
      </p:pic>
      <p:pic>
        <p:nvPicPr>
          <p:cNvPr id="892" name="图形 891">
            <a:extLst>
              <a:ext uri="{FF2B5EF4-FFF2-40B4-BE49-F238E27FC236}">
                <a16:creationId xmlns:a16="http://schemas.microsoft.com/office/drawing/2014/main" id="{EDD9A289-730D-0870-A172-2F107719E0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397228" y="7707408"/>
            <a:ext cx="339312" cy="339312"/>
          </a:xfrm>
          <a:prstGeom prst="rect">
            <a:avLst/>
          </a:prstGeom>
        </p:spPr>
      </p:pic>
      <p:pic>
        <p:nvPicPr>
          <p:cNvPr id="894" name="图形 893">
            <a:extLst>
              <a:ext uri="{FF2B5EF4-FFF2-40B4-BE49-F238E27FC236}">
                <a16:creationId xmlns:a16="http://schemas.microsoft.com/office/drawing/2014/main" id="{E5570EF7-7115-95E3-FF05-B5D791BA38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19963" y="7732395"/>
            <a:ext cx="336042" cy="336042"/>
          </a:xfrm>
          <a:prstGeom prst="rect">
            <a:avLst/>
          </a:prstGeom>
        </p:spPr>
      </p:pic>
      <p:pic>
        <p:nvPicPr>
          <p:cNvPr id="898" name="图形 897">
            <a:extLst>
              <a:ext uri="{FF2B5EF4-FFF2-40B4-BE49-F238E27FC236}">
                <a16:creationId xmlns:a16="http://schemas.microsoft.com/office/drawing/2014/main" id="{381DD3C5-9F1B-06A3-D12D-4564C8D50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674602" y="7716365"/>
            <a:ext cx="282916" cy="339499"/>
          </a:xfrm>
          <a:prstGeom prst="rect">
            <a:avLst/>
          </a:prstGeom>
        </p:spPr>
      </p:pic>
      <p:pic>
        <p:nvPicPr>
          <p:cNvPr id="900" name="图形 899">
            <a:extLst>
              <a:ext uri="{FF2B5EF4-FFF2-40B4-BE49-F238E27FC236}">
                <a16:creationId xmlns:a16="http://schemas.microsoft.com/office/drawing/2014/main" id="{0A9579A7-9052-7388-E6D5-273480A31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85622" y="7806373"/>
            <a:ext cx="244525" cy="203771"/>
          </a:xfrm>
          <a:prstGeom prst="rect">
            <a:avLst/>
          </a:prstGeom>
        </p:spPr>
      </p:pic>
      <p:pic>
        <p:nvPicPr>
          <p:cNvPr id="906" name="图形 905">
            <a:extLst>
              <a:ext uri="{FF2B5EF4-FFF2-40B4-BE49-F238E27FC236}">
                <a16:creationId xmlns:a16="http://schemas.microsoft.com/office/drawing/2014/main" id="{0D296F5D-A99A-678A-ADC7-BF23B2BE03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0961" y="2788920"/>
            <a:ext cx="373380" cy="448056"/>
          </a:xfrm>
          <a:prstGeom prst="rect">
            <a:avLst/>
          </a:prstGeom>
        </p:spPr>
      </p:pic>
      <p:pic>
        <p:nvPicPr>
          <p:cNvPr id="908" name="图形 907">
            <a:extLst>
              <a:ext uri="{FF2B5EF4-FFF2-40B4-BE49-F238E27FC236}">
                <a16:creationId xmlns:a16="http://schemas.microsoft.com/office/drawing/2014/main" id="{BFDCB140-C4C1-9854-2C9E-DF75BDB1B0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00539" y="2778444"/>
            <a:ext cx="387406" cy="464887"/>
          </a:xfrm>
          <a:prstGeom prst="rect">
            <a:avLst/>
          </a:prstGeom>
        </p:spPr>
      </p:pic>
      <p:pic>
        <p:nvPicPr>
          <p:cNvPr id="910" name="图形 909">
            <a:extLst>
              <a:ext uri="{FF2B5EF4-FFF2-40B4-BE49-F238E27FC236}">
                <a16:creationId xmlns:a16="http://schemas.microsoft.com/office/drawing/2014/main" id="{F6696732-F998-5FED-67CD-9BAA9C923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83811" y="1680150"/>
            <a:ext cx="299135" cy="358962"/>
          </a:xfrm>
          <a:prstGeom prst="rect">
            <a:avLst/>
          </a:prstGeom>
        </p:spPr>
      </p:pic>
      <p:pic>
        <p:nvPicPr>
          <p:cNvPr id="912" name="图形 911">
            <a:extLst>
              <a:ext uri="{FF2B5EF4-FFF2-40B4-BE49-F238E27FC236}">
                <a16:creationId xmlns:a16="http://schemas.microsoft.com/office/drawing/2014/main" id="{173A367D-C52E-D63E-7F73-DCE03B7AF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30452" y="1678016"/>
            <a:ext cx="434248" cy="434248"/>
          </a:xfrm>
          <a:prstGeom prst="rect">
            <a:avLst/>
          </a:prstGeom>
        </p:spPr>
      </p:pic>
      <p:pic>
        <p:nvPicPr>
          <p:cNvPr id="914" name="图形 913">
            <a:extLst>
              <a:ext uri="{FF2B5EF4-FFF2-40B4-BE49-F238E27FC236}">
                <a16:creationId xmlns:a16="http://schemas.microsoft.com/office/drawing/2014/main" id="{80550132-3EF7-5675-2B4C-CDCC03850E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2920" y="1747192"/>
            <a:ext cx="389255" cy="389255"/>
          </a:xfrm>
          <a:prstGeom prst="rect">
            <a:avLst/>
          </a:prstGeom>
        </p:spPr>
      </p:pic>
      <p:pic>
        <p:nvPicPr>
          <p:cNvPr id="918" name="图形 917">
            <a:extLst>
              <a:ext uri="{FF2B5EF4-FFF2-40B4-BE49-F238E27FC236}">
                <a16:creationId xmlns:a16="http://schemas.microsoft.com/office/drawing/2014/main" id="{2D737CC2-B019-5D2B-61D6-386B62B5E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23546" y="1720261"/>
            <a:ext cx="824804" cy="412402"/>
          </a:xfrm>
          <a:prstGeom prst="rect">
            <a:avLst/>
          </a:prstGeom>
        </p:spPr>
      </p:pic>
      <p:pic>
        <p:nvPicPr>
          <p:cNvPr id="920" name="图形 919">
            <a:extLst>
              <a:ext uri="{FF2B5EF4-FFF2-40B4-BE49-F238E27FC236}">
                <a16:creationId xmlns:a16="http://schemas.microsoft.com/office/drawing/2014/main" id="{BC05F4BD-461C-480C-54B3-B39661DC5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17779" y="1689354"/>
            <a:ext cx="365760" cy="365760"/>
          </a:xfrm>
          <a:prstGeom prst="rect">
            <a:avLst/>
          </a:prstGeom>
        </p:spPr>
      </p:pic>
      <p:pic>
        <p:nvPicPr>
          <p:cNvPr id="929" name="图形 928">
            <a:extLst>
              <a:ext uri="{FF2B5EF4-FFF2-40B4-BE49-F238E27FC236}">
                <a16:creationId xmlns:a16="http://schemas.microsoft.com/office/drawing/2014/main" id="{63BD881B-68B3-6AF5-3B48-40F7B3BF3F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27864" y="3487012"/>
            <a:ext cx="565796" cy="404140"/>
          </a:xfrm>
          <a:prstGeom prst="rect">
            <a:avLst/>
          </a:prstGeom>
        </p:spPr>
      </p:pic>
      <p:pic>
        <p:nvPicPr>
          <p:cNvPr id="931" name="图形 930">
            <a:extLst>
              <a:ext uri="{FF2B5EF4-FFF2-40B4-BE49-F238E27FC236}">
                <a16:creationId xmlns:a16="http://schemas.microsoft.com/office/drawing/2014/main" id="{DEE952DD-39EE-886C-2DB3-5C125C101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52105" y="2528510"/>
            <a:ext cx="569401" cy="406714"/>
          </a:xfrm>
          <a:prstGeom prst="rect">
            <a:avLst/>
          </a:prstGeom>
        </p:spPr>
      </p:pic>
      <p:pic>
        <p:nvPicPr>
          <p:cNvPr id="937" name="图片 936">
            <a:extLst>
              <a:ext uri="{FF2B5EF4-FFF2-40B4-BE49-F238E27FC236}">
                <a16:creationId xmlns:a16="http://schemas.microsoft.com/office/drawing/2014/main" id="{4A783A7E-D4E6-04A7-60BE-C78262BE31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3173" y="1554480"/>
            <a:ext cx="552750" cy="523597"/>
          </a:xfrm>
          <a:prstGeom prst="rect">
            <a:avLst/>
          </a:prstGeom>
        </p:spPr>
      </p:pic>
      <p:sp>
        <p:nvSpPr>
          <p:cNvPr id="777" name="C | MATSim to simulation outputs | head"/>
          <p:cNvSpPr/>
          <p:nvPr/>
        </p:nvSpPr>
        <p:spPr>
          <a:xfrm>
            <a:off x="13978932" y="7370064"/>
            <a:ext cx="164592" cy="146304"/>
          </a:xfrm>
          <a:custGeom>
            <a:avLst/>
            <a:gdLst/>
            <a:ahLst/>
            <a:cxnLst/>
            <a:rect l="0" t="0" r="r" b="b"/>
            <a:pathLst>
              <a:path w="18000" h="16000">
                <a:moveTo>
                  <a:pt x="9000" y="16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45" name="图形 944">
            <a:extLst>
              <a:ext uri="{FF2B5EF4-FFF2-40B4-BE49-F238E27FC236}">
                <a16:creationId xmlns:a16="http://schemas.microsoft.com/office/drawing/2014/main" id="{378EBA15-7217-685F-A519-BB8DBBAA7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075325" y="1457187"/>
            <a:ext cx="644874" cy="644874"/>
          </a:xfrm>
          <a:prstGeom prst="rect">
            <a:avLst/>
          </a:prstGeom>
        </p:spPr>
      </p:pic>
      <p:sp>
        <p:nvSpPr>
          <p:cNvPr id="947" name="Text | • Timetable">
            <a:extLst>
              <a:ext uri="{FF2B5EF4-FFF2-40B4-BE49-F238E27FC236}">
                <a16:creationId xmlns:a16="http://schemas.microsoft.com/office/drawing/2014/main" id="{896E42D4-A436-A2AB-4BF4-C923E50B7551}"/>
              </a:ext>
            </a:extLst>
          </p:cNvPr>
          <p:cNvSpPr txBox="1"/>
          <p:nvPr/>
        </p:nvSpPr>
        <p:spPr>
          <a:xfrm>
            <a:off x="12903327" y="2024014"/>
            <a:ext cx="1033272" cy="256032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0" i="0" kern="1200" dirty="0">
                <a:solidFill>
                  <a:srgbClr val="0614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en-US" sz="1400" b="0" i="0" kern="1200" dirty="0">
              <a:solidFill>
                <a:srgbClr val="0614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49" name="图形 948">
            <a:extLst>
              <a:ext uri="{FF2B5EF4-FFF2-40B4-BE49-F238E27FC236}">
                <a16:creationId xmlns:a16="http://schemas.microsoft.com/office/drawing/2014/main" id="{07F0D6B9-1D35-421F-05CC-811C5469B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3935456" y="1457187"/>
            <a:ext cx="772890" cy="644075"/>
          </a:xfrm>
          <a:prstGeom prst="rect">
            <a:avLst/>
          </a:prstGeom>
        </p:spPr>
      </p:pic>
      <p:pic>
        <p:nvPicPr>
          <p:cNvPr id="951" name="图形 950">
            <a:extLst>
              <a:ext uri="{FF2B5EF4-FFF2-40B4-BE49-F238E27FC236}">
                <a16:creationId xmlns:a16="http://schemas.microsoft.com/office/drawing/2014/main" id="{011A21C2-7A61-C320-5550-3D9EEEB4FD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292552" y="2899421"/>
            <a:ext cx="498011" cy="498011"/>
          </a:xfrm>
          <a:prstGeom prst="rect">
            <a:avLst/>
          </a:prstGeom>
        </p:spPr>
      </p:pic>
      <p:sp>
        <p:nvSpPr>
          <p:cNvPr id="618" name="C | state into frozen S9 | head"/>
          <p:cNvSpPr/>
          <p:nvPr/>
        </p:nvSpPr>
        <p:spPr>
          <a:xfrm>
            <a:off x="12618720" y="4279392"/>
            <a:ext cx="164592" cy="137160"/>
          </a:xfrm>
          <a:custGeom>
            <a:avLst/>
            <a:gdLst/>
            <a:ahLst/>
            <a:cxnLst/>
            <a:rect l="0" t="0" r="r" b="b"/>
            <a:pathLst>
              <a:path w="18000" h="15000">
                <a:moveTo>
                  <a:pt x="9000" y="15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5" name="图形 954">
            <a:extLst>
              <a:ext uri="{FF2B5EF4-FFF2-40B4-BE49-F238E27FC236}">
                <a16:creationId xmlns:a16="http://schemas.microsoft.com/office/drawing/2014/main" id="{B8E12474-5ED2-304A-79D6-CFCA22075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485107" y="3642633"/>
            <a:ext cx="469672" cy="563607"/>
          </a:xfrm>
          <a:prstGeom prst="rect">
            <a:avLst/>
          </a:prstGeom>
        </p:spPr>
      </p:pic>
      <p:pic>
        <p:nvPicPr>
          <p:cNvPr id="957" name="图形 956">
            <a:extLst>
              <a:ext uri="{FF2B5EF4-FFF2-40B4-BE49-F238E27FC236}">
                <a16:creationId xmlns:a16="http://schemas.microsoft.com/office/drawing/2014/main" id="{C5CE0239-FD36-FCFE-9A38-41F44C128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732094" y="7719876"/>
            <a:ext cx="368608" cy="368608"/>
          </a:xfrm>
          <a:prstGeom prst="rect">
            <a:avLst/>
          </a:prstGeom>
        </p:spPr>
      </p:pic>
      <p:pic>
        <p:nvPicPr>
          <p:cNvPr id="959" name="图形 958">
            <a:extLst>
              <a:ext uri="{FF2B5EF4-FFF2-40B4-BE49-F238E27FC236}">
                <a16:creationId xmlns:a16="http://schemas.microsoft.com/office/drawing/2014/main" id="{882C855C-C720-D083-CC38-D286372E84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208145" y="6145639"/>
            <a:ext cx="529812" cy="529812"/>
          </a:xfrm>
          <a:prstGeom prst="rect">
            <a:avLst/>
          </a:prstGeom>
        </p:spPr>
      </p:pic>
      <p:pic>
        <p:nvPicPr>
          <p:cNvPr id="961" name="图形 960">
            <a:extLst>
              <a:ext uri="{FF2B5EF4-FFF2-40B4-BE49-F238E27FC236}">
                <a16:creationId xmlns:a16="http://schemas.microsoft.com/office/drawing/2014/main" id="{503F6F4D-EBBA-1D84-D44D-C4BE7D7FB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740268" y="6835140"/>
            <a:ext cx="420716" cy="420716"/>
          </a:xfrm>
          <a:prstGeom prst="rect">
            <a:avLst/>
          </a:prstGeom>
        </p:spPr>
      </p:pic>
      <p:sp>
        <p:nvSpPr>
          <p:cNvPr id="962" name="Updated module | "/>
          <p:cNvSpPr/>
          <p:nvPr/>
        </p:nvSpPr>
        <p:spPr>
          <a:xfrm>
            <a:off x="5367528" y="2889504"/>
            <a:ext cx="2212848" cy="2862072"/>
          </a:xfrm>
          <a:prstGeom prst="roundRect">
            <a:avLst>
              <a:gd name="adj" fmla="val 6000"/>
            </a:avLst>
          </a:prstGeom>
          <a:solidFill>
            <a:srgbClr val="F5FAFD"/>
          </a:solidFill>
          <a:ln w="16510">
            <a:solidFill>
              <a:srgbClr val="08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3" name="Updated module | "/>
          <p:cNvSpPr/>
          <p:nvPr/>
        </p:nvSpPr>
        <p:spPr>
          <a:xfrm>
            <a:off x="7708392" y="2889504"/>
            <a:ext cx="2212848" cy="2862072"/>
          </a:xfrm>
          <a:prstGeom prst="roundRect">
            <a:avLst>
              <a:gd name="adj" fmla="val 6000"/>
            </a:avLst>
          </a:prstGeom>
          <a:solidFill>
            <a:srgbClr val="F4FAF2"/>
          </a:solidFill>
          <a:ln w="16510">
            <a:solidFill>
              <a:srgbClr val="13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4" name="Updated label | Joint neural"/>
          <p:cNvSpPr txBox="1"/>
          <p:nvPr/>
        </p:nvSpPr>
        <p:spPr>
          <a:xfrm>
            <a:off x="5734967" y="2913924"/>
            <a:ext cx="1477969" cy="307777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neural</a:t>
            </a:r>
          </a:p>
        </p:txBody>
      </p:sp>
      <p:sp>
        <p:nvSpPr>
          <p:cNvPr id="965" name="Updated label | Modular"/>
          <p:cNvSpPr txBox="1"/>
          <p:nvPr/>
        </p:nvSpPr>
        <p:spPr>
          <a:xfrm>
            <a:off x="8303457" y="2913924"/>
            <a:ext cx="1022716" cy="307777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</a:t>
            </a:r>
          </a:p>
        </p:txBody>
      </p:sp>
      <p:cxnSp>
        <p:nvCxnSpPr>
          <p:cNvPr id="966" name="Updated connector"/>
          <p:cNvCxnSpPr/>
          <p:nvPr/>
        </p:nvCxnSpPr>
        <p:spPr>
          <a:xfrm>
            <a:off x="7635240" y="2615184"/>
            <a:ext cx="0" cy="128016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Updated connector"/>
          <p:cNvCxnSpPr/>
          <p:nvPr/>
        </p:nvCxnSpPr>
        <p:spPr>
          <a:xfrm flipH="1">
            <a:off x="6473952" y="2743200"/>
            <a:ext cx="1161288" cy="0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Updated connector"/>
          <p:cNvCxnSpPr/>
          <p:nvPr/>
        </p:nvCxnSpPr>
        <p:spPr>
          <a:xfrm>
            <a:off x="6473952" y="2743200"/>
            <a:ext cx="0" cy="137160"/>
          </a:xfrm>
          <a:prstGeom prst="line">
            <a:avLst/>
          </a:prstGeom>
          <a:ln w="20320">
            <a:solidFill>
              <a:srgbClr val="1389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Updated connector"/>
          <p:cNvCxnSpPr/>
          <p:nvPr/>
        </p:nvCxnSpPr>
        <p:spPr>
          <a:xfrm>
            <a:off x="7635240" y="2743200"/>
            <a:ext cx="1179576" cy="0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0" name="Updated connector"/>
          <p:cNvCxnSpPr/>
          <p:nvPr/>
        </p:nvCxnSpPr>
        <p:spPr>
          <a:xfrm>
            <a:off x="8814816" y="2743200"/>
            <a:ext cx="0" cy="137160"/>
          </a:xfrm>
          <a:prstGeom prst="line">
            <a:avLst/>
          </a:prstGeom>
          <a:ln w="20320">
            <a:solidFill>
              <a:srgbClr val="1389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1" name="Updated module | Shared encoders / global 64 · mode 32"/>
          <p:cNvSpPr/>
          <p:nvPr/>
        </p:nvSpPr>
        <p:spPr>
          <a:xfrm>
            <a:off x="5513832" y="3419856"/>
            <a:ext cx="1920240" cy="585216"/>
          </a:xfrm>
          <a:prstGeom prst="roundRect">
            <a:avLst>
              <a:gd name="adj" fmla="val 6000"/>
            </a:avLst>
          </a:prstGeom>
          <a:solidFill>
            <a:srgbClr val="E4F3FC"/>
          </a:solidFill>
          <a:ln w="16510">
            <a:solidFill>
              <a:srgbClr val="08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2" name="Updated label | Shared encoders / global 64 · mode 32"/>
          <p:cNvSpPr txBox="1"/>
          <p:nvPr/>
        </p:nvSpPr>
        <p:spPr>
          <a:xfrm>
            <a:off x="5631574" y="3497020"/>
            <a:ext cx="1684756" cy="430887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encoders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64 · mode 32</a:t>
            </a:r>
          </a:p>
        </p:txBody>
      </p:sp>
      <p:cxnSp>
        <p:nvCxnSpPr>
          <p:cNvPr id="973" name="Updated connector"/>
          <p:cNvCxnSpPr/>
          <p:nvPr/>
        </p:nvCxnSpPr>
        <p:spPr>
          <a:xfrm>
            <a:off x="6473952" y="3227832"/>
            <a:ext cx="0" cy="182880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4" name="Updated connector"/>
          <p:cNvCxnSpPr/>
          <p:nvPr/>
        </p:nvCxnSpPr>
        <p:spPr>
          <a:xfrm>
            <a:off x="6473952" y="4005072"/>
            <a:ext cx="0" cy="100584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5" name="Updated connector"/>
          <p:cNvCxnSpPr/>
          <p:nvPr/>
        </p:nvCxnSpPr>
        <p:spPr>
          <a:xfrm flipH="1">
            <a:off x="6007608" y="4105656"/>
            <a:ext cx="466344" cy="0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6" name="Updated connector"/>
          <p:cNvCxnSpPr/>
          <p:nvPr/>
        </p:nvCxnSpPr>
        <p:spPr>
          <a:xfrm>
            <a:off x="6007608" y="4105656"/>
            <a:ext cx="0" cy="173736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Updated connector"/>
          <p:cNvCxnSpPr/>
          <p:nvPr/>
        </p:nvCxnSpPr>
        <p:spPr>
          <a:xfrm>
            <a:off x="6473952" y="4105656"/>
            <a:ext cx="502920" cy="0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Updated connector"/>
          <p:cNvCxnSpPr/>
          <p:nvPr/>
        </p:nvCxnSpPr>
        <p:spPr>
          <a:xfrm>
            <a:off x="6976872" y="4105656"/>
            <a:ext cx="0" cy="173736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9" name="Updated module | Utility / scorer"/>
          <p:cNvSpPr/>
          <p:nvPr/>
        </p:nvSpPr>
        <p:spPr>
          <a:xfrm>
            <a:off x="5513832" y="4288536"/>
            <a:ext cx="969264" cy="557784"/>
          </a:xfrm>
          <a:prstGeom prst="roundRect">
            <a:avLst>
              <a:gd name="adj" fmla="val 6000"/>
            </a:avLst>
          </a:prstGeom>
          <a:solidFill>
            <a:srgbClr val="E4F3FC"/>
          </a:solidFill>
          <a:ln w="16510">
            <a:solidFill>
              <a:srgbClr val="08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0" name="Updated label | Utility / scorer"/>
          <p:cNvSpPr txBox="1"/>
          <p:nvPr/>
        </p:nvSpPr>
        <p:spPr>
          <a:xfrm>
            <a:off x="5711526" y="4351984"/>
            <a:ext cx="573875" cy="430887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scorer</a:t>
            </a:r>
          </a:p>
        </p:txBody>
      </p:sp>
      <p:sp>
        <p:nvSpPr>
          <p:cNvPr id="981" name="Updated module | Timing / head"/>
          <p:cNvSpPr/>
          <p:nvPr/>
        </p:nvSpPr>
        <p:spPr>
          <a:xfrm>
            <a:off x="6547104" y="4288536"/>
            <a:ext cx="914400" cy="557784"/>
          </a:xfrm>
          <a:prstGeom prst="roundRect">
            <a:avLst>
              <a:gd name="adj" fmla="val 6000"/>
            </a:avLst>
          </a:prstGeom>
          <a:solidFill>
            <a:srgbClr val="E9F6E9"/>
          </a:solidFill>
          <a:ln w="16510">
            <a:solidFill>
              <a:srgbClr val="13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2" name="Updated label | Timing / head"/>
          <p:cNvSpPr txBox="1"/>
          <p:nvPr/>
        </p:nvSpPr>
        <p:spPr>
          <a:xfrm>
            <a:off x="6699765" y="4351984"/>
            <a:ext cx="609077" cy="430887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cxnSp>
        <p:nvCxnSpPr>
          <p:cNvPr id="983" name="Updated connector"/>
          <p:cNvCxnSpPr/>
          <p:nvPr/>
        </p:nvCxnSpPr>
        <p:spPr>
          <a:xfrm>
            <a:off x="5998464" y="4846320"/>
            <a:ext cx="0" cy="219456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Updated connector"/>
          <p:cNvCxnSpPr/>
          <p:nvPr/>
        </p:nvCxnSpPr>
        <p:spPr>
          <a:xfrm>
            <a:off x="7004304" y="4846320"/>
            <a:ext cx="0" cy="219456"/>
          </a:xfrm>
          <a:prstGeom prst="line">
            <a:avLst/>
          </a:prstGeom>
          <a:ln w="20320">
            <a:solidFill>
              <a:srgbClr val="1389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5" name="Updated module | Mask + / softmax"/>
          <p:cNvSpPr/>
          <p:nvPr/>
        </p:nvSpPr>
        <p:spPr>
          <a:xfrm>
            <a:off x="5513832" y="5074920"/>
            <a:ext cx="969264" cy="493776"/>
          </a:xfrm>
          <a:prstGeom prst="roundRect">
            <a:avLst>
              <a:gd name="adj" fmla="val 6000"/>
            </a:avLst>
          </a:prstGeom>
          <a:solidFill>
            <a:srgbClr val="E4F3FC"/>
          </a:solidFill>
          <a:ln w="16510">
            <a:solidFill>
              <a:srgbClr val="08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6" name="Updated label | Mask + / softmax"/>
          <p:cNvSpPr txBox="1"/>
          <p:nvPr/>
        </p:nvSpPr>
        <p:spPr>
          <a:xfrm>
            <a:off x="5642597" y="5106365"/>
            <a:ext cx="711733" cy="430887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</a:p>
        </p:txBody>
      </p:sp>
      <p:sp>
        <p:nvSpPr>
          <p:cNvPr id="987" name="Updated module | 60 tanh(·)"/>
          <p:cNvSpPr/>
          <p:nvPr/>
        </p:nvSpPr>
        <p:spPr>
          <a:xfrm>
            <a:off x="6547104" y="5074920"/>
            <a:ext cx="914400" cy="493776"/>
          </a:xfrm>
          <a:prstGeom prst="roundRect">
            <a:avLst>
              <a:gd name="adj" fmla="val 6000"/>
            </a:avLst>
          </a:prstGeom>
          <a:solidFill>
            <a:srgbClr val="E9F6E9"/>
          </a:solidFill>
          <a:ln w="16510">
            <a:solidFill>
              <a:srgbClr val="13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8" name="Updated label | 60 tanh(·)"/>
          <p:cNvSpPr txBox="1"/>
          <p:nvPr/>
        </p:nvSpPr>
        <p:spPr>
          <a:xfrm>
            <a:off x="6589928" y="5214086"/>
            <a:ext cx="828752" cy="215444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 tanh(·)</a:t>
            </a:r>
          </a:p>
        </p:txBody>
      </p:sp>
      <p:cxnSp>
        <p:nvCxnSpPr>
          <p:cNvPr id="989" name="Updated connector"/>
          <p:cNvCxnSpPr/>
          <p:nvPr/>
        </p:nvCxnSpPr>
        <p:spPr>
          <a:xfrm>
            <a:off x="8814816" y="3227832"/>
            <a:ext cx="0" cy="91440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Updated connector"/>
          <p:cNvCxnSpPr/>
          <p:nvPr/>
        </p:nvCxnSpPr>
        <p:spPr>
          <a:xfrm flipH="1">
            <a:off x="8302752" y="3319272"/>
            <a:ext cx="512064" cy="0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1" name="Updated connector"/>
          <p:cNvCxnSpPr/>
          <p:nvPr/>
        </p:nvCxnSpPr>
        <p:spPr>
          <a:xfrm>
            <a:off x="8302752" y="3319272"/>
            <a:ext cx="0" cy="192024"/>
          </a:xfrm>
          <a:prstGeom prst="line">
            <a:avLst/>
          </a:prstGeom>
          <a:ln w="20320">
            <a:solidFill>
              <a:srgbClr val="1389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Updated connector"/>
          <p:cNvCxnSpPr/>
          <p:nvPr/>
        </p:nvCxnSpPr>
        <p:spPr>
          <a:xfrm>
            <a:off x="8814816" y="3319272"/>
            <a:ext cx="512064" cy="0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Updated connector"/>
          <p:cNvCxnSpPr/>
          <p:nvPr/>
        </p:nvCxnSpPr>
        <p:spPr>
          <a:xfrm>
            <a:off x="9326880" y="3319272"/>
            <a:ext cx="0" cy="192024"/>
          </a:xfrm>
          <a:prstGeom prst="line">
            <a:avLst/>
          </a:prstGeom>
          <a:ln w="20320">
            <a:solidFill>
              <a:srgbClr val="1389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4" name="Updated module | MNL-S / linear / utilities"/>
          <p:cNvSpPr/>
          <p:nvPr/>
        </p:nvSpPr>
        <p:spPr>
          <a:xfrm>
            <a:off x="7808975" y="3520440"/>
            <a:ext cx="978408" cy="941832"/>
          </a:xfrm>
          <a:prstGeom prst="roundRect">
            <a:avLst>
              <a:gd name="adj" fmla="val 6000"/>
            </a:avLst>
          </a:prstGeom>
          <a:solidFill>
            <a:srgbClr val="E4F3FC"/>
          </a:solidFill>
          <a:ln w="16510">
            <a:solidFill>
              <a:srgbClr val="08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5" name="Updated label | MNL-S / linear / utilities"/>
          <p:cNvSpPr txBox="1"/>
          <p:nvPr/>
        </p:nvSpPr>
        <p:spPr>
          <a:xfrm>
            <a:off x="7972769" y="3668190"/>
            <a:ext cx="650819" cy="646331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MNL-S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utilities</a:t>
            </a:r>
          </a:p>
        </p:txBody>
      </p:sp>
      <p:sp>
        <p:nvSpPr>
          <p:cNvPr id="996" name="Updated module | Neural / time / encoder"/>
          <p:cNvSpPr/>
          <p:nvPr/>
        </p:nvSpPr>
        <p:spPr>
          <a:xfrm>
            <a:off x="8851392" y="3520440"/>
            <a:ext cx="978408" cy="941832"/>
          </a:xfrm>
          <a:prstGeom prst="roundRect">
            <a:avLst>
              <a:gd name="adj" fmla="val 6000"/>
            </a:avLst>
          </a:prstGeom>
          <a:solidFill>
            <a:srgbClr val="E9F6E9"/>
          </a:solidFill>
          <a:ln w="16510">
            <a:solidFill>
              <a:srgbClr val="13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7" name="Updated label | Neural / time / encoder"/>
          <p:cNvSpPr txBox="1"/>
          <p:nvPr/>
        </p:nvSpPr>
        <p:spPr>
          <a:xfrm>
            <a:off x="8979920" y="3668190"/>
            <a:ext cx="721351" cy="646331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cxnSp>
        <p:nvCxnSpPr>
          <p:cNvPr id="998" name="Updated connector"/>
          <p:cNvCxnSpPr/>
          <p:nvPr/>
        </p:nvCxnSpPr>
        <p:spPr>
          <a:xfrm>
            <a:off x="8298179" y="4462272"/>
            <a:ext cx="0" cy="246888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Updated connector"/>
          <p:cNvCxnSpPr/>
          <p:nvPr/>
        </p:nvCxnSpPr>
        <p:spPr>
          <a:xfrm>
            <a:off x="9340596" y="4462272"/>
            <a:ext cx="0" cy="246888"/>
          </a:xfrm>
          <a:prstGeom prst="line">
            <a:avLst/>
          </a:prstGeom>
          <a:ln w="20320">
            <a:solidFill>
              <a:srgbClr val="1389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0" name="Updated module | Mask + / softmax"/>
          <p:cNvSpPr/>
          <p:nvPr/>
        </p:nvSpPr>
        <p:spPr>
          <a:xfrm>
            <a:off x="7808975" y="4718304"/>
            <a:ext cx="978408" cy="850392"/>
          </a:xfrm>
          <a:prstGeom prst="roundRect">
            <a:avLst>
              <a:gd name="adj" fmla="val 6000"/>
            </a:avLst>
          </a:prstGeom>
          <a:solidFill>
            <a:srgbClr val="E4F3FC"/>
          </a:solidFill>
          <a:ln w="16510">
            <a:solidFill>
              <a:srgbClr val="086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1" name="Updated label | Mask + / softmax"/>
          <p:cNvSpPr txBox="1"/>
          <p:nvPr/>
        </p:nvSpPr>
        <p:spPr>
          <a:xfrm>
            <a:off x="7942312" y="4928056"/>
            <a:ext cx="711733" cy="430887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</a:p>
        </p:txBody>
      </p:sp>
      <p:sp>
        <p:nvSpPr>
          <p:cNvPr id="1002" name="Updated module | Departure / head / 60 tanh(·)"/>
          <p:cNvSpPr/>
          <p:nvPr/>
        </p:nvSpPr>
        <p:spPr>
          <a:xfrm>
            <a:off x="8851392" y="4718304"/>
            <a:ext cx="978408" cy="850392"/>
          </a:xfrm>
          <a:prstGeom prst="roundRect">
            <a:avLst>
              <a:gd name="adj" fmla="val 6000"/>
            </a:avLst>
          </a:prstGeom>
          <a:solidFill>
            <a:srgbClr val="E9F6E9"/>
          </a:solidFill>
          <a:ln w="16510">
            <a:solidFill>
              <a:srgbClr val="138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3" name="Updated label | Departure / head / 60 tanh(·)"/>
          <p:cNvSpPr txBox="1"/>
          <p:nvPr/>
        </p:nvSpPr>
        <p:spPr>
          <a:xfrm>
            <a:off x="8904579" y="4820334"/>
            <a:ext cx="872034" cy="646331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Departure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 tanh(·)</a:t>
            </a:r>
          </a:p>
        </p:txBody>
      </p:sp>
      <p:cxnSp>
        <p:nvCxnSpPr>
          <p:cNvPr id="1004" name="Updated connector"/>
          <p:cNvCxnSpPr/>
          <p:nvPr/>
        </p:nvCxnSpPr>
        <p:spPr>
          <a:xfrm>
            <a:off x="5998464" y="5568696"/>
            <a:ext cx="0" cy="310896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Updated connector"/>
          <p:cNvCxnSpPr/>
          <p:nvPr/>
        </p:nvCxnSpPr>
        <p:spPr>
          <a:xfrm>
            <a:off x="7004304" y="5568696"/>
            <a:ext cx="0" cy="310896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Updated connector"/>
          <p:cNvCxnSpPr/>
          <p:nvPr/>
        </p:nvCxnSpPr>
        <p:spPr>
          <a:xfrm>
            <a:off x="8298179" y="5568696"/>
            <a:ext cx="0" cy="310896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Updated connector"/>
          <p:cNvCxnSpPr/>
          <p:nvPr/>
        </p:nvCxnSpPr>
        <p:spPr>
          <a:xfrm>
            <a:off x="9340596" y="5568696"/>
            <a:ext cx="0" cy="310896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" name="Updated connector"/>
          <p:cNvCxnSpPr/>
          <p:nvPr/>
        </p:nvCxnSpPr>
        <p:spPr>
          <a:xfrm>
            <a:off x="5998464" y="5879592"/>
            <a:ext cx="3342132" cy="0"/>
          </a:xfrm>
          <a:prstGeom prst="line">
            <a:avLst/>
          </a:prstGeom>
          <a:ln w="20320">
            <a:solidFill>
              <a:srgbClr val="138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9" name="Updated connector"/>
          <p:cNvCxnSpPr/>
          <p:nvPr/>
        </p:nvCxnSpPr>
        <p:spPr>
          <a:xfrm>
            <a:off x="7635240" y="5879592"/>
            <a:ext cx="0" cy="192024"/>
          </a:xfrm>
          <a:prstGeom prst="line">
            <a:avLst/>
          </a:prstGeom>
          <a:ln w="20320">
            <a:solidFill>
              <a:srgbClr val="1389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0" name="Updated module | Argmax / sampling / screened sampling"/>
          <p:cNvSpPr/>
          <p:nvPr/>
        </p:nvSpPr>
        <p:spPr>
          <a:xfrm>
            <a:off x="10573956" y="5056632"/>
            <a:ext cx="4394772" cy="393192"/>
          </a:xfrm>
          <a:prstGeom prst="roundRect">
            <a:avLst>
              <a:gd name="adj" fmla="val 6000"/>
            </a:avLst>
          </a:prstGeom>
          <a:solidFill>
            <a:srgbClr val="FFF5E6"/>
          </a:solidFill>
          <a:ln w="16510">
            <a:solidFill>
              <a:srgbClr val="F68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1" name="Updated label | Argmax / sampling / screened sampling"/>
          <p:cNvSpPr txBox="1"/>
          <p:nvPr/>
        </p:nvSpPr>
        <p:spPr>
          <a:xfrm>
            <a:off x="10573955" y="5114728"/>
            <a:ext cx="4372993" cy="276999"/>
          </a:xfrm>
          <a:prstGeom prst="rect">
            <a:avLst/>
          </a:prstGeom>
          <a:noFill/>
        </p:spPr>
        <p:txBody>
          <a:bodyPr wrap="none" lIns="12700" tIns="0" rIns="1270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816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Argmax / sampling / screened sampling</a:t>
            </a:r>
          </a:p>
        </p:txBody>
      </p:sp>
      <p:cxnSp>
        <p:nvCxnSpPr>
          <p:cNvPr id="1012" name="Updated connector"/>
          <p:cNvCxnSpPr/>
          <p:nvPr/>
        </p:nvCxnSpPr>
        <p:spPr>
          <a:xfrm>
            <a:off x="12701016" y="4901184"/>
            <a:ext cx="0" cy="155448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Updated connector"/>
          <p:cNvCxnSpPr/>
          <p:nvPr/>
        </p:nvCxnSpPr>
        <p:spPr>
          <a:xfrm>
            <a:off x="12701016" y="5449824"/>
            <a:ext cx="0" cy="109728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Updated connector"/>
          <p:cNvCxnSpPr/>
          <p:nvPr/>
        </p:nvCxnSpPr>
        <p:spPr>
          <a:xfrm>
            <a:off x="10981944" y="5559552"/>
            <a:ext cx="3502152" cy="0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Updated connector"/>
          <p:cNvCxnSpPr/>
          <p:nvPr/>
        </p:nvCxnSpPr>
        <p:spPr>
          <a:xfrm>
            <a:off x="10981944" y="5559552"/>
            <a:ext cx="0" cy="91440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Updated connector"/>
          <p:cNvCxnSpPr/>
          <p:nvPr/>
        </p:nvCxnSpPr>
        <p:spPr>
          <a:xfrm>
            <a:off x="12280392" y="5559552"/>
            <a:ext cx="0" cy="91440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7" name="Updated connector"/>
          <p:cNvCxnSpPr/>
          <p:nvPr/>
        </p:nvCxnSpPr>
        <p:spPr>
          <a:xfrm>
            <a:off x="13459968" y="5559552"/>
            <a:ext cx="0" cy="91440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Updated connector"/>
          <p:cNvCxnSpPr/>
          <p:nvPr/>
        </p:nvCxnSpPr>
        <p:spPr>
          <a:xfrm>
            <a:off x="14484096" y="5559552"/>
            <a:ext cx="0" cy="91440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Updated connector"/>
          <p:cNvCxnSpPr/>
          <p:nvPr/>
        </p:nvCxnSpPr>
        <p:spPr>
          <a:xfrm>
            <a:off x="10981944" y="6056071"/>
            <a:ext cx="0" cy="61265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0" name="Updated connector"/>
          <p:cNvCxnSpPr/>
          <p:nvPr/>
        </p:nvCxnSpPr>
        <p:spPr>
          <a:xfrm>
            <a:off x="12280392" y="6056071"/>
            <a:ext cx="0" cy="61265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1" name="Updated connector"/>
          <p:cNvCxnSpPr/>
          <p:nvPr/>
        </p:nvCxnSpPr>
        <p:spPr>
          <a:xfrm>
            <a:off x="13459968" y="6056071"/>
            <a:ext cx="0" cy="61265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Updated connector"/>
          <p:cNvCxnSpPr/>
          <p:nvPr/>
        </p:nvCxnSpPr>
        <p:spPr>
          <a:xfrm>
            <a:off x="14484096" y="6056071"/>
            <a:ext cx="0" cy="61265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" name="Updated connector"/>
          <p:cNvCxnSpPr/>
          <p:nvPr/>
        </p:nvCxnSpPr>
        <p:spPr>
          <a:xfrm>
            <a:off x="10981944" y="6117336"/>
            <a:ext cx="3502152" cy="0"/>
          </a:xfrm>
          <a:prstGeom prst="line">
            <a:avLst/>
          </a:prstGeom>
          <a:ln w="20320">
            <a:solidFill>
              <a:srgbClr val="0867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Updated connector"/>
          <p:cNvCxnSpPr/>
          <p:nvPr/>
        </p:nvCxnSpPr>
        <p:spPr>
          <a:xfrm>
            <a:off x="12701016" y="6117336"/>
            <a:ext cx="0" cy="91440"/>
          </a:xfrm>
          <a:prstGeom prst="line">
            <a:avLst/>
          </a:prstGeom>
          <a:ln w="20320">
            <a:solidFill>
              <a:srgbClr val="0867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C | deployment inputs into supply preparation | head"/>
          <p:cNvSpPr/>
          <p:nvPr/>
        </p:nvSpPr>
        <p:spPr>
          <a:xfrm>
            <a:off x="12573000" y="2496312"/>
            <a:ext cx="164592" cy="146304"/>
          </a:xfrm>
          <a:custGeom>
            <a:avLst/>
            <a:gdLst/>
            <a:ahLst/>
            <a:cxnLst/>
            <a:rect l="0" t="0" r="r" b="b"/>
            <a:pathLst>
              <a:path w="18000" h="16000">
                <a:moveTo>
                  <a:pt x="9000" y="16000"/>
                </a:moveTo>
                <a:lnTo>
                  <a:pt x="0" y="0"/>
                </a:lnTo>
                <a:lnTo>
                  <a:pt x="18000" y="0"/>
                </a:lnTo>
                <a:close/>
              </a:path>
            </a:pathLst>
          </a:custGeom>
          <a:solidFill>
            <a:srgbClr val="1258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" name="C | supply preparation to state | head"/>
          <p:cNvSpPr/>
          <p:nvPr/>
        </p:nvSpPr>
        <p:spPr>
          <a:xfrm>
            <a:off x="12568428" y="3511296"/>
            <a:ext cx="155448" cy="137160"/>
          </a:xfrm>
          <a:custGeom>
            <a:avLst/>
            <a:gdLst/>
            <a:ahLst/>
            <a:cxnLst/>
            <a:rect l="0" t="0" r="r" b="b"/>
            <a:pathLst>
              <a:path w="17000" h="15000">
                <a:moveTo>
                  <a:pt x="8500" y="15000"/>
                </a:moveTo>
                <a:lnTo>
                  <a:pt x="0" y="0"/>
                </a:lnTo>
                <a:lnTo>
                  <a:pt x="17000" y="0"/>
                </a:lnTo>
                <a:close/>
              </a:path>
            </a:pathLst>
          </a:custGeom>
          <a:solidFill>
            <a:srgbClr val="158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341</Words>
  <Application>Microsoft Office PowerPoint</Application>
  <PresentationFormat>自定义</PresentationFormat>
  <Paragraphs>120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— Offline Training, Supply-aware Student and Deployment</dc:title>
  <dc:subject>Editable vector reconstruction of the supplied reference image</dc:subject>
  <dc:creator>AN XU</dc:creator>
  <cp:keywords>vector; editable; scientific figure; PowerPoint; behavioral distillation</cp:keywords>
  <dc:description>Recreated from the user-provided final figure. Text, boxes, arrows and icons are native PowerPoint vectors. Scientific wording and connections follow the supplied image.</dc:description>
  <cp:lastModifiedBy>AN XU</cp:lastModifiedBy>
  <cp:revision>7</cp:revision>
  <dcterms:created xsi:type="dcterms:W3CDTF">2013-01-27T09:14:16Z</dcterms:created>
  <dcterms:modified xsi:type="dcterms:W3CDTF">2026-09-22T01:50:39Z</dcterms:modified>
  <cp:category/>
</cp:coreProperties>
</file>