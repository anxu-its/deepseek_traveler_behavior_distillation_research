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7050" cy="12812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35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00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Reconstruction of the user-supplied Scheme B. All visible elements are vector objects; no embedded source image. No shadows, 3-D effects, emoji glyphs or icon fonts. Ordinary labels are editable Arial text. Mathematical notation and icons are native vector paths for stable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1 Paired traveler states"/>
          <p:cNvGrpSpPr/>
          <p:nvPr/>
        </p:nvGrpSpPr>
        <p:grpSpPr>
          <a:xfrm>
            <a:off x="2146935" y="837882"/>
            <a:ext cx="6392228" cy="2821305"/>
            <a:chOff x="2146935" y="964882"/>
            <a:chExt cx="6392228" cy="2821305"/>
          </a:xfrm>
          <a:effectLst/>
        </p:grpSpPr>
        <p:sp>
          <p:nvSpPr>
            <p:cNvPr id="3" name="Paired states — panel" descr="Paired states — panel"/>
            <p:cNvSpPr/>
            <p:nvPr/>
          </p:nvSpPr>
          <p:spPr>
            <a:xfrm>
              <a:off x="2146935" y="964882"/>
              <a:ext cx="6392228" cy="2821305"/>
            </a:xfrm>
            <a:custGeom>
              <a:avLst/>
              <a:gdLst/>
              <a:ahLst/>
              <a:cxnLst/>
              <a:rect l="0" t="0" r="r" b="b"/>
              <a:pathLst>
                <a:path w="671100" h="296200" extrusionOk="0">
                  <a:moveTo>
                    <a:pt x="40000" y="0"/>
                  </a:moveTo>
                  <a:lnTo>
                    <a:pt x="631100" y="0"/>
                  </a:lnTo>
                  <a:cubicBezTo>
                    <a:pt x="653191" y="0"/>
                    <a:pt x="671100" y="17909"/>
                    <a:pt x="671100" y="40000"/>
                  </a:cubicBezTo>
                  <a:lnTo>
                    <a:pt x="671100" y="256200"/>
                  </a:lnTo>
                  <a:cubicBezTo>
                    <a:pt x="671100" y="278291"/>
                    <a:pt x="653191" y="296200"/>
                    <a:pt x="631100" y="296200"/>
                  </a:cubicBezTo>
                  <a:lnTo>
                    <a:pt x="40000" y="296200"/>
                  </a:lnTo>
                  <a:cubicBezTo>
                    <a:pt x="17909" y="296200"/>
                    <a:pt x="0" y="278291"/>
                    <a:pt x="0" y="256200"/>
                  </a:cubicBezTo>
                  <a:lnTo>
                    <a:pt x="0" y="40000"/>
                  </a:lnTo>
                  <a:cubicBezTo>
                    <a:pt x="0" y="17909"/>
                    <a:pt x="17909" y="0"/>
                    <a:pt x="40000" y="0"/>
                  </a:cubicBezTo>
                  <a:close/>
                </a:path>
              </a:pathLst>
            </a:custGeom>
            <a:solidFill>
              <a:srgbClr val="F0F0F0"/>
            </a:solidFill>
            <a:ln w="28575" cap="rnd" cmpd="sng" algn="ctr">
              <a:solidFill>
                <a:srgbClr val="999999"/>
              </a:solidFill>
              <a:round/>
            </a:ln>
            <a:effectLst/>
          </p:spPr>
        </p:sp>
        <p:sp>
          <p:nvSpPr>
            <p:cNvPr id="4" name="Baseline state — inset" descr="Baseline state — inset"/>
            <p:cNvSpPr/>
            <p:nvPr/>
          </p:nvSpPr>
          <p:spPr>
            <a:xfrm>
              <a:off x="2290762" y="1552575"/>
              <a:ext cx="2343150" cy="2076450"/>
            </a:xfrm>
            <a:custGeom>
              <a:avLst/>
              <a:gdLst/>
              <a:ahLst/>
              <a:cxnLst/>
              <a:rect l="0" t="0" r="r" b="b"/>
              <a:pathLst>
                <a:path w="246000" h="218000" extrusionOk="0">
                  <a:moveTo>
                    <a:pt x="20000" y="0"/>
                  </a:moveTo>
                  <a:lnTo>
                    <a:pt x="226000" y="0"/>
                  </a:lnTo>
                  <a:cubicBezTo>
                    <a:pt x="237046" y="0"/>
                    <a:pt x="246000" y="8954"/>
                    <a:pt x="246000" y="20000"/>
                  </a:cubicBezTo>
                  <a:lnTo>
                    <a:pt x="246000" y="198000"/>
                  </a:lnTo>
                  <a:cubicBezTo>
                    <a:pt x="246000" y="209046"/>
                    <a:pt x="237046" y="218000"/>
                    <a:pt x="226000" y="218000"/>
                  </a:cubicBezTo>
                  <a:lnTo>
                    <a:pt x="20000" y="218000"/>
                  </a:lnTo>
                  <a:cubicBezTo>
                    <a:pt x="8954" y="218000"/>
                    <a:pt x="0" y="209046"/>
                    <a:pt x="0" y="198000"/>
                  </a:cubicBezTo>
                  <a:lnTo>
                    <a:pt x="0" y="20000"/>
                  </a:lnTo>
                  <a:cubicBezTo>
                    <a:pt x="0" y="8954"/>
                    <a:pt x="8954" y="0"/>
                    <a:pt x="20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 cmpd="sng" algn="ctr">
              <a:solidFill>
                <a:srgbClr val="CCCCCC"/>
              </a:solidFill>
              <a:round/>
            </a:ln>
            <a:effectLst/>
          </p:spPr>
        </p:sp>
        <p:sp>
          <p:nvSpPr>
            <p:cNvPr id="5" name="Perturbed state — inset" descr="Perturbed state — inset"/>
            <p:cNvSpPr/>
            <p:nvPr/>
          </p:nvSpPr>
          <p:spPr>
            <a:xfrm>
              <a:off x="6076950" y="1552575"/>
              <a:ext cx="2328862" cy="2076450"/>
            </a:xfrm>
            <a:custGeom>
              <a:avLst/>
              <a:gdLst/>
              <a:ahLst/>
              <a:cxnLst/>
              <a:rect l="0" t="0" r="r" b="b"/>
              <a:pathLst>
                <a:path w="244500" h="218000" extrusionOk="0">
                  <a:moveTo>
                    <a:pt x="20000" y="0"/>
                  </a:moveTo>
                  <a:lnTo>
                    <a:pt x="224500" y="0"/>
                  </a:lnTo>
                  <a:cubicBezTo>
                    <a:pt x="235546" y="0"/>
                    <a:pt x="244500" y="8954"/>
                    <a:pt x="244500" y="20000"/>
                  </a:cubicBezTo>
                  <a:lnTo>
                    <a:pt x="244500" y="198000"/>
                  </a:lnTo>
                  <a:cubicBezTo>
                    <a:pt x="244500" y="209046"/>
                    <a:pt x="235546" y="218000"/>
                    <a:pt x="224500" y="218000"/>
                  </a:cubicBezTo>
                  <a:lnTo>
                    <a:pt x="20000" y="218000"/>
                  </a:lnTo>
                  <a:cubicBezTo>
                    <a:pt x="8954" y="218000"/>
                    <a:pt x="0" y="209046"/>
                    <a:pt x="0" y="198000"/>
                  </a:cubicBezTo>
                  <a:lnTo>
                    <a:pt x="0" y="20000"/>
                  </a:lnTo>
                  <a:cubicBezTo>
                    <a:pt x="0" y="8954"/>
                    <a:pt x="8954" y="0"/>
                    <a:pt x="20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 cmpd="sng" algn="ctr">
              <a:solidFill>
                <a:srgbClr val="CCCCCC"/>
              </a:solidFill>
              <a:round/>
            </a:ln>
            <a:effectLst/>
          </p:spPr>
        </p:sp>
        <p:sp>
          <p:nvSpPr>
            <p:cNvPr id="26" name="Scenario perturbation arrow" descr="Scenario perturbation arrow"/>
            <p:cNvSpPr/>
            <p:nvPr/>
          </p:nvSpPr>
          <p:spPr>
            <a:xfrm>
              <a:off x="4746625" y="2216150"/>
              <a:ext cx="1225550" cy="231775"/>
            </a:xfrm>
            <a:custGeom>
              <a:avLst/>
              <a:gdLst/>
              <a:ahLst/>
              <a:cxnLst/>
              <a:rect l="0" t="0" r="r" b="b"/>
              <a:pathLst>
                <a:path w="128667" h="24333" stroke="0" extrusionOk="0">
                  <a:moveTo>
                    <a:pt x="108924" y="22939"/>
                  </a:moveTo>
                  <a:cubicBezTo>
                    <a:pt x="108852" y="22722"/>
                    <a:pt x="109297" y="20825"/>
                    <a:pt x="109914" y="18724"/>
                  </a:cubicBezTo>
                  <a:cubicBezTo>
                    <a:pt x="110531" y="16622"/>
                    <a:pt x="110915" y="14786"/>
                    <a:pt x="110768" y="14643"/>
                  </a:cubicBezTo>
                  <a:cubicBezTo>
                    <a:pt x="110621" y="14500"/>
                    <a:pt x="86075" y="14334"/>
                    <a:pt x="56223" y="14275"/>
                  </a:cubicBezTo>
                  <a:cubicBezTo>
                    <a:pt x="2944" y="14169"/>
                    <a:pt x="1937" y="14155"/>
                    <a:pt x="1473" y="13520"/>
                  </a:cubicBezTo>
                  <a:cubicBezTo>
                    <a:pt x="842" y="12657"/>
                    <a:pt x="877" y="11887"/>
                    <a:pt x="1583" y="11048"/>
                  </a:cubicBezTo>
                  <a:lnTo>
                    <a:pt x="2167" y="10355"/>
                  </a:lnTo>
                  <a:lnTo>
                    <a:pt x="56429" y="10125"/>
                  </a:lnTo>
                  <a:cubicBezTo>
                    <a:pt x="86274" y="9998"/>
                    <a:pt x="110752" y="9799"/>
                    <a:pt x="110824" y="9682"/>
                  </a:cubicBezTo>
                  <a:cubicBezTo>
                    <a:pt x="110896" y="9565"/>
                    <a:pt x="110412" y="7712"/>
                    <a:pt x="109748" y="5565"/>
                  </a:cubicBezTo>
                  <a:cubicBezTo>
                    <a:pt x="108317" y="940"/>
                    <a:pt x="108466" y="381"/>
                    <a:pt x="110720" y="1905"/>
                  </a:cubicBezTo>
                  <a:cubicBezTo>
                    <a:pt x="111516" y="2443"/>
                    <a:pt x="114267" y="4063"/>
                    <a:pt x="116833" y="5505"/>
                  </a:cubicBezTo>
                  <a:cubicBezTo>
                    <a:pt x="126929" y="11176"/>
                    <a:pt x="127500" y="11534"/>
                    <a:pt x="127500" y="12186"/>
                  </a:cubicBezTo>
                  <a:cubicBezTo>
                    <a:pt x="127500" y="12815"/>
                    <a:pt x="126041" y="13823"/>
                    <a:pt x="121500" y="16334"/>
                  </a:cubicBezTo>
                  <a:cubicBezTo>
                    <a:pt x="117640" y="18467"/>
                    <a:pt x="110703" y="22672"/>
                    <a:pt x="110499" y="23001"/>
                  </a:cubicBezTo>
                  <a:cubicBezTo>
                    <a:pt x="110214" y="23463"/>
                    <a:pt x="109084" y="23418"/>
                    <a:pt x="108924" y="22939"/>
                  </a:cubicBezTo>
                  <a:close/>
                </a:path>
              </a:pathLst>
            </a:custGeom>
            <a:solidFill>
              <a:srgbClr val="555555"/>
            </a:solidFill>
            <a:ln w="0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27" name="Baseline icon divider" descr="Baseline icon divider"/>
            <p:cNvSpPr/>
            <p:nvPr/>
          </p:nvSpPr>
          <p:spPr>
            <a:xfrm>
              <a:off x="3088005" y="2527935"/>
              <a:ext cx="95" cy="626745"/>
            </a:xfrm>
            <a:custGeom>
              <a:avLst/>
              <a:gdLst/>
              <a:ahLst/>
              <a:cxnLst/>
              <a:rect l="0" t="0" r="r" b="b"/>
              <a:pathLst>
                <a:path w="10" h="65800" fill="none" extrusionOk="0">
                  <a:moveTo>
                    <a:pt x="0" y="0"/>
                  </a:moveTo>
                  <a:lnTo>
                    <a:pt x="0" y="65800"/>
                  </a:lnTo>
                </a:path>
              </a:pathLst>
            </a:custGeom>
            <a:solidFill>
              <a:srgbClr val="555555"/>
            </a:solidFill>
            <a:ln w="9525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28" name="Perturbed icon divider" descr="Perturbed icon divider"/>
            <p:cNvSpPr/>
            <p:nvPr/>
          </p:nvSpPr>
          <p:spPr>
            <a:xfrm>
              <a:off x="6991350" y="2533650"/>
              <a:ext cx="95" cy="628650"/>
            </a:xfrm>
            <a:custGeom>
              <a:avLst/>
              <a:gdLst/>
              <a:ahLst/>
              <a:cxnLst/>
              <a:rect l="0" t="0" r="r" b="b"/>
              <a:pathLst>
                <a:path w="10" h="66000" fill="none" extrusionOk="0">
                  <a:moveTo>
                    <a:pt x="0" y="0"/>
                  </a:moveTo>
                  <a:lnTo>
                    <a:pt x="0" y="66000"/>
                  </a:lnTo>
                </a:path>
              </a:pathLst>
            </a:custGeom>
            <a:solidFill>
              <a:srgbClr val="555555"/>
            </a:solidFill>
            <a:ln w="9525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33" name="Baseline traveler" descr="Baseline traveler"/>
            <p:cNvSpPr/>
            <p:nvPr/>
          </p:nvSpPr>
          <p:spPr>
            <a:xfrm>
              <a:off x="2476500" y="2378075"/>
              <a:ext cx="444500" cy="790575"/>
            </a:xfrm>
            <a:custGeom>
              <a:avLst/>
              <a:gdLst/>
              <a:ahLst/>
              <a:cxnLst/>
              <a:rect l="0" t="0" r="r" b="b"/>
              <a:pathLst>
                <a:path w="46667" h="83000" stroke="0" extrusionOk="0">
                  <a:moveTo>
                    <a:pt x="3833" y="81529"/>
                  </a:moveTo>
                  <a:cubicBezTo>
                    <a:pt x="2245" y="80824"/>
                    <a:pt x="1275" y="79541"/>
                    <a:pt x="1090" y="77903"/>
                  </a:cubicBezTo>
                  <a:cubicBezTo>
                    <a:pt x="928" y="76465"/>
                    <a:pt x="1035" y="76267"/>
                    <a:pt x="5944" y="68966"/>
                  </a:cubicBezTo>
                  <a:lnTo>
                    <a:pt x="10963" y="61500"/>
                  </a:lnTo>
                  <a:lnTo>
                    <a:pt x="11641" y="58167"/>
                  </a:lnTo>
                  <a:cubicBezTo>
                    <a:pt x="12015" y="56333"/>
                    <a:pt x="12616" y="52508"/>
                    <a:pt x="12977" y="49667"/>
                  </a:cubicBezTo>
                  <a:cubicBezTo>
                    <a:pt x="13759" y="43522"/>
                    <a:pt x="14026" y="35666"/>
                    <a:pt x="13454" y="35667"/>
                  </a:cubicBezTo>
                  <a:cubicBezTo>
                    <a:pt x="12504" y="35667"/>
                    <a:pt x="11522" y="37179"/>
                    <a:pt x="9569" y="41643"/>
                  </a:cubicBezTo>
                  <a:cubicBezTo>
                    <a:pt x="8159" y="44869"/>
                    <a:pt x="7178" y="46668"/>
                    <a:pt x="6593" y="47105"/>
                  </a:cubicBezTo>
                  <a:cubicBezTo>
                    <a:pt x="6055" y="47507"/>
                    <a:pt x="5189" y="47758"/>
                    <a:pt x="4342" y="47758"/>
                  </a:cubicBezTo>
                  <a:cubicBezTo>
                    <a:pt x="3280" y="47758"/>
                    <a:pt x="2733" y="47537"/>
                    <a:pt x="1952" y="46795"/>
                  </a:cubicBezTo>
                  <a:cubicBezTo>
                    <a:pt x="1032" y="45921"/>
                    <a:pt x="953" y="45681"/>
                    <a:pt x="1085" y="44167"/>
                  </a:cubicBezTo>
                  <a:cubicBezTo>
                    <a:pt x="1213" y="42708"/>
                    <a:pt x="3202" y="37362"/>
                    <a:pt x="5319" y="32784"/>
                  </a:cubicBezTo>
                  <a:cubicBezTo>
                    <a:pt x="5800" y="31743"/>
                    <a:pt x="7261" y="30314"/>
                    <a:pt x="11219" y="27009"/>
                  </a:cubicBezTo>
                  <a:cubicBezTo>
                    <a:pt x="14112" y="24594"/>
                    <a:pt x="17438" y="22082"/>
                    <a:pt x="18609" y="21427"/>
                  </a:cubicBezTo>
                  <a:cubicBezTo>
                    <a:pt x="20468" y="20387"/>
                    <a:pt x="21027" y="20235"/>
                    <a:pt x="23001" y="20235"/>
                  </a:cubicBezTo>
                  <a:cubicBezTo>
                    <a:pt x="25456" y="20235"/>
                    <a:pt x="26682" y="20765"/>
                    <a:pt x="28413" y="22575"/>
                  </a:cubicBezTo>
                  <a:cubicBezTo>
                    <a:pt x="28916" y="23100"/>
                    <a:pt x="30537" y="25912"/>
                    <a:pt x="32016" y="28824"/>
                  </a:cubicBezTo>
                  <a:cubicBezTo>
                    <a:pt x="33496" y="31737"/>
                    <a:pt x="34999" y="34530"/>
                    <a:pt x="35357" y="35033"/>
                  </a:cubicBezTo>
                  <a:cubicBezTo>
                    <a:pt x="35714" y="35535"/>
                    <a:pt x="37468" y="36727"/>
                    <a:pt x="39254" y="37682"/>
                  </a:cubicBezTo>
                  <a:cubicBezTo>
                    <a:pt x="43262" y="39824"/>
                    <a:pt x="44519" y="40748"/>
                    <a:pt x="45188" y="42042"/>
                  </a:cubicBezTo>
                  <a:cubicBezTo>
                    <a:pt x="45878" y="43376"/>
                    <a:pt x="45547" y="44761"/>
                    <a:pt x="44283" y="45824"/>
                  </a:cubicBezTo>
                  <a:cubicBezTo>
                    <a:pt x="42661" y="47190"/>
                    <a:pt x="42476" y="47144"/>
                    <a:pt x="34790" y="43476"/>
                  </a:cubicBezTo>
                  <a:cubicBezTo>
                    <a:pt x="32055" y="42171"/>
                    <a:pt x="30321" y="40795"/>
                    <a:pt x="29929" y="39619"/>
                  </a:cubicBezTo>
                  <a:cubicBezTo>
                    <a:pt x="29854" y="39396"/>
                    <a:pt x="29561" y="39303"/>
                    <a:pt x="29276" y="39412"/>
                  </a:cubicBezTo>
                  <a:cubicBezTo>
                    <a:pt x="28932" y="39544"/>
                    <a:pt x="28685" y="40259"/>
                    <a:pt x="28536" y="41555"/>
                  </a:cubicBezTo>
                  <a:cubicBezTo>
                    <a:pt x="28413" y="42625"/>
                    <a:pt x="28108" y="44475"/>
                    <a:pt x="27858" y="45667"/>
                  </a:cubicBezTo>
                  <a:cubicBezTo>
                    <a:pt x="27478" y="47480"/>
                    <a:pt x="27476" y="48009"/>
                    <a:pt x="27850" y="48912"/>
                  </a:cubicBezTo>
                  <a:cubicBezTo>
                    <a:pt x="28095" y="49506"/>
                    <a:pt x="29559" y="51831"/>
                    <a:pt x="31104" y="54079"/>
                  </a:cubicBezTo>
                  <a:cubicBezTo>
                    <a:pt x="32648" y="56327"/>
                    <a:pt x="34166" y="58665"/>
                    <a:pt x="34477" y="59273"/>
                  </a:cubicBezTo>
                  <a:cubicBezTo>
                    <a:pt x="35130" y="60554"/>
                    <a:pt x="35597" y="62862"/>
                    <a:pt x="37007" y="71770"/>
                  </a:cubicBezTo>
                  <a:cubicBezTo>
                    <a:pt x="37724" y="76301"/>
                    <a:pt x="37936" y="78459"/>
                    <a:pt x="37719" y="79026"/>
                  </a:cubicBezTo>
                  <a:cubicBezTo>
                    <a:pt x="37254" y="80248"/>
                    <a:pt x="35782" y="81560"/>
                    <a:pt x="34617" y="81793"/>
                  </a:cubicBezTo>
                  <a:cubicBezTo>
                    <a:pt x="33073" y="82102"/>
                    <a:pt x="31165" y="81459"/>
                    <a:pt x="30191" y="80301"/>
                  </a:cubicBezTo>
                  <a:cubicBezTo>
                    <a:pt x="29339" y="79289"/>
                    <a:pt x="29199" y="78904"/>
                    <a:pt x="28873" y="76667"/>
                  </a:cubicBezTo>
                  <a:cubicBezTo>
                    <a:pt x="28780" y="76025"/>
                    <a:pt x="28320" y="73210"/>
                    <a:pt x="27852" y="70411"/>
                  </a:cubicBezTo>
                  <a:cubicBezTo>
                    <a:pt x="27383" y="67611"/>
                    <a:pt x="26995" y="64836"/>
                    <a:pt x="26988" y="64244"/>
                  </a:cubicBezTo>
                  <a:cubicBezTo>
                    <a:pt x="26982" y="63651"/>
                    <a:pt x="26794" y="62859"/>
                    <a:pt x="26572" y="62483"/>
                  </a:cubicBezTo>
                  <a:cubicBezTo>
                    <a:pt x="25741" y="61081"/>
                    <a:pt x="22526" y="57325"/>
                    <a:pt x="22239" y="57420"/>
                  </a:cubicBezTo>
                  <a:cubicBezTo>
                    <a:pt x="22074" y="57475"/>
                    <a:pt x="21522" y="58819"/>
                    <a:pt x="21012" y="60406"/>
                  </a:cubicBezTo>
                  <a:cubicBezTo>
                    <a:pt x="20501" y="61994"/>
                    <a:pt x="19525" y="64308"/>
                    <a:pt x="18843" y="65550"/>
                  </a:cubicBezTo>
                  <a:cubicBezTo>
                    <a:pt x="16813" y="69243"/>
                    <a:pt x="8594" y="80719"/>
                    <a:pt x="7500" y="81387"/>
                  </a:cubicBezTo>
                  <a:cubicBezTo>
                    <a:pt x="6328" y="82103"/>
                    <a:pt x="5220" y="82146"/>
                    <a:pt x="3833" y="81529"/>
                  </a:cubicBezTo>
                  <a:close/>
                  <a:moveTo>
                    <a:pt x="22500" y="18022"/>
                  </a:moveTo>
                  <a:cubicBezTo>
                    <a:pt x="20606" y="17508"/>
                    <a:pt x="19698" y="17027"/>
                    <a:pt x="18383" y="15838"/>
                  </a:cubicBezTo>
                  <a:cubicBezTo>
                    <a:pt x="17658" y="15183"/>
                    <a:pt x="16734" y="13945"/>
                    <a:pt x="16331" y="13087"/>
                  </a:cubicBezTo>
                  <a:cubicBezTo>
                    <a:pt x="15758" y="11868"/>
                    <a:pt x="15627" y="11088"/>
                    <a:pt x="15730" y="9514"/>
                  </a:cubicBezTo>
                  <a:cubicBezTo>
                    <a:pt x="15891" y="7050"/>
                    <a:pt x="17028" y="4646"/>
                    <a:pt x="18718" y="3200"/>
                  </a:cubicBezTo>
                  <a:cubicBezTo>
                    <a:pt x="20109" y="2009"/>
                    <a:pt x="22652" y="996"/>
                    <a:pt x="24243" y="998"/>
                  </a:cubicBezTo>
                  <a:cubicBezTo>
                    <a:pt x="25669" y="1001"/>
                    <a:pt x="27876" y="1887"/>
                    <a:pt x="29397" y="3069"/>
                  </a:cubicBezTo>
                  <a:cubicBezTo>
                    <a:pt x="31116" y="4405"/>
                    <a:pt x="32669" y="7610"/>
                    <a:pt x="32659" y="9803"/>
                  </a:cubicBezTo>
                  <a:cubicBezTo>
                    <a:pt x="32651" y="11671"/>
                    <a:pt x="31897" y="13621"/>
                    <a:pt x="30580" y="15181"/>
                  </a:cubicBezTo>
                  <a:cubicBezTo>
                    <a:pt x="29524" y="16432"/>
                    <a:pt x="26620" y="17925"/>
                    <a:pt x="24833" y="18136"/>
                  </a:cubicBezTo>
                  <a:cubicBezTo>
                    <a:pt x="24100" y="18223"/>
                    <a:pt x="23050" y="18172"/>
                    <a:pt x="22500" y="18022"/>
                  </a:cubicBezTo>
                  <a:close/>
                </a:path>
              </a:pathLst>
            </a:custGeom>
            <a:solidFill>
              <a:srgbClr val="555555"/>
            </a:solidFill>
            <a:ln w="0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34" name="Baseline home" descr="Baseline home"/>
            <p:cNvSpPr/>
            <p:nvPr/>
          </p:nvSpPr>
          <p:spPr>
            <a:xfrm>
              <a:off x="3213100" y="2606675"/>
              <a:ext cx="346075" cy="349250"/>
            </a:xfrm>
            <a:custGeom>
              <a:avLst/>
              <a:gdLst/>
              <a:ahLst/>
              <a:cxnLst/>
              <a:rect l="0" t="0" r="r" b="b"/>
              <a:pathLst>
                <a:path w="36333" h="36667" stroke="0" extrusionOk="0">
                  <a:moveTo>
                    <a:pt x="5631" y="34964"/>
                  </a:moveTo>
                  <a:cubicBezTo>
                    <a:pt x="4951" y="34284"/>
                    <a:pt x="4932" y="34023"/>
                    <a:pt x="5047" y="26952"/>
                  </a:cubicBezTo>
                  <a:cubicBezTo>
                    <a:pt x="5178" y="18951"/>
                    <a:pt x="5142" y="18796"/>
                    <a:pt x="3257" y="19192"/>
                  </a:cubicBezTo>
                  <a:cubicBezTo>
                    <a:pt x="1879" y="19482"/>
                    <a:pt x="1000" y="19079"/>
                    <a:pt x="1000" y="18159"/>
                  </a:cubicBezTo>
                  <a:cubicBezTo>
                    <a:pt x="1000" y="17566"/>
                    <a:pt x="3068" y="15267"/>
                    <a:pt x="9083" y="9172"/>
                  </a:cubicBezTo>
                  <a:cubicBezTo>
                    <a:pt x="14031" y="4158"/>
                    <a:pt x="17410" y="985"/>
                    <a:pt x="17793" y="991"/>
                  </a:cubicBezTo>
                  <a:cubicBezTo>
                    <a:pt x="18137" y="996"/>
                    <a:pt x="19722" y="2275"/>
                    <a:pt x="21315" y="3833"/>
                  </a:cubicBezTo>
                  <a:cubicBezTo>
                    <a:pt x="22907" y="5392"/>
                    <a:pt x="24463" y="6667"/>
                    <a:pt x="24772" y="6667"/>
                  </a:cubicBezTo>
                  <a:cubicBezTo>
                    <a:pt x="25222" y="6667"/>
                    <a:pt x="25333" y="6343"/>
                    <a:pt x="25333" y="5036"/>
                  </a:cubicBezTo>
                  <a:cubicBezTo>
                    <a:pt x="25333" y="3856"/>
                    <a:pt x="25479" y="3349"/>
                    <a:pt x="25861" y="3202"/>
                  </a:cubicBezTo>
                  <a:cubicBezTo>
                    <a:pt x="26785" y="2848"/>
                    <a:pt x="29852" y="2985"/>
                    <a:pt x="30267" y="3400"/>
                  </a:cubicBezTo>
                  <a:cubicBezTo>
                    <a:pt x="30538" y="3671"/>
                    <a:pt x="30667" y="5238"/>
                    <a:pt x="30667" y="8269"/>
                  </a:cubicBezTo>
                  <a:lnTo>
                    <a:pt x="30667" y="12738"/>
                  </a:lnTo>
                  <a:lnTo>
                    <a:pt x="33000" y="15144"/>
                  </a:lnTo>
                  <a:cubicBezTo>
                    <a:pt x="34283" y="16468"/>
                    <a:pt x="35333" y="17703"/>
                    <a:pt x="35333" y="17890"/>
                  </a:cubicBezTo>
                  <a:cubicBezTo>
                    <a:pt x="35333" y="18601"/>
                    <a:pt x="34109" y="19291"/>
                    <a:pt x="32666" y="19393"/>
                  </a:cubicBezTo>
                  <a:lnTo>
                    <a:pt x="31167" y="19500"/>
                  </a:lnTo>
                  <a:lnTo>
                    <a:pt x="31077" y="26981"/>
                  </a:lnTo>
                  <a:cubicBezTo>
                    <a:pt x="31000" y="33354"/>
                    <a:pt x="30906" y="34551"/>
                    <a:pt x="30442" y="35064"/>
                  </a:cubicBezTo>
                  <a:cubicBezTo>
                    <a:pt x="29981" y="35573"/>
                    <a:pt x="29347" y="35667"/>
                    <a:pt x="26345" y="35667"/>
                  </a:cubicBezTo>
                  <a:cubicBezTo>
                    <a:pt x="24025" y="35667"/>
                    <a:pt x="22600" y="35522"/>
                    <a:pt x="22235" y="35250"/>
                  </a:cubicBezTo>
                  <a:cubicBezTo>
                    <a:pt x="21758" y="34895"/>
                    <a:pt x="21663" y="34025"/>
                    <a:pt x="21588" y="29333"/>
                  </a:cubicBezTo>
                  <a:lnTo>
                    <a:pt x="21500" y="23833"/>
                  </a:lnTo>
                  <a:lnTo>
                    <a:pt x="18000" y="23833"/>
                  </a:lnTo>
                  <a:lnTo>
                    <a:pt x="14500" y="23833"/>
                  </a:lnTo>
                  <a:lnTo>
                    <a:pt x="14408" y="29309"/>
                  </a:lnTo>
                  <a:cubicBezTo>
                    <a:pt x="14352" y="32657"/>
                    <a:pt x="14174" y="34957"/>
                    <a:pt x="13951" y="35226"/>
                  </a:cubicBezTo>
                  <a:cubicBezTo>
                    <a:pt x="13689" y="35542"/>
                    <a:pt x="12558" y="35667"/>
                    <a:pt x="9959" y="35667"/>
                  </a:cubicBezTo>
                  <a:cubicBezTo>
                    <a:pt x="6716" y="35667"/>
                    <a:pt x="6259" y="35593"/>
                    <a:pt x="5631" y="34964"/>
                  </a:cubicBezTo>
                  <a:close/>
                </a:path>
              </a:pathLst>
            </a:custGeom>
            <a:solidFill>
              <a:srgbClr val="555555"/>
            </a:solidFill>
            <a:ln w="0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35" name="Baseline destination" descr="Baseline destination"/>
            <p:cNvSpPr/>
            <p:nvPr/>
          </p:nvSpPr>
          <p:spPr>
            <a:xfrm>
              <a:off x="3695700" y="2587625"/>
              <a:ext cx="260350" cy="377825"/>
            </a:xfrm>
            <a:custGeom>
              <a:avLst/>
              <a:gdLst/>
              <a:ahLst/>
              <a:cxnLst/>
              <a:rect l="0" t="0" r="r" b="b"/>
              <a:pathLst>
                <a:path w="27333" h="39667" stroke="0" extrusionOk="0">
                  <a:moveTo>
                    <a:pt x="10906" y="35250"/>
                  </a:moveTo>
                  <a:cubicBezTo>
                    <a:pt x="7177" y="29371"/>
                    <a:pt x="6055" y="27432"/>
                    <a:pt x="4045" y="23407"/>
                  </a:cubicBezTo>
                  <a:cubicBezTo>
                    <a:pt x="1323" y="17954"/>
                    <a:pt x="887" y="16481"/>
                    <a:pt x="1068" y="13350"/>
                  </a:cubicBezTo>
                  <a:cubicBezTo>
                    <a:pt x="1182" y="11381"/>
                    <a:pt x="1460" y="10262"/>
                    <a:pt x="2261" y="8549"/>
                  </a:cubicBezTo>
                  <a:cubicBezTo>
                    <a:pt x="3473" y="5961"/>
                    <a:pt x="5693" y="3636"/>
                    <a:pt x="8356" y="2169"/>
                  </a:cubicBezTo>
                  <a:cubicBezTo>
                    <a:pt x="10026" y="1249"/>
                    <a:pt x="10426" y="1171"/>
                    <a:pt x="13500" y="1169"/>
                  </a:cubicBezTo>
                  <a:cubicBezTo>
                    <a:pt x="16459" y="1167"/>
                    <a:pt x="17058" y="1272"/>
                    <a:pt x="18833" y="2102"/>
                  </a:cubicBezTo>
                  <a:cubicBezTo>
                    <a:pt x="21233" y="3225"/>
                    <a:pt x="23435" y="5462"/>
                    <a:pt x="25023" y="8390"/>
                  </a:cubicBezTo>
                  <a:cubicBezTo>
                    <a:pt x="26121" y="10416"/>
                    <a:pt x="26167" y="10641"/>
                    <a:pt x="26167" y="14031"/>
                  </a:cubicBezTo>
                  <a:lnTo>
                    <a:pt x="26167" y="17563"/>
                  </a:lnTo>
                  <a:lnTo>
                    <a:pt x="24599" y="20698"/>
                  </a:lnTo>
                  <a:cubicBezTo>
                    <a:pt x="22452" y="24994"/>
                    <a:pt x="19583" y="30082"/>
                    <a:pt x="16676" y="34750"/>
                  </a:cubicBezTo>
                  <a:cubicBezTo>
                    <a:pt x="15072" y="37326"/>
                    <a:pt x="14038" y="38667"/>
                    <a:pt x="13655" y="38667"/>
                  </a:cubicBezTo>
                  <a:cubicBezTo>
                    <a:pt x="13279" y="38667"/>
                    <a:pt x="12303" y="37454"/>
                    <a:pt x="10906" y="35250"/>
                  </a:cubicBezTo>
                  <a:close/>
                  <a:moveTo>
                    <a:pt x="15228" y="18980"/>
                  </a:moveTo>
                  <a:cubicBezTo>
                    <a:pt x="16633" y="18450"/>
                    <a:pt x="18305" y="16677"/>
                    <a:pt x="18666" y="15335"/>
                  </a:cubicBezTo>
                  <a:cubicBezTo>
                    <a:pt x="19266" y="13108"/>
                    <a:pt x="17872" y="10307"/>
                    <a:pt x="15572" y="9118"/>
                  </a:cubicBezTo>
                  <a:cubicBezTo>
                    <a:pt x="12576" y="7568"/>
                    <a:pt x="8333" y="10393"/>
                    <a:pt x="8333" y="13937"/>
                  </a:cubicBezTo>
                  <a:cubicBezTo>
                    <a:pt x="8333" y="15479"/>
                    <a:pt x="9729" y="17746"/>
                    <a:pt x="11192" y="18578"/>
                  </a:cubicBezTo>
                  <a:cubicBezTo>
                    <a:pt x="12635" y="19399"/>
                    <a:pt x="13806" y="19516"/>
                    <a:pt x="15228" y="18980"/>
                  </a:cubicBezTo>
                  <a:close/>
                </a:path>
              </a:pathLst>
            </a:custGeom>
            <a:solidFill>
              <a:srgbClr val="555555"/>
            </a:solidFill>
            <a:ln w="0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36" name="Baseline time" descr="Baseline time"/>
            <p:cNvSpPr/>
            <p:nvPr/>
          </p:nvSpPr>
          <p:spPr>
            <a:xfrm>
              <a:off x="4098925" y="2613025"/>
              <a:ext cx="381000" cy="381000"/>
            </a:xfrm>
            <a:custGeom>
              <a:avLst/>
              <a:gdLst/>
              <a:ahLst/>
              <a:cxnLst/>
              <a:rect l="0" t="0" r="r" b="b"/>
              <a:pathLst>
                <a:path w="40000" h="40000" stroke="0" extrusionOk="0">
                  <a:moveTo>
                    <a:pt x="16588" y="38678"/>
                  </a:moveTo>
                  <a:cubicBezTo>
                    <a:pt x="12790" y="37985"/>
                    <a:pt x="10020" y="36594"/>
                    <a:pt x="7124" y="33926"/>
                  </a:cubicBezTo>
                  <a:cubicBezTo>
                    <a:pt x="5366" y="32305"/>
                    <a:pt x="3263" y="29349"/>
                    <a:pt x="2518" y="27452"/>
                  </a:cubicBezTo>
                  <a:cubicBezTo>
                    <a:pt x="1716" y="25409"/>
                    <a:pt x="1010" y="21982"/>
                    <a:pt x="1005" y="20105"/>
                  </a:cubicBezTo>
                  <a:cubicBezTo>
                    <a:pt x="998" y="17570"/>
                    <a:pt x="1864" y="13881"/>
                    <a:pt x="3057" y="11370"/>
                  </a:cubicBezTo>
                  <a:cubicBezTo>
                    <a:pt x="4478" y="8378"/>
                    <a:pt x="8335" y="4516"/>
                    <a:pt x="11401" y="3017"/>
                  </a:cubicBezTo>
                  <a:cubicBezTo>
                    <a:pt x="18533" y="-471"/>
                    <a:pt x="27017" y="655"/>
                    <a:pt x="32607" y="5831"/>
                  </a:cubicBezTo>
                  <a:cubicBezTo>
                    <a:pt x="33766" y="6905"/>
                    <a:pt x="35140" y="8402"/>
                    <a:pt x="35661" y="9158"/>
                  </a:cubicBezTo>
                  <a:cubicBezTo>
                    <a:pt x="37125" y="11286"/>
                    <a:pt x="38284" y="14480"/>
                    <a:pt x="38673" y="17457"/>
                  </a:cubicBezTo>
                  <a:cubicBezTo>
                    <a:pt x="38956" y="19617"/>
                    <a:pt x="38926" y="20739"/>
                    <a:pt x="38528" y="22991"/>
                  </a:cubicBezTo>
                  <a:cubicBezTo>
                    <a:pt x="37871" y="26704"/>
                    <a:pt x="36182" y="30091"/>
                    <a:pt x="33627" y="32823"/>
                  </a:cubicBezTo>
                  <a:cubicBezTo>
                    <a:pt x="31267" y="35345"/>
                    <a:pt x="29093" y="36806"/>
                    <a:pt x="26060" y="37909"/>
                  </a:cubicBezTo>
                  <a:cubicBezTo>
                    <a:pt x="23580" y="38811"/>
                    <a:pt x="19245" y="39162"/>
                    <a:pt x="16588" y="38678"/>
                  </a:cubicBezTo>
                  <a:close/>
                  <a:moveTo>
                    <a:pt x="24528" y="33859"/>
                  </a:moveTo>
                  <a:cubicBezTo>
                    <a:pt x="27236" y="32876"/>
                    <a:pt x="29996" y="31023"/>
                    <a:pt x="31516" y="29169"/>
                  </a:cubicBezTo>
                  <a:cubicBezTo>
                    <a:pt x="32139" y="28409"/>
                    <a:pt x="33065" y="26897"/>
                    <a:pt x="33574" y="25810"/>
                  </a:cubicBezTo>
                  <a:cubicBezTo>
                    <a:pt x="34425" y="23993"/>
                    <a:pt x="34500" y="23510"/>
                    <a:pt x="34500" y="19833"/>
                  </a:cubicBezTo>
                  <a:cubicBezTo>
                    <a:pt x="34500" y="15957"/>
                    <a:pt x="34465" y="15761"/>
                    <a:pt x="33360" y="13500"/>
                  </a:cubicBezTo>
                  <a:cubicBezTo>
                    <a:pt x="32084" y="10888"/>
                    <a:pt x="29259" y="7819"/>
                    <a:pt x="27132" y="6734"/>
                  </a:cubicBezTo>
                  <a:cubicBezTo>
                    <a:pt x="25240" y="5769"/>
                    <a:pt x="22046" y="4999"/>
                    <a:pt x="19952" y="5004"/>
                  </a:cubicBezTo>
                  <a:cubicBezTo>
                    <a:pt x="14525" y="5016"/>
                    <a:pt x="9139" y="8427"/>
                    <a:pt x="6689" y="13404"/>
                  </a:cubicBezTo>
                  <a:cubicBezTo>
                    <a:pt x="6122" y="14557"/>
                    <a:pt x="5481" y="16449"/>
                    <a:pt x="5265" y="17609"/>
                  </a:cubicBezTo>
                  <a:cubicBezTo>
                    <a:pt x="4963" y="19235"/>
                    <a:pt x="4965" y="20251"/>
                    <a:pt x="5274" y="22054"/>
                  </a:cubicBezTo>
                  <a:cubicBezTo>
                    <a:pt x="5494" y="23339"/>
                    <a:pt x="6054" y="25194"/>
                    <a:pt x="6519" y="26176"/>
                  </a:cubicBezTo>
                  <a:cubicBezTo>
                    <a:pt x="7580" y="28419"/>
                    <a:pt x="9954" y="31083"/>
                    <a:pt x="11918" y="32234"/>
                  </a:cubicBezTo>
                  <a:cubicBezTo>
                    <a:pt x="16253" y="34775"/>
                    <a:pt x="20498" y="35322"/>
                    <a:pt x="24528" y="33859"/>
                  </a:cubicBezTo>
                  <a:close/>
                  <a:moveTo>
                    <a:pt x="21561" y="23547"/>
                  </a:moveTo>
                  <a:cubicBezTo>
                    <a:pt x="19761" y="22586"/>
                    <a:pt x="18153" y="21582"/>
                    <a:pt x="17988" y="21317"/>
                  </a:cubicBezTo>
                  <a:cubicBezTo>
                    <a:pt x="17609" y="20705"/>
                    <a:pt x="17678" y="10700"/>
                    <a:pt x="18067" y="9917"/>
                  </a:cubicBezTo>
                  <a:cubicBezTo>
                    <a:pt x="18268" y="9513"/>
                    <a:pt x="18750" y="9333"/>
                    <a:pt x="19638" y="9333"/>
                  </a:cubicBezTo>
                  <a:cubicBezTo>
                    <a:pt x="21637" y="9333"/>
                    <a:pt x="21798" y="9754"/>
                    <a:pt x="21566" y="14369"/>
                  </a:cubicBezTo>
                  <a:lnTo>
                    <a:pt x="21364" y="18381"/>
                  </a:lnTo>
                  <a:lnTo>
                    <a:pt x="23396" y="19607"/>
                  </a:lnTo>
                  <a:cubicBezTo>
                    <a:pt x="24514" y="20282"/>
                    <a:pt x="25894" y="21238"/>
                    <a:pt x="26464" y="21732"/>
                  </a:cubicBezTo>
                  <a:lnTo>
                    <a:pt x="27500" y="22630"/>
                  </a:lnTo>
                  <a:lnTo>
                    <a:pt x="26833" y="23899"/>
                  </a:lnTo>
                  <a:cubicBezTo>
                    <a:pt x="26436" y="24654"/>
                    <a:pt x="25897" y="25192"/>
                    <a:pt x="25500" y="25230"/>
                  </a:cubicBezTo>
                  <a:cubicBezTo>
                    <a:pt x="25133" y="25266"/>
                    <a:pt x="23361" y="24508"/>
                    <a:pt x="21561" y="23547"/>
                  </a:cubicBezTo>
                  <a:close/>
                </a:path>
              </a:pathLst>
            </a:custGeom>
            <a:solidFill>
              <a:srgbClr val="555555"/>
            </a:solidFill>
            <a:ln w="0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37" name="Perturbed traveler" descr="Perturbed traveler"/>
            <p:cNvSpPr/>
            <p:nvPr/>
          </p:nvSpPr>
          <p:spPr>
            <a:xfrm>
              <a:off x="6197600" y="2413000"/>
              <a:ext cx="441325" cy="755650"/>
            </a:xfrm>
            <a:custGeom>
              <a:avLst/>
              <a:gdLst/>
              <a:ahLst/>
              <a:cxnLst/>
              <a:rect l="0" t="0" r="r" b="b"/>
              <a:pathLst>
                <a:path w="46333" h="79333" stroke="0" extrusionOk="0">
                  <a:moveTo>
                    <a:pt x="2939" y="77507"/>
                  </a:moveTo>
                  <a:cubicBezTo>
                    <a:pt x="1594" y="76593"/>
                    <a:pt x="816" y="74836"/>
                    <a:pt x="1109" y="73373"/>
                  </a:cubicBezTo>
                  <a:cubicBezTo>
                    <a:pt x="1208" y="72877"/>
                    <a:pt x="3373" y="69328"/>
                    <a:pt x="5921" y="65486"/>
                  </a:cubicBezTo>
                  <a:lnTo>
                    <a:pt x="10552" y="58500"/>
                  </a:lnTo>
                  <a:lnTo>
                    <a:pt x="11604" y="53000"/>
                  </a:lnTo>
                  <a:cubicBezTo>
                    <a:pt x="12657" y="47500"/>
                    <a:pt x="13181" y="42860"/>
                    <a:pt x="13482" y="36395"/>
                  </a:cubicBezTo>
                  <a:cubicBezTo>
                    <a:pt x="13624" y="33334"/>
                    <a:pt x="13581" y="32968"/>
                    <a:pt x="13094" y="33061"/>
                  </a:cubicBezTo>
                  <a:cubicBezTo>
                    <a:pt x="12386" y="33198"/>
                    <a:pt x="11106" y="35405"/>
                    <a:pt x="9553" y="39167"/>
                  </a:cubicBezTo>
                  <a:cubicBezTo>
                    <a:pt x="7610" y="43873"/>
                    <a:pt x="7261" y="44448"/>
                    <a:pt x="5916" y="45166"/>
                  </a:cubicBezTo>
                  <a:lnTo>
                    <a:pt x="4667" y="45833"/>
                  </a:lnTo>
                  <a:lnTo>
                    <a:pt x="3444" y="45167"/>
                  </a:lnTo>
                  <a:cubicBezTo>
                    <a:pt x="2771" y="44800"/>
                    <a:pt x="1916" y="44087"/>
                    <a:pt x="1545" y="43583"/>
                  </a:cubicBezTo>
                  <a:cubicBezTo>
                    <a:pt x="946" y="42770"/>
                    <a:pt x="910" y="42484"/>
                    <a:pt x="1227" y="41083"/>
                  </a:cubicBezTo>
                  <a:cubicBezTo>
                    <a:pt x="1569" y="39572"/>
                    <a:pt x="4667" y="32322"/>
                    <a:pt x="5910" y="30124"/>
                  </a:cubicBezTo>
                  <a:cubicBezTo>
                    <a:pt x="6547" y="28998"/>
                    <a:pt x="13733" y="22724"/>
                    <a:pt x="16574" y="20814"/>
                  </a:cubicBezTo>
                  <a:cubicBezTo>
                    <a:pt x="17531" y="20170"/>
                    <a:pt x="18956" y="19417"/>
                    <a:pt x="19740" y="19140"/>
                  </a:cubicBezTo>
                  <a:cubicBezTo>
                    <a:pt x="23432" y="17837"/>
                    <a:pt x="27863" y="20524"/>
                    <a:pt x="29220" y="24889"/>
                  </a:cubicBezTo>
                  <a:cubicBezTo>
                    <a:pt x="29898" y="27071"/>
                    <a:pt x="32360" y="31761"/>
                    <a:pt x="33447" y="32940"/>
                  </a:cubicBezTo>
                  <a:cubicBezTo>
                    <a:pt x="33839" y="33365"/>
                    <a:pt x="35361" y="34457"/>
                    <a:pt x="36830" y="35366"/>
                  </a:cubicBezTo>
                  <a:cubicBezTo>
                    <a:pt x="40959" y="37922"/>
                    <a:pt x="42333" y="39356"/>
                    <a:pt x="42333" y="41108"/>
                  </a:cubicBezTo>
                  <a:cubicBezTo>
                    <a:pt x="42333" y="42314"/>
                    <a:pt x="40416" y="44333"/>
                    <a:pt x="39271" y="44333"/>
                  </a:cubicBezTo>
                  <a:cubicBezTo>
                    <a:pt x="38833" y="44333"/>
                    <a:pt x="36670" y="43450"/>
                    <a:pt x="34466" y="42371"/>
                  </a:cubicBezTo>
                  <a:cubicBezTo>
                    <a:pt x="31370" y="40856"/>
                    <a:pt x="30148" y="40059"/>
                    <a:pt x="29103" y="38871"/>
                  </a:cubicBezTo>
                  <a:cubicBezTo>
                    <a:pt x="28358" y="38025"/>
                    <a:pt x="27600" y="37333"/>
                    <a:pt x="27418" y="37333"/>
                  </a:cubicBezTo>
                  <a:cubicBezTo>
                    <a:pt x="27055" y="37333"/>
                    <a:pt x="26800" y="38979"/>
                    <a:pt x="26487" y="43333"/>
                  </a:cubicBezTo>
                  <a:lnTo>
                    <a:pt x="26284" y="46167"/>
                  </a:lnTo>
                  <a:lnTo>
                    <a:pt x="27791" y="48500"/>
                  </a:lnTo>
                  <a:cubicBezTo>
                    <a:pt x="32574" y="55902"/>
                    <a:pt x="33372" y="57357"/>
                    <a:pt x="33693" y="59253"/>
                  </a:cubicBezTo>
                  <a:cubicBezTo>
                    <a:pt x="33870" y="60306"/>
                    <a:pt x="34459" y="64279"/>
                    <a:pt x="35000" y="68083"/>
                  </a:cubicBezTo>
                  <a:cubicBezTo>
                    <a:pt x="35646" y="72622"/>
                    <a:pt x="35884" y="75257"/>
                    <a:pt x="35694" y="75749"/>
                  </a:cubicBezTo>
                  <a:cubicBezTo>
                    <a:pt x="34539" y="78740"/>
                    <a:pt x="29891" y="79178"/>
                    <a:pt x="28113" y="76464"/>
                  </a:cubicBezTo>
                  <a:cubicBezTo>
                    <a:pt x="27437" y="75433"/>
                    <a:pt x="27394" y="75202"/>
                    <a:pt x="25624" y="63000"/>
                  </a:cubicBezTo>
                  <a:cubicBezTo>
                    <a:pt x="25230" y="60289"/>
                    <a:pt x="25120" y="60041"/>
                    <a:pt x="23056" y="57250"/>
                  </a:cubicBezTo>
                  <a:cubicBezTo>
                    <a:pt x="21870" y="55646"/>
                    <a:pt x="20782" y="54333"/>
                    <a:pt x="20639" y="54333"/>
                  </a:cubicBezTo>
                  <a:cubicBezTo>
                    <a:pt x="20294" y="54333"/>
                    <a:pt x="20097" y="55036"/>
                    <a:pt x="19660" y="57830"/>
                  </a:cubicBezTo>
                  <a:cubicBezTo>
                    <a:pt x="19123" y="61258"/>
                    <a:pt x="18556" y="62266"/>
                    <a:pt x="10920" y="73355"/>
                  </a:cubicBezTo>
                  <a:cubicBezTo>
                    <a:pt x="9218" y="75826"/>
                    <a:pt x="7680" y="77705"/>
                    <a:pt x="7169" y="77938"/>
                  </a:cubicBezTo>
                  <a:cubicBezTo>
                    <a:pt x="5801" y="78562"/>
                    <a:pt x="4259" y="78404"/>
                    <a:pt x="2939" y="77507"/>
                  </a:cubicBezTo>
                  <a:close/>
                  <a:moveTo>
                    <a:pt x="19962" y="16560"/>
                  </a:moveTo>
                  <a:cubicBezTo>
                    <a:pt x="17932" y="15801"/>
                    <a:pt x="16748" y="14733"/>
                    <a:pt x="15810" y="12815"/>
                  </a:cubicBezTo>
                  <a:cubicBezTo>
                    <a:pt x="15027" y="11214"/>
                    <a:pt x="14933" y="10690"/>
                    <a:pt x="15074" y="8716"/>
                  </a:cubicBezTo>
                  <a:cubicBezTo>
                    <a:pt x="15192" y="7066"/>
                    <a:pt x="15479" y="6036"/>
                    <a:pt x="16133" y="4920"/>
                  </a:cubicBezTo>
                  <a:cubicBezTo>
                    <a:pt x="17614" y="2393"/>
                    <a:pt x="19988" y="998"/>
                    <a:pt x="22800" y="1002"/>
                  </a:cubicBezTo>
                  <a:cubicBezTo>
                    <a:pt x="24818" y="1005"/>
                    <a:pt x="26345" y="1525"/>
                    <a:pt x="27760" y="2692"/>
                  </a:cubicBezTo>
                  <a:cubicBezTo>
                    <a:pt x="29270" y="3938"/>
                    <a:pt x="30164" y="5604"/>
                    <a:pt x="30478" y="7757"/>
                  </a:cubicBezTo>
                  <a:cubicBezTo>
                    <a:pt x="30947" y="10972"/>
                    <a:pt x="29098" y="14589"/>
                    <a:pt x="26242" y="16047"/>
                  </a:cubicBezTo>
                  <a:cubicBezTo>
                    <a:pt x="24536" y="16917"/>
                    <a:pt x="21564" y="17160"/>
                    <a:pt x="19962" y="16560"/>
                  </a:cubicBezTo>
                  <a:close/>
                  <a:moveTo>
                    <a:pt x="45578" y="11261"/>
                  </a:moveTo>
                  <a:cubicBezTo>
                    <a:pt x="44838" y="9674"/>
                    <a:pt x="44838" y="6993"/>
                    <a:pt x="45578" y="5406"/>
                  </a:cubicBezTo>
                  <a:lnTo>
                    <a:pt x="46155" y="4167"/>
                  </a:lnTo>
                  <a:lnTo>
                    <a:pt x="46260" y="6250"/>
                  </a:lnTo>
                  <a:cubicBezTo>
                    <a:pt x="46318" y="7396"/>
                    <a:pt x="46318" y="9271"/>
                    <a:pt x="46260" y="10417"/>
                  </a:cubicBezTo>
                  <a:lnTo>
                    <a:pt x="46155" y="12500"/>
                  </a:lnTo>
                  <a:lnTo>
                    <a:pt x="45578" y="11261"/>
                  </a:lnTo>
                  <a:close/>
                </a:path>
              </a:pathLst>
            </a:custGeom>
            <a:solidFill>
              <a:srgbClr val="555555"/>
            </a:solidFill>
            <a:ln w="0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38" name="Rain perturbation" descr="Rain perturbation"/>
            <p:cNvSpPr/>
            <p:nvPr/>
          </p:nvSpPr>
          <p:spPr>
            <a:xfrm>
              <a:off x="6616700" y="2343150"/>
              <a:ext cx="346075" cy="390525"/>
            </a:xfrm>
            <a:custGeom>
              <a:avLst/>
              <a:gdLst/>
              <a:ahLst/>
              <a:cxnLst/>
              <a:rect l="0" t="0" r="r" b="b"/>
              <a:pathLst>
                <a:path w="36333" h="41000" stroke="0" extrusionOk="0">
                  <a:moveTo>
                    <a:pt x="15215" y="39183"/>
                  </a:moveTo>
                  <a:cubicBezTo>
                    <a:pt x="14575" y="38589"/>
                    <a:pt x="14333" y="38035"/>
                    <a:pt x="14333" y="37161"/>
                  </a:cubicBezTo>
                  <a:cubicBezTo>
                    <a:pt x="14333" y="36498"/>
                    <a:pt x="14498" y="35629"/>
                    <a:pt x="14700" y="35228"/>
                  </a:cubicBezTo>
                  <a:cubicBezTo>
                    <a:pt x="15191" y="34255"/>
                    <a:pt x="19019" y="30667"/>
                    <a:pt x="19567" y="30667"/>
                  </a:cubicBezTo>
                  <a:cubicBezTo>
                    <a:pt x="19895" y="30667"/>
                    <a:pt x="20000" y="31524"/>
                    <a:pt x="20000" y="34200"/>
                  </a:cubicBezTo>
                  <a:lnTo>
                    <a:pt x="20000" y="37733"/>
                  </a:lnTo>
                  <a:lnTo>
                    <a:pt x="18867" y="38867"/>
                  </a:lnTo>
                  <a:cubicBezTo>
                    <a:pt x="18194" y="39540"/>
                    <a:pt x="17401" y="40000"/>
                    <a:pt x="16915" y="40000"/>
                  </a:cubicBezTo>
                  <a:cubicBezTo>
                    <a:pt x="16465" y="40000"/>
                    <a:pt x="15700" y="39632"/>
                    <a:pt x="15215" y="39183"/>
                  </a:cubicBezTo>
                  <a:close/>
                  <a:moveTo>
                    <a:pt x="7215" y="33849"/>
                  </a:moveTo>
                  <a:cubicBezTo>
                    <a:pt x="6032" y="32753"/>
                    <a:pt x="6053" y="31238"/>
                    <a:pt x="7277" y="29315"/>
                  </a:cubicBezTo>
                  <a:cubicBezTo>
                    <a:pt x="8536" y="27340"/>
                    <a:pt x="10962" y="25162"/>
                    <a:pt x="11409" y="25609"/>
                  </a:cubicBezTo>
                  <a:cubicBezTo>
                    <a:pt x="11594" y="25794"/>
                    <a:pt x="11787" y="27456"/>
                    <a:pt x="11838" y="29301"/>
                  </a:cubicBezTo>
                  <a:lnTo>
                    <a:pt x="11929" y="32656"/>
                  </a:lnTo>
                  <a:lnTo>
                    <a:pt x="10901" y="33662"/>
                  </a:lnTo>
                  <a:cubicBezTo>
                    <a:pt x="9640" y="34895"/>
                    <a:pt x="8411" y="34957"/>
                    <a:pt x="7215" y="33849"/>
                  </a:cubicBezTo>
                  <a:close/>
                  <a:moveTo>
                    <a:pt x="24588" y="34145"/>
                  </a:moveTo>
                  <a:cubicBezTo>
                    <a:pt x="23551" y="33583"/>
                    <a:pt x="23096" y="32276"/>
                    <a:pt x="23535" y="31129"/>
                  </a:cubicBezTo>
                  <a:cubicBezTo>
                    <a:pt x="23926" y="30111"/>
                    <a:pt x="27932" y="26000"/>
                    <a:pt x="28533" y="26000"/>
                  </a:cubicBezTo>
                  <a:cubicBezTo>
                    <a:pt x="29068" y="26000"/>
                    <a:pt x="29062" y="25957"/>
                    <a:pt x="29001" y="29481"/>
                  </a:cubicBezTo>
                  <a:cubicBezTo>
                    <a:pt x="28975" y="30938"/>
                    <a:pt x="28797" y="32438"/>
                    <a:pt x="28605" y="32815"/>
                  </a:cubicBezTo>
                  <a:cubicBezTo>
                    <a:pt x="28112" y="33782"/>
                    <a:pt x="26952" y="34653"/>
                    <a:pt x="26167" y="34646"/>
                  </a:cubicBezTo>
                  <a:cubicBezTo>
                    <a:pt x="25800" y="34643"/>
                    <a:pt x="25089" y="34417"/>
                    <a:pt x="24588" y="34145"/>
                  </a:cubicBezTo>
                  <a:close/>
                  <a:moveTo>
                    <a:pt x="5167" y="22376"/>
                  </a:moveTo>
                  <a:cubicBezTo>
                    <a:pt x="2504" y="21127"/>
                    <a:pt x="1000" y="18670"/>
                    <a:pt x="1000" y="15570"/>
                  </a:cubicBezTo>
                  <a:cubicBezTo>
                    <a:pt x="1000" y="13152"/>
                    <a:pt x="2343" y="10511"/>
                    <a:pt x="4240" y="9196"/>
                  </a:cubicBezTo>
                  <a:cubicBezTo>
                    <a:pt x="5326" y="8443"/>
                    <a:pt x="6154" y="8178"/>
                    <a:pt x="7884" y="8028"/>
                  </a:cubicBezTo>
                  <a:lnTo>
                    <a:pt x="10123" y="7833"/>
                  </a:lnTo>
                  <a:lnTo>
                    <a:pt x="11092" y="6167"/>
                  </a:lnTo>
                  <a:cubicBezTo>
                    <a:pt x="12419" y="3883"/>
                    <a:pt x="13504" y="2808"/>
                    <a:pt x="15463" y="1831"/>
                  </a:cubicBezTo>
                  <a:cubicBezTo>
                    <a:pt x="16734" y="1198"/>
                    <a:pt x="17651" y="1001"/>
                    <a:pt x="19315" y="1003"/>
                  </a:cubicBezTo>
                  <a:cubicBezTo>
                    <a:pt x="22999" y="1009"/>
                    <a:pt x="25920" y="2851"/>
                    <a:pt x="27757" y="6325"/>
                  </a:cubicBezTo>
                  <a:cubicBezTo>
                    <a:pt x="28393" y="7529"/>
                    <a:pt x="28804" y="7892"/>
                    <a:pt x="29884" y="8205"/>
                  </a:cubicBezTo>
                  <a:cubicBezTo>
                    <a:pt x="33068" y="9126"/>
                    <a:pt x="34660" y="10609"/>
                    <a:pt x="35498" y="13432"/>
                  </a:cubicBezTo>
                  <a:cubicBezTo>
                    <a:pt x="35908" y="14812"/>
                    <a:pt x="35941" y="15505"/>
                    <a:pt x="35658" y="16832"/>
                  </a:cubicBezTo>
                  <a:cubicBezTo>
                    <a:pt x="35189" y="19037"/>
                    <a:pt x="33812" y="20975"/>
                    <a:pt x="31985" y="22000"/>
                  </a:cubicBezTo>
                  <a:lnTo>
                    <a:pt x="30500" y="22833"/>
                  </a:lnTo>
                  <a:lnTo>
                    <a:pt x="18500" y="22918"/>
                  </a:lnTo>
                  <a:cubicBezTo>
                    <a:pt x="7356" y="22996"/>
                    <a:pt x="6405" y="22957"/>
                    <a:pt x="5167" y="22376"/>
                  </a:cubicBezTo>
                  <a:close/>
                </a:path>
              </a:pathLst>
            </a:custGeom>
            <a:solidFill>
              <a:srgbClr val="555555"/>
            </a:solidFill>
            <a:ln w="0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39" name="Perturbed home" descr="Perturbed home"/>
            <p:cNvSpPr/>
            <p:nvPr/>
          </p:nvSpPr>
          <p:spPr>
            <a:xfrm>
              <a:off x="7045325" y="2619375"/>
              <a:ext cx="339725" cy="349250"/>
            </a:xfrm>
            <a:custGeom>
              <a:avLst/>
              <a:gdLst/>
              <a:ahLst/>
              <a:cxnLst/>
              <a:rect l="0" t="0" r="r" b="b"/>
              <a:pathLst>
                <a:path w="35667" h="36667" stroke="0" extrusionOk="0">
                  <a:moveTo>
                    <a:pt x="25000" y="35358"/>
                  </a:moveTo>
                  <a:lnTo>
                    <a:pt x="21833" y="35167"/>
                  </a:lnTo>
                  <a:lnTo>
                    <a:pt x="21667" y="29333"/>
                  </a:lnTo>
                  <a:lnTo>
                    <a:pt x="21500" y="23500"/>
                  </a:lnTo>
                  <a:lnTo>
                    <a:pt x="18000" y="23500"/>
                  </a:lnTo>
                  <a:lnTo>
                    <a:pt x="14500" y="23500"/>
                  </a:lnTo>
                  <a:lnTo>
                    <a:pt x="14333" y="29333"/>
                  </a:lnTo>
                  <a:lnTo>
                    <a:pt x="14167" y="35167"/>
                  </a:lnTo>
                  <a:lnTo>
                    <a:pt x="10132" y="35260"/>
                  </a:lnTo>
                  <a:cubicBezTo>
                    <a:pt x="6974" y="35333"/>
                    <a:pt x="6013" y="35251"/>
                    <a:pt x="5707" y="34881"/>
                  </a:cubicBezTo>
                  <a:cubicBezTo>
                    <a:pt x="5440" y="34561"/>
                    <a:pt x="5277" y="31971"/>
                    <a:pt x="5195" y="26788"/>
                  </a:cubicBezTo>
                  <a:cubicBezTo>
                    <a:pt x="5129" y="22596"/>
                    <a:pt x="5059" y="19137"/>
                    <a:pt x="5038" y="19100"/>
                  </a:cubicBezTo>
                  <a:cubicBezTo>
                    <a:pt x="5017" y="19063"/>
                    <a:pt x="4138" y="18988"/>
                    <a:pt x="3083" y="18933"/>
                  </a:cubicBezTo>
                  <a:cubicBezTo>
                    <a:pt x="-234" y="18760"/>
                    <a:pt x="-53" y="18464"/>
                    <a:pt x="9022" y="9213"/>
                  </a:cubicBezTo>
                  <a:cubicBezTo>
                    <a:pt x="14020" y="4118"/>
                    <a:pt x="17322" y="1000"/>
                    <a:pt x="17720" y="1000"/>
                  </a:cubicBezTo>
                  <a:cubicBezTo>
                    <a:pt x="18078" y="1000"/>
                    <a:pt x="19636" y="2257"/>
                    <a:pt x="21245" y="3844"/>
                  </a:cubicBezTo>
                  <a:cubicBezTo>
                    <a:pt x="24254" y="6813"/>
                    <a:pt x="25262" y="7227"/>
                    <a:pt x="24885" y="5341"/>
                  </a:cubicBezTo>
                  <a:cubicBezTo>
                    <a:pt x="24599" y="3912"/>
                    <a:pt x="25340" y="3333"/>
                    <a:pt x="27457" y="3333"/>
                  </a:cubicBezTo>
                  <a:cubicBezTo>
                    <a:pt x="28416" y="3333"/>
                    <a:pt x="29380" y="3513"/>
                    <a:pt x="29600" y="3733"/>
                  </a:cubicBezTo>
                  <a:cubicBezTo>
                    <a:pt x="29870" y="4003"/>
                    <a:pt x="30000" y="5532"/>
                    <a:pt x="30000" y="8425"/>
                  </a:cubicBezTo>
                  <a:lnTo>
                    <a:pt x="30000" y="12717"/>
                  </a:lnTo>
                  <a:lnTo>
                    <a:pt x="32333" y="15069"/>
                  </a:lnTo>
                  <a:cubicBezTo>
                    <a:pt x="33617" y="16363"/>
                    <a:pt x="34664" y="17514"/>
                    <a:pt x="34662" y="17627"/>
                  </a:cubicBezTo>
                  <a:cubicBezTo>
                    <a:pt x="34644" y="18330"/>
                    <a:pt x="33839" y="18821"/>
                    <a:pt x="32440" y="18982"/>
                  </a:cubicBezTo>
                  <a:lnTo>
                    <a:pt x="30833" y="19167"/>
                  </a:lnTo>
                  <a:lnTo>
                    <a:pt x="30744" y="26881"/>
                  </a:lnTo>
                  <a:cubicBezTo>
                    <a:pt x="30679" y="32511"/>
                    <a:pt x="30543" y="34688"/>
                    <a:pt x="30242" y="34937"/>
                  </a:cubicBezTo>
                  <a:cubicBezTo>
                    <a:pt x="29599" y="35471"/>
                    <a:pt x="28422" y="35565"/>
                    <a:pt x="25000" y="35358"/>
                  </a:cubicBezTo>
                  <a:close/>
                </a:path>
              </a:pathLst>
            </a:custGeom>
            <a:solidFill>
              <a:srgbClr val="555555"/>
            </a:solidFill>
            <a:ln w="0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40" name="Perturbed destination" descr="Perturbed destination"/>
            <p:cNvSpPr/>
            <p:nvPr/>
          </p:nvSpPr>
          <p:spPr>
            <a:xfrm>
              <a:off x="7524750" y="2603500"/>
              <a:ext cx="263525" cy="377825"/>
            </a:xfrm>
            <a:custGeom>
              <a:avLst/>
              <a:gdLst/>
              <a:ahLst/>
              <a:cxnLst/>
              <a:rect l="0" t="0" r="r" b="b"/>
              <a:pathLst>
                <a:path w="27667" h="39667" stroke="0" extrusionOk="0">
                  <a:moveTo>
                    <a:pt x="13461" y="38395"/>
                  </a:moveTo>
                  <a:cubicBezTo>
                    <a:pt x="12841" y="37980"/>
                    <a:pt x="5552" y="25901"/>
                    <a:pt x="3769" y="22333"/>
                  </a:cubicBezTo>
                  <a:cubicBezTo>
                    <a:pt x="2794" y="20382"/>
                    <a:pt x="1775" y="17744"/>
                    <a:pt x="1467" y="16373"/>
                  </a:cubicBezTo>
                  <a:cubicBezTo>
                    <a:pt x="1000" y="14296"/>
                    <a:pt x="977" y="13620"/>
                    <a:pt x="1319" y="12039"/>
                  </a:cubicBezTo>
                  <a:cubicBezTo>
                    <a:pt x="1838" y="9646"/>
                    <a:pt x="3045" y="6960"/>
                    <a:pt x="4335" y="5332"/>
                  </a:cubicBezTo>
                  <a:cubicBezTo>
                    <a:pt x="5671" y="3644"/>
                    <a:pt x="7972" y="2153"/>
                    <a:pt x="10288" y="1475"/>
                  </a:cubicBezTo>
                  <a:cubicBezTo>
                    <a:pt x="12897" y="710"/>
                    <a:pt x="16674" y="983"/>
                    <a:pt x="19144" y="2113"/>
                  </a:cubicBezTo>
                  <a:cubicBezTo>
                    <a:pt x="20159" y="2578"/>
                    <a:pt x="21714" y="3682"/>
                    <a:pt x="22599" y="4567"/>
                  </a:cubicBezTo>
                  <a:cubicBezTo>
                    <a:pt x="24513" y="6481"/>
                    <a:pt x="25877" y="9119"/>
                    <a:pt x="26396" y="11912"/>
                  </a:cubicBezTo>
                  <a:cubicBezTo>
                    <a:pt x="26712" y="13610"/>
                    <a:pt x="26682" y="14328"/>
                    <a:pt x="26218" y="16225"/>
                  </a:cubicBezTo>
                  <a:cubicBezTo>
                    <a:pt x="25911" y="17476"/>
                    <a:pt x="24771" y="20300"/>
                    <a:pt x="23684" y="22500"/>
                  </a:cubicBezTo>
                  <a:cubicBezTo>
                    <a:pt x="21428" y="27065"/>
                    <a:pt x="14941" y="37987"/>
                    <a:pt x="14258" y="38369"/>
                  </a:cubicBezTo>
                  <a:cubicBezTo>
                    <a:pt x="14008" y="38509"/>
                    <a:pt x="13649" y="38521"/>
                    <a:pt x="13461" y="38395"/>
                  </a:cubicBezTo>
                  <a:close/>
                  <a:moveTo>
                    <a:pt x="16337" y="17917"/>
                  </a:moveTo>
                  <a:cubicBezTo>
                    <a:pt x="18020" y="16771"/>
                    <a:pt x="18764" y="15561"/>
                    <a:pt x="18801" y="13911"/>
                  </a:cubicBezTo>
                  <a:cubicBezTo>
                    <a:pt x="18841" y="12101"/>
                    <a:pt x="17730" y="10346"/>
                    <a:pt x="15890" y="9312"/>
                  </a:cubicBezTo>
                  <a:cubicBezTo>
                    <a:pt x="14938" y="8776"/>
                    <a:pt x="14259" y="8634"/>
                    <a:pt x="13288" y="8764"/>
                  </a:cubicBezTo>
                  <a:cubicBezTo>
                    <a:pt x="11727" y="8973"/>
                    <a:pt x="9874" y="10298"/>
                    <a:pt x="9130" y="11738"/>
                  </a:cubicBezTo>
                  <a:cubicBezTo>
                    <a:pt x="8051" y="13824"/>
                    <a:pt x="9199" y="16718"/>
                    <a:pt x="11610" y="17991"/>
                  </a:cubicBezTo>
                  <a:cubicBezTo>
                    <a:pt x="13265" y="18865"/>
                    <a:pt x="14982" y="18838"/>
                    <a:pt x="16337" y="17917"/>
                  </a:cubicBezTo>
                  <a:close/>
                </a:path>
              </a:pathLst>
            </a:custGeom>
            <a:solidFill>
              <a:srgbClr val="555555"/>
            </a:solidFill>
            <a:ln w="0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41" name="Perturbed time" descr="Perturbed time"/>
            <p:cNvSpPr/>
            <p:nvPr/>
          </p:nvSpPr>
          <p:spPr>
            <a:xfrm>
              <a:off x="7934325" y="2625725"/>
              <a:ext cx="381000" cy="381000"/>
            </a:xfrm>
            <a:custGeom>
              <a:avLst/>
              <a:gdLst/>
              <a:ahLst/>
              <a:cxnLst/>
              <a:rect l="0" t="0" r="r" b="b"/>
              <a:pathLst>
                <a:path w="40000" h="40000" stroke="0" extrusionOk="0">
                  <a:moveTo>
                    <a:pt x="16721" y="38500"/>
                  </a:moveTo>
                  <a:cubicBezTo>
                    <a:pt x="12800" y="37897"/>
                    <a:pt x="9527" y="36217"/>
                    <a:pt x="6629" y="33319"/>
                  </a:cubicBezTo>
                  <a:cubicBezTo>
                    <a:pt x="4054" y="30743"/>
                    <a:pt x="2598" y="28143"/>
                    <a:pt x="1644" y="24411"/>
                  </a:cubicBezTo>
                  <a:cubicBezTo>
                    <a:pt x="872" y="21395"/>
                    <a:pt x="842" y="19882"/>
                    <a:pt x="1487" y="16513"/>
                  </a:cubicBezTo>
                  <a:cubicBezTo>
                    <a:pt x="2234" y="12609"/>
                    <a:pt x="3696" y="9946"/>
                    <a:pt x="6819" y="6798"/>
                  </a:cubicBezTo>
                  <a:cubicBezTo>
                    <a:pt x="8885" y="4715"/>
                    <a:pt x="10085" y="3816"/>
                    <a:pt x="12052" y="2873"/>
                  </a:cubicBezTo>
                  <a:cubicBezTo>
                    <a:pt x="16506" y="739"/>
                    <a:pt x="21984" y="548"/>
                    <a:pt x="26821" y="2357"/>
                  </a:cubicBezTo>
                  <a:cubicBezTo>
                    <a:pt x="29405" y="3324"/>
                    <a:pt x="32367" y="5391"/>
                    <a:pt x="34345" y="7607"/>
                  </a:cubicBezTo>
                  <a:cubicBezTo>
                    <a:pt x="37725" y="11395"/>
                    <a:pt x="39293" y="16149"/>
                    <a:pt x="38889" y="21387"/>
                  </a:cubicBezTo>
                  <a:cubicBezTo>
                    <a:pt x="38529" y="26054"/>
                    <a:pt x="36755" y="29768"/>
                    <a:pt x="33123" y="33456"/>
                  </a:cubicBezTo>
                  <a:cubicBezTo>
                    <a:pt x="31999" y="34598"/>
                    <a:pt x="30182" y="36010"/>
                    <a:pt x="29085" y="36594"/>
                  </a:cubicBezTo>
                  <a:cubicBezTo>
                    <a:pt x="25450" y="38532"/>
                    <a:pt x="21196" y="39187"/>
                    <a:pt x="16721" y="38500"/>
                  </a:cubicBezTo>
                  <a:close/>
                  <a:moveTo>
                    <a:pt x="26012" y="33257"/>
                  </a:moveTo>
                  <a:cubicBezTo>
                    <a:pt x="29128" y="31752"/>
                    <a:pt x="32252" y="28773"/>
                    <a:pt x="33516" y="26102"/>
                  </a:cubicBezTo>
                  <a:cubicBezTo>
                    <a:pt x="34667" y="23670"/>
                    <a:pt x="35127" y="20364"/>
                    <a:pt x="34691" y="17658"/>
                  </a:cubicBezTo>
                  <a:cubicBezTo>
                    <a:pt x="34021" y="13497"/>
                    <a:pt x="31324" y="9333"/>
                    <a:pt x="28060" y="7420"/>
                  </a:cubicBezTo>
                  <a:cubicBezTo>
                    <a:pt x="26055" y="6245"/>
                    <a:pt x="22607" y="5333"/>
                    <a:pt x="20167" y="5333"/>
                  </a:cubicBezTo>
                  <a:cubicBezTo>
                    <a:pt x="17716" y="5333"/>
                    <a:pt x="14276" y="6246"/>
                    <a:pt x="12248" y="7435"/>
                  </a:cubicBezTo>
                  <a:cubicBezTo>
                    <a:pt x="11421" y="7920"/>
                    <a:pt x="10058" y="9079"/>
                    <a:pt x="9220" y="10011"/>
                  </a:cubicBezTo>
                  <a:cubicBezTo>
                    <a:pt x="5550" y="14093"/>
                    <a:pt x="4461" y="19724"/>
                    <a:pt x="6304" y="25083"/>
                  </a:cubicBezTo>
                  <a:cubicBezTo>
                    <a:pt x="7778" y="29366"/>
                    <a:pt x="10698" y="32232"/>
                    <a:pt x="15276" y="33887"/>
                  </a:cubicBezTo>
                  <a:cubicBezTo>
                    <a:pt x="17141" y="34561"/>
                    <a:pt x="17984" y="34673"/>
                    <a:pt x="20500" y="34580"/>
                  </a:cubicBezTo>
                  <a:cubicBezTo>
                    <a:pt x="23144" y="34482"/>
                    <a:pt x="23798" y="34325"/>
                    <a:pt x="26012" y="33257"/>
                  </a:cubicBezTo>
                  <a:close/>
                  <a:moveTo>
                    <a:pt x="23833" y="24633"/>
                  </a:moveTo>
                  <a:cubicBezTo>
                    <a:pt x="23283" y="24265"/>
                    <a:pt x="21824" y="23447"/>
                    <a:pt x="20589" y="22814"/>
                  </a:cubicBezTo>
                  <a:cubicBezTo>
                    <a:pt x="19067" y="22034"/>
                    <a:pt x="18286" y="21423"/>
                    <a:pt x="18161" y="20916"/>
                  </a:cubicBezTo>
                  <a:cubicBezTo>
                    <a:pt x="18059" y="20504"/>
                    <a:pt x="18019" y="17767"/>
                    <a:pt x="18071" y="14833"/>
                  </a:cubicBezTo>
                  <a:lnTo>
                    <a:pt x="18167" y="9500"/>
                  </a:lnTo>
                  <a:lnTo>
                    <a:pt x="19608" y="9396"/>
                  </a:lnTo>
                  <a:cubicBezTo>
                    <a:pt x="20401" y="9339"/>
                    <a:pt x="21263" y="9470"/>
                    <a:pt x="21525" y="9687"/>
                  </a:cubicBezTo>
                  <a:cubicBezTo>
                    <a:pt x="21888" y="9989"/>
                    <a:pt x="22001" y="11035"/>
                    <a:pt x="22005" y="14124"/>
                  </a:cubicBezTo>
                  <a:cubicBezTo>
                    <a:pt x="22008" y="16348"/>
                    <a:pt x="22145" y="18379"/>
                    <a:pt x="22309" y="18639"/>
                  </a:cubicBezTo>
                  <a:cubicBezTo>
                    <a:pt x="22473" y="18898"/>
                    <a:pt x="23634" y="19674"/>
                    <a:pt x="24887" y="20363"/>
                  </a:cubicBezTo>
                  <a:cubicBezTo>
                    <a:pt x="26141" y="21052"/>
                    <a:pt x="27317" y="21853"/>
                    <a:pt x="27500" y="22145"/>
                  </a:cubicBezTo>
                  <a:cubicBezTo>
                    <a:pt x="27741" y="22528"/>
                    <a:pt x="27649" y="23019"/>
                    <a:pt x="27167" y="23920"/>
                  </a:cubicBezTo>
                  <a:cubicBezTo>
                    <a:pt x="26373" y="25404"/>
                    <a:pt x="25324" y="25628"/>
                    <a:pt x="23833" y="24633"/>
                  </a:cubicBezTo>
                  <a:close/>
                </a:path>
              </a:pathLst>
            </a:custGeom>
            <a:solidFill>
              <a:srgbClr val="555555"/>
            </a:solidFill>
            <a:ln w="0" cap="rnd" cmpd="sng" algn="ctr">
              <a:solidFill>
                <a:srgbClr val="555555"/>
              </a:solidFill>
              <a:round/>
            </a:ln>
            <a:effectLst/>
          </p:spPr>
        </p:sp>
        <p:sp>
          <p:nvSpPr>
            <p:cNvPr id="52" name="Paired states heading / line 1"/>
            <p:cNvSpPr txBox="1"/>
            <p:nvPr/>
          </p:nvSpPr>
          <p:spPr>
            <a:xfrm>
              <a:off x="4186299" y="1071825"/>
              <a:ext cx="2981325" cy="48075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Paired traveler states</a:t>
              </a:r>
            </a:p>
          </p:txBody>
        </p:sp>
        <p:sp>
          <p:nvSpPr>
            <p:cNvPr id="53" name="Baseline heading / line 1"/>
            <p:cNvSpPr txBox="1"/>
            <p:nvPr/>
          </p:nvSpPr>
          <p:spPr>
            <a:xfrm>
              <a:off x="2965085" y="1687034"/>
              <a:ext cx="1181100" cy="303971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i="0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Baseline state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Baseline x" descr="$x$"/>
                <p:cNvSpPr txBox="1"/>
                <p:nvPr/>
              </p:nvSpPr>
              <p:spPr>
                <a:xfrm>
                  <a:off x="2984500" y="1828800"/>
                  <a:ext cx="952500" cy="431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sz="3000">
                      <a:solidFill>
                        <a:srgbClr val="102451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sz="300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sz="3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4" name="Baseline x" descr="$x$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4500" y="1828800"/>
                  <a:ext cx="952500" cy="4318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Baseline description / line 1"/>
            <p:cNvSpPr txBox="1"/>
            <p:nvPr/>
          </p:nvSpPr>
          <p:spPr>
            <a:xfrm>
              <a:off x="2346325" y="3294862"/>
              <a:ext cx="2133600" cy="24914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(traveler, activities, time, context)</a:t>
              </a:r>
            </a:p>
          </p:txBody>
        </p:sp>
        <p:sp>
          <p:nvSpPr>
            <p:cNvPr id="56" name="Perturbed heading / line 1"/>
            <p:cNvSpPr txBox="1"/>
            <p:nvPr/>
          </p:nvSpPr>
          <p:spPr>
            <a:xfrm>
              <a:off x="6642247" y="1686737"/>
              <a:ext cx="1352550" cy="30610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1" i="0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Perturbed state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Perturbed x prime — x" descr="$x$"/>
                <p:cNvSpPr txBox="1"/>
                <p:nvPr/>
              </p:nvSpPr>
              <p:spPr>
                <a:xfrm>
                  <a:off x="6743700" y="1828800"/>
                  <a:ext cx="952500" cy="431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sz="3000">
                      <a:solidFill>
                        <a:srgbClr val="102451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sz="300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sz="300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sz="300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sz="3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7" name="Perturbed x prime — x" descr="$x$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3700" y="1828800"/>
                  <a:ext cx="952500" cy="4318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Perturbed description / line 1"/>
            <p:cNvSpPr txBox="1"/>
            <p:nvPr/>
          </p:nvSpPr>
          <p:spPr>
            <a:xfrm>
              <a:off x="6585455" y="3284138"/>
              <a:ext cx="1447800" cy="257764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(modified conditions)</a:t>
              </a:r>
            </a:p>
          </p:txBody>
        </p:sp>
        <p:sp>
          <p:nvSpPr>
            <p:cNvPr id="60" name="Scenario label / line 1"/>
            <p:cNvSpPr txBox="1"/>
            <p:nvPr/>
          </p:nvSpPr>
          <p:spPr>
            <a:xfrm>
              <a:off x="5040260" y="1660602"/>
              <a:ext cx="695325" cy="288571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Scenario</a:t>
              </a:r>
            </a:p>
          </p:txBody>
        </p:sp>
        <p:sp>
          <p:nvSpPr>
            <p:cNvPr id="61" name="Scenario label / line 2"/>
            <p:cNvSpPr txBox="1"/>
            <p:nvPr/>
          </p:nvSpPr>
          <p:spPr>
            <a:xfrm>
              <a:off x="4898107" y="1888306"/>
              <a:ext cx="971550" cy="29500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4" b="0" i="0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perturbation</a:t>
              </a:r>
            </a:p>
          </p:txBody>
        </p:sp>
        <p:sp>
          <p:nvSpPr>
            <p:cNvPr id="62" name="Scenario examples / line 1"/>
            <p:cNvSpPr txBox="1"/>
            <p:nvPr/>
          </p:nvSpPr>
          <p:spPr>
            <a:xfrm>
              <a:off x="4784450" y="2579014"/>
              <a:ext cx="1200150" cy="25973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1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Scenario changes</a:t>
              </a:r>
            </a:p>
          </p:txBody>
        </p:sp>
        <p:sp>
          <p:nvSpPr>
            <p:cNvPr id="63" name="Scenario examples / line 2"/>
            <p:cNvSpPr txBox="1"/>
            <p:nvPr/>
          </p:nvSpPr>
          <p:spPr>
            <a:xfrm>
              <a:off x="4727617" y="2788639"/>
              <a:ext cx="1304925" cy="259191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1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such as delay, rain,</a:t>
              </a:r>
            </a:p>
          </p:txBody>
        </p:sp>
        <p:sp>
          <p:nvSpPr>
            <p:cNvPr id="64" name="Scenario examples / line 3"/>
            <p:cNvSpPr txBox="1"/>
            <p:nvPr/>
          </p:nvSpPr>
          <p:spPr>
            <a:xfrm>
              <a:off x="4841446" y="2987825"/>
              <a:ext cx="1095375" cy="265226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1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accessibility, or</a:t>
              </a:r>
            </a:p>
          </p:txBody>
        </p:sp>
        <p:sp>
          <p:nvSpPr>
            <p:cNvPr id="65" name="Scenario examples / line 4"/>
            <p:cNvSpPr txBox="1"/>
            <p:nvPr/>
          </p:nvSpPr>
          <p:spPr>
            <a:xfrm>
              <a:off x="4983438" y="3207302"/>
              <a:ext cx="790575" cy="262332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1" dirty="0">
                  <a:solidFill>
                    <a:srgbClr val="4444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roadworks.</a:t>
              </a:r>
            </a:p>
          </p:txBody>
        </p:sp>
      </p:grpSp>
      <p:grpSp>
        <p:nvGrpSpPr>
          <p:cNvPr id="6" name="02 Teacher supervision"/>
          <p:cNvGrpSpPr/>
          <p:nvPr/>
        </p:nvGrpSpPr>
        <p:grpSpPr>
          <a:xfrm>
            <a:off x="266700" y="4089718"/>
            <a:ext cx="3202305" cy="4681538"/>
            <a:chOff x="266700" y="4216718"/>
            <a:chExt cx="3202305" cy="4681538"/>
          </a:xfrm>
          <a:effectLst/>
        </p:grpSpPr>
        <p:sp>
          <p:nvSpPr>
            <p:cNvPr id="7" name="Teacher supervision — panel" descr="Teacher supervision — panel"/>
            <p:cNvSpPr/>
            <p:nvPr/>
          </p:nvSpPr>
          <p:spPr>
            <a:xfrm>
              <a:off x="266700" y="4216718"/>
              <a:ext cx="3202305" cy="4681538"/>
            </a:xfrm>
            <a:custGeom>
              <a:avLst/>
              <a:gdLst/>
              <a:ahLst/>
              <a:cxnLst/>
              <a:rect l="0" t="0" r="r" b="b"/>
              <a:pathLst>
                <a:path w="336200" h="491500" extrusionOk="0">
                  <a:moveTo>
                    <a:pt x="36000" y="0"/>
                  </a:moveTo>
                  <a:lnTo>
                    <a:pt x="300200" y="0"/>
                  </a:lnTo>
                  <a:cubicBezTo>
                    <a:pt x="320082" y="0"/>
                    <a:pt x="336200" y="16118"/>
                    <a:pt x="336200" y="36000"/>
                  </a:cubicBezTo>
                  <a:lnTo>
                    <a:pt x="336200" y="455500"/>
                  </a:lnTo>
                  <a:cubicBezTo>
                    <a:pt x="336200" y="475382"/>
                    <a:pt x="320082" y="491500"/>
                    <a:pt x="300200" y="491500"/>
                  </a:cubicBezTo>
                  <a:lnTo>
                    <a:pt x="36000" y="491500"/>
                  </a:lnTo>
                  <a:cubicBezTo>
                    <a:pt x="16118" y="491500"/>
                    <a:pt x="0" y="475382"/>
                    <a:pt x="0" y="455500"/>
                  </a:cubicBezTo>
                  <a:lnTo>
                    <a:pt x="0" y="36000"/>
                  </a:lnTo>
                  <a:cubicBezTo>
                    <a:pt x="0" y="16118"/>
                    <a:pt x="16118" y="0"/>
                    <a:pt x="3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1F3FE"/>
                </a:gs>
                <a:gs pos="50000">
                  <a:srgbClr val="E3F4FF"/>
                </a:gs>
                <a:gs pos="100000">
                  <a:srgbClr val="E0F2FE"/>
                </a:gs>
              </a:gsLst>
              <a:lin ang="5400000" scaled="1"/>
              <a:tileRect/>
            </a:gradFill>
            <a:ln w="28575" cap="rnd" cmpd="sng" algn="ctr">
              <a:solidFill>
                <a:srgbClr val="118FDF"/>
              </a:solidFill>
              <a:round/>
            </a:ln>
            <a:effectLst/>
          </p:spPr>
        </p:sp>
        <p:sp>
          <p:nvSpPr>
            <p:cNvPr id="8" name="Teacher targets — inset" descr="Teacher targets — inset"/>
            <p:cNvSpPr/>
            <p:nvPr/>
          </p:nvSpPr>
          <p:spPr>
            <a:xfrm>
              <a:off x="433388" y="5973128"/>
              <a:ext cx="2847975" cy="1804035"/>
            </a:xfrm>
            <a:custGeom>
              <a:avLst/>
              <a:gdLst/>
              <a:ahLst/>
              <a:cxnLst/>
              <a:rect l="0" t="0" r="r" b="b"/>
              <a:pathLst>
                <a:path w="299000" h="189400" extrusionOk="0">
                  <a:moveTo>
                    <a:pt x="14000" y="0"/>
                  </a:moveTo>
                  <a:lnTo>
                    <a:pt x="285000" y="0"/>
                  </a:lnTo>
                  <a:cubicBezTo>
                    <a:pt x="292732" y="0"/>
                    <a:pt x="299000" y="6268"/>
                    <a:pt x="299000" y="14000"/>
                  </a:cubicBezTo>
                  <a:lnTo>
                    <a:pt x="299000" y="175400"/>
                  </a:lnTo>
                  <a:cubicBezTo>
                    <a:pt x="299000" y="183132"/>
                    <a:pt x="292732" y="189400"/>
                    <a:pt x="285000" y="189400"/>
                  </a:cubicBezTo>
                  <a:lnTo>
                    <a:pt x="14000" y="189400"/>
                  </a:lnTo>
                  <a:cubicBezTo>
                    <a:pt x="6268" y="189400"/>
                    <a:pt x="0" y="183132"/>
                    <a:pt x="0" y="175400"/>
                  </a:cubicBezTo>
                  <a:lnTo>
                    <a:pt x="0" y="14000"/>
                  </a:lnTo>
                  <a:cubicBezTo>
                    <a:pt x="0" y="6268"/>
                    <a:pt x="6268" y="0"/>
                    <a:pt x="14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F9FE"/>
                </a:gs>
                <a:gs pos="100000">
                  <a:srgbClr val="F0F9FE"/>
                </a:gs>
              </a:gsLst>
              <a:lin ang="5400000" scaled="1"/>
              <a:tileRect/>
            </a:gradFill>
            <a:ln w="9525" cap="rnd" cmpd="sng" algn="ctr">
              <a:solidFill>
                <a:srgbClr val="409BDD"/>
              </a:solidFill>
              <a:round/>
            </a:ln>
            <a:effectLst/>
          </p:spPr>
        </p:sp>
        <p:sp>
          <p:nvSpPr>
            <p:cNvPr id="29" name="Teacher explanation divider" descr="Teacher explanation divider"/>
            <p:cNvSpPr/>
            <p:nvPr/>
          </p:nvSpPr>
          <p:spPr>
            <a:xfrm>
              <a:off x="457200" y="7913370"/>
              <a:ext cx="2800350" cy="95"/>
            </a:xfrm>
            <a:custGeom>
              <a:avLst/>
              <a:gdLst/>
              <a:ahLst/>
              <a:cxnLst/>
              <a:rect l="0" t="0" r="r" b="b"/>
              <a:pathLst>
                <a:path w="294000" h="10" fill="none" extrusionOk="0">
                  <a:moveTo>
                    <a:pt x="0" y="0"/>
                  </a:moveTo>
                  <a:lnTo>
                    <a:pt x="294000" y="0"/>
                  </a:lnTo>
                </a:path>
              </a:pathLst>
            </a:custGeom>
            <a:noFill/>
            <a:ln w="9525" cap="rnd" cmpd="sng" algn="ctr">
              <a:solidFill>
                <a:srgbClr val="59A9E7"/>
              </a:solidFill>
              <a:round/>
            </a:ln>
            <a:effectLst/>
          </p:spPr>
        </p:sp>
        <p:sp>
          <p:nvSpPr>
            <p:cNvPr id="42" name="Teacher illustration" descr="Teacher illustration"/>
            <p:cNvSpPr/>
            <p:nvPr/>
          </p:nvSpPr>
          <p:spPr>
            <a:xfrm>
              <a:off x="1016000" y="4981575"/>
              <a:ext cx="898525" cy="854075"/>
            </a:xfrm>
            <a:custGeom>
              <a:avLst/>
              <a:gdLst/>
              <a:ahLst/>
              <a:cxnLst/>
              <a:rect l="0" t="0" r="r" b="b"/>
              <a:pathLst>
                <a:path w="94333" h="89667" stroke="0" extrusionOk="0">
                  <a:moveTo>
                    <a:pt x="18667" y="88000"/>
                  </a:moveTo>
                  <a:cubicBezTo>
                    <a:pt x="18019" y="87352"/>
                    <a:pt x="18000" y="86889"/>
                    <a:pt x="18000" y="71656"/>
                  </a:cubicBezTo>
                  <a:cubicBezTo>
                    <a:pt x="18000" y="57686"/>
                    <a:pt x="17943" y="55957"/>
                    <a:pt x="17474" y="55777"/>
                  </a:cubicBezTo>
                  <a:cubicBezTo>
                    <a:pt x="17185" y="55666"/>
                    <a:pt x="16752" y="55784"/>
                    <a:pt x="16511" y="56038"/>
                  </a:cubicBezTo>
                  <a:cubicBezTo>
                    <a:pt x="16132" y="56439"/>
                    <a:pt x="15140" y="62703"/>
                    <a:pt x="14511" y="68667"/>
                  </a:cubicBezTo>
                  <a:cubicBezTo>
                    <a:pt x="14341" y="70275"/>
                    <a:pt x="13580" y="76084"/>
                    <a:pt x="13121" y="79270"/>
                  </a:cubicBezTo>
                  <a:cubicBezTo>
                    <a:pt x="12917" y="80690"/>
                    <a:pt x="10972" y="82848"/>
                    <a:pt x="9441" y="83353"/>
                  </a:cubicBezTo>
                  <a:cubicBezTo>
                    <a:pt x="8791" y="83567"/>
                    <a:pt x="7459" y="83677"/>
                    <a:pt x="6483" y="83596"/>
                  </a:cubicBezTo>
                  <a:cubicBezTo>
                    <a:pt x="4260" y="83411"/>
                    <a:pt x="2326" y="82193"/>
                    <a:pt x="1503" y="80459"/>
                  </a:cubicBezTo>
                  <a:cubicBezTo>
                    <a:pt x="853" y="79090"/>
                    <a:pt x="856" y="79026"/>
                    <a:pt x="2149" y="67833"/>
                  </a:cubicBezTo>
                  <a:cubicBezTo>
                    <a:pt x="2404" y="65633"/>
                    <a:pt x="2781" y="62258"/>
                    <a:pt x="2987" y="60333"/>
                  </a:cubicBezTo>
                  <a:cubicBezTo>
                    <a:pt x="3628" y="54364"/>
                    <a:pt x="4355" y="49919"/>
                    <a:pt x="5038" y="47792"/>
                  </a:cubicBezTo>
                  <a:cubicBezTo>
                    <a:pt x="6270" y="43954"/>
                    <a:pt x="9019" y="40203"/>
                    <a:pt x="12247" y="37956"/>
                  </a:cubicBezTo>
                  <a:cubicBezTo>
                    <a:pt x="14574" y="36336"/>
                    <a:pt x="17813" y="35290"/>
                    <a:pt x="22000" y="34806"/>
                  </a:cubicBezTo>
                  <a:cubicBezTo>
                    <a:pt x="27419" y="34179"/>
                    <a:pt x="43021" y="34187"/>
                    <a:pt x="46500" y="34818"/>
                  </a:cubicBezTo>
                  <a:cubicBezTo>
                    <a:pt x="50057" y="35463"/>
                    <a:pt x="50932" y="35747"/>
                    <a:pt x="53393" y="37056"/>
                  </a:cubicBezTo>
                  <a:cubicBezTo>
                    <a:pt x="56151" y="38522"/>
                    <a:pt x="58993" y="41345"/>
                    <a:pt x="60282" y="43898"/>
                  </a:cubicBezTo>
                  <a:cubicBezTo>
                    <a:pt x="60852" y="45028"/>
                    <a:pt x="62426" y="49272"/>
                    <a:pt x="63780" y="53330"/>
                  </a:cubicBezTo>
                  <a:cubicBezTo>
                    <a:pt x="65135" y="57389"/>
                    <a:pt x="66405" y="60872"/>
                    <a:pt x="66604" y="61071"/>
                  </a:cubicBezTo>
                  <a:cubicBezTo>
                    <a:pt x="66864" y="61331"/>
                    <a:pt x="67216" y="61255"/>
                    <a:pt x="67858" y="60800"/>
                  </a:cubicBezTo>
                  <a:cubicBezTo>
                    <a:pt x="71608" y="58138"/>
                    <a:pt x="78446" y="53993"/>
                    <a:pt x="79711" y="53614"/>
                  </a:cubicBezTo>
                  <a:cubicBezTo>
                    <a:pt x="80721" y="53311"/>
                    <a:pt x="81289" y="53322"/>
                    <a:pt x="82320" y="53662"/>
                  </a:cubicBezTo>
                  <a:lnTo>
                    <a:pt x="83638" y="54097"/>
                  </a:lnTo>
                  <a:lnTo>
                    <a:pt x="87181" y="50715"/>
                  </a:lnTo>
                  <a:cubicBezTo>
                    <a:pt x="89129" y="48855"/>
                    <a:pt x="90987" y="47333"/>
                    <a:pt x="91310" y="47333"/>
                  </a:cubicBezTo>
                  <a:cubicBezTo>
                    <a:pt x="91633" y="47333"/>
                    <a:pt x="92145" y="47608"/>
                    <a:pt x="92448" y="47943"/>
                  </a:cubicBezTo>
                  <a:cubicBezTo>
                    <a:pt x="93560" y="49172"/>
                    <a:pt x="93154" y="50000"/>
                    <a:pt x="89775" y="53392"/>
                  </a:cubicBezTo>
                  <a:lnTo>
                    <a:pt x="86550" y="56629"/>
                  </a:lnTo>
                  <a:lnTo>
                    <a:pt x="86942" y="57937"/>
                  </a:lnTo>
                  <a:cubicBezTo>
                    <a:pt x="87529" y="59898"/>
                    <a:pt x="87428" y="62340"/>
                    <a:pt x="86711" y="63517"/>
                  </a:cubicBezTo>
                  <a:cubicBezTo>
                    <a:pt x="86314" y="64168"/>
                    <a:pt x="83721" y="66087"/>
                    <a:pt x="79506" y="68850"/>
                  </a:cubicBezTo>
                  <a:cubicBezTo>
                    <a:pt x="75885" y="71224"/>
                    <a:pt x="72002" y="73806"/>
                    <a:pt x="70878" y="74587"/>
                  </a:cubicBezTo>
                  <a:cubicBezTo>
                    <a:pt x="67763" y="76751"/>
                    <a:pt x="66081" y="77458"/>
                    <a:pt x="64137" y="77420"/>
                  </a:cubicBezTo>
                  <a:cubicBezTo>
                    <a:pt x="63204" y="77402"/>
                    <a:pt x="61854" y="77142"/>
                    <a:pt x="61137" y="76843"/>
                  </a:cubicBezTo>
                  <a:cubicBezTo>
                    <a:pt x="59526" y="76171"/>
                    <a:pt x="57813" y="74563"/>
                    <a:pt x="56974" y="72936"/>
                  </a:cubicBezTo>
                  <a:cubicBezTo>
                    <a:pt x="56380" y="71783"/>
                    <a:pt x="54279" y="65532"/>
                    <a:pt x="52663" y="60110"/>
                  </a:cubicBezTo>
                  <a:cubicBezTo>
                    <a:pt x="52272" y="58795"/>
                    <a:pt x="51734" y="57636"/>
                    <a:pt x="51469" y="57534"/>
                  </a:cubicBezTo>
                  <a:cubicBezTo>
                    <a:pt x="51053" y="57375"/>
                    <a:pt x="50989" y="59321"/>
                    <a:pt x="51000" y="71758"/>
                  </a:cubicBezTo>
                  <a:cubicBezTo>
                    <a:pt x="51007" y="79683"/>
                    <a:pt x="51010" y="86493"/>
                    <a:pt x="51007" y="86893"/>
                  </a:cubicBezTo>
                  <a:cubicBezTo>
                    <a:pt x="51003" y="87292"/>
                    <a:pt x="50764" y="87855"/>
                    <a:pt x="50476" y="88143"/>
                  </a:cubicBezTo>
                  <a:cubicBezTo>
                    <a:pt x="50015" y="88604"/>
                    <a:pt x="48116" y="88667"/>
                    <a:pt x="34643" y="88667"/>
                  </a:cubicBezTo>
                  <a:cubicBezTo>
                    <a:pt x="19778" y="88667"/>
                    <a:pt x="19314" y="88647"/>
                    <a:pt x="18667" y="88000"/>
                  </a:cubicBezTo>
                  <a:close/>
                  <a:moveTo>
                    <a:pt x="72167" y="81280"/>
                  </a:moveTo>
                  <a:cubicBezTo>
                    <a:pt x="71270" y="80787"/>
                    <a:pt x="70350" y="79622"/>
                    <a:pt x="70341" y="78967"/>
                  </a:cubicBezTo>
                  <a:cubicBezTo>
                    <a:pt x="70330" y="78230"/>
                    <a:pt x="74136" y="74667"/>
                    <a:pt x="74935" y="74667"/>
                  </a:cubicBezTo>
                  <a:cubicBezTo>
                    <a:pt x="75292" y="74667"/>
                    <a:pt x="76124" y="74892"/>
                    <a:pt x="76782" y="75167"/>
                  </a:cubicBezTo>
                  <a:cubicBezTo>
                    <a:pt x="77735" y="75565"/>
                    <a:pt x="79641" y="75667"/>
                    <a:pt x="86156" y="75667"/>
                  </a:cubicBezTo>
                  <a:lnTo>
                    <a:pt x="94333" y="75667"/>
                  </a:lnTo>
                  <a:lnTo>
                    <a:pt x="94333" y="78667"/>
                  </a:lnTo>
                  <a:lnTo>
                    <a:pt x="94333" y="81667"/>
                  </a:lnTo>
                  <a:lnTo>
                    <a:pt x="83583" y="81657"/>
                  </a:lnTo>
                  <a:cubicBezTo>
                    <a:pt x="76411" y="81650"/>
                    <a:pt x="72611" y="81524"/>
                    <a:pt x="72167" y="81280"/>
                  </a:cubicBezTo>
                  <a:close/>
                  <a:moveTo>
                    <a:pt x="69040" y="52917"/>
                  </a:moveTo>
                  <a:cubicBezTo>
                    <a:pt x="68888" y="52504"/>
                    <a:pt x="68730" y="43700"/>
                    <a:pt x="68690" y="33351"/>
                  </a:cubicBezTo>
                  <a:lnTo>
                    <a:pt x="68616" y="14536"/>
                  </a:lnTo>
                  <a:lnTo>
                    <a:pt x="67808" y="13576"/>
                  </a:lnTo>
                  <a:cubicBezTo>
                    <a:pt x="67110" y="12746"/>
                    <a:pt x="67000" y="12275"/>
                    <a:pt x="67000" y="10115"/>
                  </a:cubicBezTo>
                  <a:cubicBezTo>
                    <a:pt x="67000" y="7797"/>
                    <a:pt x="67071" y="7545"/>
                    <a:pt x="67974" y="6641"/>
                  </a:cubicBezTo>
                  <a:lnTo>
                    <a:pt x="68949" y="5667"/>
                  </a:lnTo>
                  <a:lnTo>
                    <a:pt x="81641" y="5667"/>
                  </a:lnTo>
                  <a:lnTo>
                    <a:pt x="94333" y="5667"/>
                  </a:lnTo>
                  <a:lnTo>
                    <a:pt x="94333" y="10333"/>
                  </a:lnTo>
                  <a:lnTo>
                    <a:pt x="94333" y="15000"/>
                  </a:lnTo>
                  <a:lnTo>
                    <a:pt x="85020" y="15000"/>
                  </a:lnTo>
                  <a:cubicBezTo>
                    <a:pt x="78304" y="15000"/>
                    <a:pt x="75639" y="15108"/>
                    <a:pt x="75467" y="15387"/>
                  </a:cubicBezTo>
                  <a:cubicBezTo>
                    <a:pt x="75217" y="15791"/>
                    <a:pt x="75164" y="18860"/>
                    <a:pt x="75062" y="38904"/>
                  </a:cubicBezTo>
                  <a:lnTo>
                    <a:pt x="75000" y="50975"/>
                  </a:lnTo>
                  <a:lnTo>
                    <a:pt x="73018" y="52321"/>
                  </a:lnTo>
                  <a:cubicBezTo>
                    <a:pt x="70753" y="53859"/>
                    <a:pt x="69459" y="54053"/>
                    <a:pt x="69040" y="52917"/>
                  </a:cubicBezTo>
                  <a:close/>
                  <a:moveTo>
                    <a:pt x="30500" y="29374"/>
                  </a:moveTo>
                  <a:cubicBezTo>
                    <a:pt x="27853" y="28419"/>
                    <a:pt x="26660" y="27698"/>
                    <a:pt x="24777" y="25917"/>
                  </a:cubicBezTo>
                  <a:cubicBezTo>
                    <a:pt x="22623" y="23880"/>
                    <a:pt x="21553" y="22110"/>
                    <a:pt x="20861" y="19439"/>
                  </a:cubicBezTo>
                  <a:cubicBezTo>
                    <a:pt x="20251" y="17085"/>
                    <a:pt x="20196" y="15149"/>
                    <a:pt x="20669" y="12653"/>
                  </a:cubicBezTo>
                  <a:cubicBezTo>
                    <a:pt x="21203" y="9838"/>
                    <a:pt x="22474" y="7471"/>
                    <a:pt x="24572" y="5387"/>
                  </a:cubicBezTo>
                  <a:cubicBezTo>
                    <a:pt x="26570" y="3401"/>
                    <a:pt x="28637" y="2229"/>
                    <a:pt x="31500" y="1457"/>
                  </a:cubicBezTo>
                  <a:cubicBezTo>
                    <a:pt x="33612" y="888"/>
                    <a:pt x="35388" y="888"/>
                    <a:pt x="37500" y="1457"/>
                  </a:cubicBezTo>
                  <a:cubicBezTo>
                    <a:pt x="40302" y="2212"/>
                    <a:pt x="42360" y="3374"/>
                    <a:pt x="44262" y="5276"/>
                  </a:cubicBezTo>
                  <a:cubicBezTo>
                    <a:pt x="46368" y="7383"/>
                    <a:pt x="47846" y="10270"/>
                    <a:pt x="48386" y="13333"/>
                  </a:cubicBezTo>
                  <a:cubicBezTo>
                    <a:pt x="49127" y="17540"/>
                    <a:pt x="47425" y="22610"/>
                    <a:pt x="44185" y="25852"/>
                  </a:cubicBezTo>
                  <a:cubicBezTo>
                    <a:pt x="42394" y="27644"/>
                    <a:pt x="41267" y="28320"/>
                    <a:pt x="38345" y="29355"/>
                  </a:cubicBezTo>
                  <a:cubicBezTo>
                    <a:pt x="36040" y="30171"/>
                    <a:pt x="32731" y="30179"/>
                    <a:pt x="30500" y="29374"/>
                  </a:cubicBezTo>
                  <a:close/>
                </a:path>
              </a:pathLst>
            </a:custGeom>
            <a:solidFill>
              <a:srgbClr val="075088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43" name="Teacher board" descr="Teacher board"/>
            <p:cNvSpPr/>
            <p:nvPr/>
          </p:nvSpPr>
          <p:spPr>
            <a:xfrm>
              <a:off x="1628775" y="5022850"/>
              <a:ext cx="1000125" cy="746125"/>
            </a:xfrm>
            <a:custGeom>
              <a:avLst/>
              <a:gdLst/>
              <a:ahLst/>
              <a:cxnLst/>
              <a:rect l="0" t="0" r="r" b="b"/>
              <a:pathLst>
                <a:path w="105000" h="78333" stroke="0" extrusionOk="0">
                  <a:moveTo>
                    <a:pt x="7833" y="76946"/>
                  </a:moveTo>
                  <a:cubicBezTo>
                    <a:pt x="6936" y="76453"/>
                    <a:pt x="6017" y="75288"/>
                    <a:pt x="6007" y="74634"/>
                  </a:cubicBezTo>
                  <a:cubicBezTo>
                    <a:pt x="5997" y="73896"/>
                    <a:pt x="9803" y="70333"/>
                    <a:pt x="10601" y="70333"/>
                  </a:cubicBezTo>
                  <a:cubicBezTo>
                    <a:pt x="10959" y="70333"/>
                    <a:pt x="11758" y="70542"/>
                    <a:pt x="12376" y="70798"/>
                  </a:cubicBezTo>
                  <a:cubicBezTo>
                    <a:pt x="13315" y="71186"/>
                    <a:pt x="20177" y="71265"/>
                    <a:pt x="54167" y="71279"/>
                  </a:cubicBezTo>
                  <a:cubicBezTo>
                    <a:pt x="76533" y="71288"/>
                    <a:pt x="95115" y="71212"/>
                    <a:pt x="95460" y="71111"/>
                  </a:cubicBezTo>
                  <a:cubicBezTo>
                    <a:pt x="96069" y="70933"/>
                    <a:pt x="96080" y="70116"/>
                    <a:pt x="95841" y="41047"/>
                  </a:cubicBezTo>
                  <a:cubicBezTo>
                    <a:pt x="95707" y="24613"/>
                    <a:pt x="95528" y="11054"/>
                    <a:pt x="95445" y="10917"/>
                  </a:cubicBezTo>
                  <a:cubicBezTo>
                    <a:pt x="95362" y="10779"/>
                    <a:pt x="76412" y="10667"/>
                    <a:pt x="53333" y="10667"/>
                  </a:cubicBezTo>
                  <a:cubicBezTo>
                    <a:pt x="21819" y="10667"/>
                    <a:pt x="11313" y="10763"/>
                    <a:pt x="11133" y="11054"/>
                  </a:cubicBezTo>
                  <a:cubicBezTo>
                    <a:pt x="10884" y="11458"/>
                    <a:pt x="10831" y="14527"/>
                    <a:pt x="10728" y="34571"/>
                  </a:cubicBezTo>
                  <a:lnTo>
                    <a:pt x="10667" y="46642"/>
                  </a:lnTo>
                  <a:lnTo>
                    <a:pt x="8685" y="47988"/>
                  </a:lnTo>
                  <a:cubicBezTo>
                    <a:pt x="6420" y="49526"/>
                    <a:pt x="5126" y="49719"/>
                    <a:pt x="4707" y="48583"/>
                  </a:cubicBezTo>
                  <a:cubicBezTo>
                    <a:pt x="4555" y="48171"/>
                    <a:pt x="4397" y="39366"/>
                    <a:pt x="4357" y="29018"/>
                  </a:cubicBezTo>
                  <a:lnTo>
                    <a:pt x="4283" y="10203"/>
                  </a:lnTo>
                  <a:lnTo>
                    <a:pt x="3475" y="9243"/>
                  </a:lnTo>
                  <a:cubicBezTo>
                    <a:pt x="2777" y="8413"/>
                    <a:pt x="2667" y="7942"/>
                    <a:pt x="2667" y="5782"/>
                  </a:cubicBezTo>
                  <a:cubicBezTo>
                    <a:pt x="2667" y="3463"/>
                    <a:pt x="2737" y="3211"/>
                    <a:pt x="3641" y="2308"/>
                  </a:cubicBezTo>
                  <a:lnTo>
                    <a:pt x="4615" y="1333"/>
                  </a:lnTo>
                  <a:lnTo>
                    <a:pt x="38891" y="1307"/>
                  </a:lnTo>
                  <a:cubicBezTo>
                    <a:pt x="69842" y="1284"/>
                    <a:pt x="91010" y="1289"/>
                    <a:pt x="99109" y="1321"/>
                  </a:cubicBezTo>
                  <a:cubicBezTo>
                    <a:pt x="101909" y="1333"/>
                    <a:pt x="102098" y="1380"/>
                    <a:pt x="103026" y="2308"/>
                  </a:cubicBezTo>
                  <a:cubicBezTo>
                    <a:pt x="103932" y="3214"/>
                    <a:pt x="104000" y="3459"/>
                    <a:pt x="104000" y="5824"/>
                  </a:cubicBezTo>
                  <a:cubicBezTo>
                    <a:pt x="104000" y="8148"/>
                    <a:pt x="103924" y="8436"/>
                    <a:pt x="103112" y="9188"/>
                  </a:cubicBezTo>
                  <a:lnTo>
                    <a:pt x="102225" y="10010"/>
                  </a:lnTo>
                  <a:lnTo>
                    <a:pt x="102451" y="26755"/>
                  </a:lnTo>
                  <a:cubicBezTo>
                    <a:pt x="102721" y="46783"/>
                    <a:pt x="103242" y="69562"/>
                    <a:pt x="103506" y="72927"/>
                  </a:cubicBezTo>
                  <a:cubicBezTo>
                    <a:pt x="103691" y="75286"/>
                    <a:pt x="103668" y="75383"/>
                    <a:pt x="102707" y="76344"/>
                  </a:cubicBezTo>
                  <a:lnTo>
                    <a:pt x="101718" y="77333"/>
                  </a:lnTo>
                  <a:lnTo>
                    <a:pt x="55109" y="77323"/>
                  </a:lnTo>
                  <a:cubicBezTo>
                    <a:pt x="21859" y="77316"/>
                    <a:pt x="8309" y="77208"/>
                    <a:pt x="7833" y="76946"/>
                  </a:cubicBezTo>
                  <a:close/>
                  <a:moveTo>
                    <a:pt x="0" y="62653"/>
                  </a:moveTo>
                  <a:cubicBezTo>
                    <a:pt x="0" y="55705"/>
                    <a:pt x="115" y="52032"/>
                    <a:pt x="329" y="52164"/>
                  </a:cubicBezTo>
                  <a:cubicBezTo>
                    <a:pt x="510" y="52276"/>
                    <a:pt x="901" y="53222"/>
                    <a:pt x="1198" y="54267"/>
                  </a:cubicBezTo>
                  <a:cubicBezTo>
                    <a:pt x="1494" y="55312"/>
                    <a:pt x="1937" y="56377"/>
                    <a:pt x="2182" y="56635"/>
                  </a:cubicBezTo>
                  <a:cubicBezTo>
                    <a:pt x="2563" y="57035"/>
                    <a:pt x="2756" y="57011"/>
                    <a:pt x="3521" y="56468"/>
                  </a:cubicBezTo>
                  <a:cubicBezTo>
                    <a:pt x="7280" y="53802"/>
                    <a:pt x="14113" y="49660"/>
                    <a:pt x="15378" y="49281"/>
                  </a:cubicBezTo>
                  <a:cubicBezTo>
                    <a:pt x="16387" y="48978"/>
                    <a:pt x="16956" y="48989"/>
                    <a:pt x="17987" y="49329"/>
                  </a:cubicBezTo>
                  <a:lnTo>
                    <a:pt x="19305" y="49764"/>
                  </a:lnTo>
                  <a:lnTo>
                    <a:pt x="22847" y="46382"/>
                  </a:lnTo>
                  <a:cubicBezTo>
                    <a:pt x="24796" y="44522"/>
                    <a:pt x="26654" y="43000"/>
                    <a:pt x="26976" y="43000"/>
                  </a:cubicBezTo>
                  <a:cubicBezTo>
                    <a:pt x="27299" y="43000"/>
                    <a:pt x="27812" y="43274"/>
                    <a:pt x="28115" y="43610"/>
                  </a:cubicBezTo>
                  <a:cubicBezTo>
                    <a:pt x="29227" y="44838"/>
                    <a:pt x="28821" y="45667"/>
                    <a:pt x="25442" y="49059"/>
                  </a:cubicBezTo>
                  <a:lnTo>
                    <a:pt x="22217" y="52296"/>
                  </a:lnTo>
                  <a:lnTo>
                    <a:pt x="22608" y="53603"/>
                  </a:lnTo>
                  <a:cubicBezTo>
                    <a:pt x="23196" y="55565"/>
                    <a:pt x="23095" y="58007"/>
                    <a:pt x="22377" y="59184"/>
                  </a:cubicBezTo>
                  <a:cubicBezTo>
                    <a:pt x="21980" y="59835"/>
                    <a:pt x="19388" y="61754"/>
                    <a:pt x="15173" y="64517"/>
                  </a:cubicBezTo>
                  <a:cubicBezTo>
                    <a:pt x="11552" y="66891"/>
                    <a:pt x="7669" y="69473"/>
                    <a:pt x="6545" y="70254"/>
                  </a:cubicBezTo>
                  <a:cubicBezTo>
                    <a:pt x="4334" y="71790"/>
                    <a:pt x="2369" y="72795"/>
                    <a:pt x="917" y="73133"/>
                  </a:cubicBezTo>
                  <a:lnTo>
                    <a:pt x="0" y="73346"/>
                  </a:lnTo>
                  <a:lnTo>
                    <a:pt x="0" y="62653"/>
                  </a:lnTo>
                  <a:close/>
                  <a:moveTo>
                    <a:pt x="34917" y="61640"/>
                  </a:moveTo>
                  <a:cubicBezTo>
                    <a:pt x="34393" y="61335"/>
                    <a:pt x="34333" y="60640"/>
                    <a:pt x="34333" y="54828"/>
                  </a:cubicBezTo>
                  <a:cubicBezTo>
                    <a:pt x="34333" y="48846"/>
                    <a:pt x="34381" y="48332"/>
                    <a:pt x="34957" y="48023"/>
                  </a:cubicBezTo>
                  <a:cubicBezTo>
                    <a:pt x="35300" y="47839"/>
                    <a:pt x="37353" y="47668"/>
                    <a:pt x="39520" y="47643"/>
                  </a:cubicBezTo>
                  <a:cubicBezTo>
                    <a:pt x="42998" y="47603"/>
                    <a:pt x="43511" y="47669"/>
                    <a:pt x="43909" y="48213"/>
                  </a:cubicBezTo>
                  <a:cubicBezTo>
                    <a:pt x="44263" y="48697"/>
                    <a:pt x="44320" y="50010"/>
                    <a:pt x="44178" y="54331"/>
                  </a:cubicBezTo>
                  <a:cubicBezTo>
                    <a:pt x="44078" y="57357"/>
                    <a:pt x="43997" y="60085"/>
                    <a:pt x="43998" y="60393"/>
                  </a:cubicBezTo>
                  <a:cubicBezTo>
                    <a:pt x="43999" y="60701"/>
                    <a:pt x="43764" y="61188"/>
                    <a:pt x="43476" y="61476"/>
                  </a:cubicBezTo>
                  <a:cubicBezTo>
                    <a:pt x="43061" y="61891"/>
                    <a:pt x="42179" y="61998"/>
                    <a:pt x="39226" y="61990"/>
                  </a:cubicBezTo>
                  <a:cubicBezTo>
                    <a:pt x="37177" y="61984"/>
                    <a:pt x="35238" y="61827"/>
                    <a:pt x="34917" y="61640"/>
                  </a:cubicBezTo>
                  <a:close/>
                  <a:moveTo>
                    <a:pt x="49223" y="61509"/>
                  </a:moveTo>
                  <a:cubicBezTo>
                    <a:pt x="48496" y="60782"/>
                    <a:pt x="48204" y="55121"/>
                    <a:pt x="48435" y="46193"/>
                  </a:cubicBezTo>
                  <a:cubicBezTo>
                    <a:pt x="48610" y="39414"/>
                    <a:pt x="48700" y="38485"/>
                    <a:pt x="49237" y="37948"/>
                  </a:cubicBezTo>
                  <a:cubicBezTo>
                    <a:pt x="49743" y="37442"/>
                    <a:pt x="50496" y="37327"/>
                    <a:pt x="53781" y="37254"/>
                  </a:cubicBezTo>
                  <a:cubicBezTo>
                    <a:pt x="57224" y="37178"/>
                    <a:pt x="57774" y="37241"/>
                    <a:pt x="58151" y="37755"/>
                  </a:cubicBezTo>
                  <a:cubicBezTo>
                    <a:pt x="58482" y="38208"/>
                    <a:pt x="58586" y="40914"/>
                    <a:pt x="58600" y="49422"/>
                  </a:cubicBezTo>
                  <a:cubicBezTo>
                    <a:pt x="58615" y="58557"/>
                    <a:pt x="58533" y="60632"/>
                    <a:pt x="58135" y="61250"/>
                  </a:cubicBezTo>
                  <a:cubicBezTo>
                    <a:pt x="57678" y="61959"/>
                    <a:pt x="57433" y="62000"/>
                    <a:pt x="53683" y="62000"/>
                  </a:cubicBezTo>
                  <a:cubicBezTo>
                    <a:pt x="50632" y="62000"/>
                    <a:pt x="49601" y="61886"/>
                    <a:pt x="49223" y="61509"/>
                  </a:cubicBezTo>
                  <a:close/>
                  <a:moveTo>
                    <a:pt x="63310" y="61471"/>
                  </a:moveTo>
                  <a:cubicBezTo>
                    <a:pt x="62963" y="61054"/>
                    <a:pt x="62875" y="58241"/>
                    <a:pt x="62890" y="48055"/>
                  </a:cubicBezTo>
                  <a:cubicBezTo>
                    <a:pt x="62900" y="40966"/>
                    <a:pt x="62929" y="32879"/>
                    <a:pt x="62954" y="30083"/>
                  </a:cubicBezTo>
                  <a:cubicBezTo>
                    <a:pt x="63014" y="23478"/>
                    <a:pt x="62860" y="23667"/>
                    <a:pt x="68182" y="23667"/>
                  </a:cubicBezTo>
                  <a:cubicBezTo>
                    <a:pt x="71823" y="23667"/>
                    <a:pt x="72074" y="23711"/>
                    <a:pt x="72848" y="24485"/>
                  </a:cubicBezTo>
                  <a:lnTo>
                    <a:pt x="73667" y="25303"/>
                  </a:lnTo>
                  <a:lnTo>
                    <a:pt x="73667" y="42773"/>
                  </a:lnTo>
                  <a:cubicBezTo>
                    <a:pt x="73667" y="59943"/>
                    <a:pt x="73655" y="60259"/>
                    <a:pt x="72976" y="61122"/>
                  </a:cubicBezTo>
                  <a:cubicBezTo>
                    <a:pt x="72294" y="61989"/>
                    <a:pt x="72231" y="62000"/>
                    <a:pt x="68017" y="62000"/>
                  </a:cubicBezTo>
                  <a:cubicBezTo>
                    <a:pt x="64527" y="62000"/>
                    <a:pt x="63668" y="61904"/>
                    <a:pt x="63310" y="61471"/>
                  </a:cubicBezTo>
                  <a:close/>
                </a:path>
              </a:pathLst>
            </a:custGeom>
            <a:solidFill>
              <a:srgbClr val="235F91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66" name="Teacher heading / line 1"/>
            <p:cNvSpPr txBox="1"/>
            <p:nvPr/>
          </p:nvSpPr>
          <p:spPr>
            <a:xfrm>
              <a:off x="577909" y="4371732"/>
              <a:ext cx="2619375" cy="45061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dirty="0">
                  <a:solidFill>
                    <a:srgbClr val="082A5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Teacher supervision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acher endpoint probabilities" descr="$p_T(x)\quad p_T(x^{\prime})$"/>
                <p:cNvSpPr txBox="1"/>
                <p:nvPr/>
              </p:nvSpPr>
              <p:spPr>
                <a:xfrm>
                  <a:off x="584200" y="6096000"/>
                  <a:ext cx="25781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sz="2400">
                      <a:solidFill>
                        <a:srgbClr val="102451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sz="24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sz="240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24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r>
                          <a:rPr sz="2400">
                            <a:latin typeface="Cambria Math"/>
                          </a:rPr>
                          <m:t>(</m:t>
                        </m:r>
                        <m:r>
                          <a:rPr sz="2400">
                            <a:latin typeface="Cambria Math"/>
                          </a:rPr>
                          <m:t>𝑥</m:t>
                        </m:r>
                        <m:r>
                          <a:rPr sz="2400">
                            <a:latin typeface="Cambria Math"/>
                          </a:rPr>
                          <m:t>)   </m:t>
                        </m:r>
                        <m:sSub>
                          <m:sSubPr>
                            <m:ctrlPr>
                              <a:rPr sz="24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sz="240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24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r>
                          <a:rPr sz="2400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sz="240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sz="240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sz="240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sz="240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7" name="Teacher endpoint probabilities" descr="$p_T(x)\quad p_T(x^{\prime})$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200" y="6096000"/>
                  <a:ext cx="2578100" cy="457200"/>
                </a:xfrm>
                <a:prstGeom prst="rect">
                  <a:avLst/>
                </a:prstGeom>
                <a:blipFill>
                  <a:blip r:embed="rId5"/>
                  <a:stretch>
                    <a:fillRect b="-21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acher response equation" descr="$\Delta p_T=p_T(x^{\prime})-p_T(x)$"/>
                <p:cNvSpPr txBox="1"/>
                <p:nvPr/>
              </p:nvSpPr>
              <p:spPr>
                <a:xfrm>
                  <a:off x="546100" y="6642100"/>
                  <a:ext cx="2641600" cy="48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sz="2100">
                      <a:solidFill>
                        <a:srgbClr val="102451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sz="2100">
                            <a:latin typeface="Cambria Math"/>
                          </a:rPr>
                          <m:t>𝛥</m:t>
                        </m:r>
                        <m:sSub>
                          <m:sSubPr>
                            <m:ctrlPr>
                              <a:rPr sz="21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sz="210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21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r>
                          <a:rPr sz="210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sz="21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sz="210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21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r>
                          <a:rPr sz="2100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sz="210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sz="210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sz="210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sz="2100">
                            <a:latin typeface="Cambria Math"/>
                          </a:rPr>
                          <m:t>)−</m:t>
                        </m:r>
                        <m:sSub>
                          <m:sSubPr>
                            <m:ctrlPr>
                              <a:rPr sz="21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sz="210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21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  <m:r>
                          <a:rPr sz="2100">
                            <a:latin typeface="Cambria Math"/>
                          </a:rPr>
                          <m:t>(</m:t>
                        </m:r>
                        <m:r>
                          <a:rPr sz="2100">
                            <a:latin typeface="Cambria Math"/>
                          </a:rPr>
                          <m:t>𝑥</m:t>
                        </m:r>
                        <m:r>
                          <a:rPr sz="210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sz="21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8" name="Teacher response equation" descr="$\Delta p_T=p_T(x^{\prime})-p_T(x)$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100" y="6642100"/>
                  <a:ext cx="2641600" cy="482600"/>
                </a:xfrm>
                <a:prstGeom prst="rect">
                  <a:avLst/>
                </a:prstGeom>
                <a:blipFill>
                  <a:blip r:embed="rId6"/>
                  <a:stretch>
                    <a:fillRect l="-2079" r="-924" b="-1012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acher departure adjustment" descr="$\tau_T$"/>
                <p:cNvSpPr txBox="1"/>
                <p:nvPr/>
              </p:nvSpPr>
              <p:spPr>
                <a:xfrm>
                  <a:off x="1374527" y="7109239"/>
                  <a:ext cx="825500" cy="444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sz="2700">
                      <a:solidFill>
                        <a:srgbClr val="102451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sz="21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sz="2100">
                                <a:latin typeface="Cambria Math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2100">
                                <a:latin typeface="Cambria Math"/>
                              </a:rPr>
                              <m:t>T</m:t>
                            </m:r>
                          </m:sub>
                        </m:sSub>
                      </m:oMath>
                    </m:oMathPara>
                  </a14:m>
                  <a:endParaRPr sz="21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69" name="Teacher departure adjustment" descr="$\tau_T$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4527" y="7109239"/>
                  <a:ext cx="825500" cy="444500"/>
                </a:xfrm>
                <a:prstGeom prst="rect">
                  <a:avLst/>
                </a:prstGeom>
                <a:blipFill>
                  <a:blip r:embed="rId7"/>
                  <a:stretch>
                    <a:fillRect b="-137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Teacher explanatory text / line 1"/>
            <p:cNvSpPr txBox="1"/>
            <p:nvPr/>
          </p:nvSpPr>
          <p:spPr>
            <a:xfrm>
              <a:off x="748387" y="8020153"/>
              <a:ext cx="2314575" cy="311202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254C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Repeated Teacher elicitation</a:t>
              </a:r>
            </a:p>
          </p:txBody>
        </p:sp>
        <p:sp>
          <p:nvSpPr>
            <p:cNvPr id="71" name="Teacher explanatory text / line 2"/>
            <p:cNvSpPr txBox="1"/>
            <p:nvPr/>
          </p:nvSpPr>
          <p:spPr>
            <a:xfrm>
              <a:off x="691766" y="8267223"/>
              <a:ext cx="2457450" cy="315375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254C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provides endpoint predictions</a:t>
              </a:r>
            </a:p>
          </p:txBody>
        </p:sp>
        <p:sp>
          <p:nvSpPr>
            <p:cNvPr id="72" name="Teacher explanatory text / line 3"/>
            <p:cNvSpPr txBox="1"/>
            <p:nvPr/>
          </p:nvSpPr>
          <p:spPr>
            <a:xfrm>
              <a:off x="1032711" y="8514832"/>
              <a:ext cx="1743075" cy="315663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254C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response targets.</a:t>
              </a:r>
            </a:p>
          </p:txBody>
        </p:sp>
      </p:grpSp>
      <p:grpSp>
        <p:nvGrpSpPr>
          <p:cNvPr id="9" name="03 Response fidelity"/>
          <p:cNvGrpSpPr/>
          <p:nvPr/>
        </p:nvGrpSpPr>
        <p:grpSpPr>
          <a:xfrm>
            <a:off x="3479482" y="4269740"/>
            <a:ext cx="3733800" cy="4205288"/>
            <a:chOff x="3479482" y="4396740"/>
            <a:chExt cx="3733800" cy="4205288"/>
          </a:xfrm>
          <a:solidFill>
            <a:schemeClr val="accent2">
              <a:lumMod val="20000"/>
              <a:lumOff val="80000"/>
            </a:schemeClr>
          </a:solidFill>
          <a:effectLst/>
        </p:grpSpPr>
        <p:sp>
          <p:nvSpPr>
            <p:cNvPr id="10" name="Response fidelity — outer ellipse" descr="Response fidelity — outer ellipse"/>
            <p:cNvSpPr/>
            <p:nvPr/>
          </p:nvSpPr>
          <p:spPr>
            <a:xfrm>
              <a:off x="3479482" y="4396740"/>
              <a:ext cx="3733800" cy="4205288"/>
            </a:xfrm>
            <a:custGeom>
              <a:avLst/>
              <a:gdLst/>
              <a:ahLst/>
              <a:cxnLst/>
              <a:rect l="0" t="0" r="r" b="b"/>
              <a:pathLst>
                <a:path w="392000" h="441500" extrusionOk="0">
                  <a:moveTo>
                    <a:pt x="392000" y="220750"/>
                  </a:moveTo>
                  <a:cubicBezTo>
                    <a:pt x="392000" y="342667"/>
                    <a:pt x="304248" y="441500"/>
                    <a:pt x="196000" y="441500"/>
                  </a:cubicBezTo>
                  <a:cubicBezTo>
                    <a:pt x="87752" y="441500"/>
                    <a:pt x="0" y="342667"/>
                    <a:pt x="0" y="220750"/>
                  </a:cubicBezTo>
                  <a:cubicBezTo>
                    <a:pt x="0" y="98833"/>
                    <a:pt x="87752" y="0"/>
                    <a:pt x="196000" y="0"/>
                  </a:cubicBezTo>
                  <a:cubicBezTo>
                    <a:pt x="304248" y="0"/>
                    <a:pt x="392000" y="98833"/>
                    <a:pt x="392000" y="220750"/>
                  </a:cubicBezTo>
                  <a:close/>
                </a:path>
              </a:pathLst>
            </a:custGeom>
            <a:grpFill/>
            <a:ln w="19050" cap="rnd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</p:spPr>
        </p:sp>
        <p:sp>
          <p:nvSpPr>
            <p:cNvPr id="11" name="Response fidelity — inner ellipse" descr="Response fidelity — inner ellipse"/>
            <p:cNvSpPr/>
            <p:nvPr/>
          </p:nvSpPr>
          <p:spPr>
            <a:xfrm>
              <a:off x="3559492" y="4481512"/>
              <a:ext cx="3573780" cy="4029075"/>
            </a:xfrm>
            <a:custGeom>
              <a:avLst/>
              <a:gdLst/>
              <a:ahLst/>
              <a:cxnLst/>
              <a:rect l="0" t="0" r="r" b="b"/>
              <a:pathLst>
                <a:path w="375200" h="423000" extrusionOk="0">
                  <a:moveTo>
                    <a:pt x="375200" y="211500"/>
                  </a:moveTo>
                  <a:cubicBezTo>
                    <a:pt x="375200" y="328308"/>
                    <a:pt x="291209" y="423000"/>
                    <a:pt x="187600" y="423000"/>
                  </a:cubicBezTo>
                  <a:cubicBezTo>
                    <a:pt x="83991" y="423000"/>
                    <a:pt x="0" y="328308"/>
                    <a:pt x="0" y="211500"/>
                  </a:cubicBezTo>
                  <a:cubicBezTo>
                    <a:pt x="0" y="94692"/>
                    <a:pt x="83991" y="0"/>
                    <a:pt x="187600" y="0"/>
                  </a:cubicBezTo>
                  <a:cubicBezTo>
                    <a:pt x="291209" y="0"/>
                    <a:pt x="375200" y="94692"/>
                    <a:pt x="375200" y="211500"/>
                  </a:cubicBezTo>
                  <a:close/>
                </a:path>
              </a:pathLst>
            </a:custGeom>
            <a:grpFill/>
            <a:ln w="31432" cap="rnd" cmpd="sng" algn="ctr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Central probability bars" descr="Central probability bars"/>
            <p:cNvSpPr/>
            <p:nvPr/>
          </p:nvSpPr>
          <p:spPr>
            <a:xfrm>
              <a:off x="5086350" y="4705350"/>
              <a:ext cx="498475" cy="498475"/>
            </a:xfrm>
            <a:custGeom>
              <a:avLst/>
              <a:gdLst/>
              <a:ahLst/>
              <a:cxnLst/>
              <a:rect l="0" t="0" r="r" b="b"/>
              <a:pathLst>
                <a:path w="52333" h="52333" stroke="0" extrusionOk="0">
                  <a:moveTo>
                    <a:pt x="2000" y="50667"/>
                  </a:moveTo>
                  <a:cubicBezTo>
                    <a:pt x="1375" y="50041"/>
                    <a:pt x="1330" y="49511"/>
                    <a:pt x="1272" y="42083"/>
                  </a:cubicBezTo>
                  <a:cubicBezTo>
                    <a:pt x="1239" y="37729"/>
                    <a:pt x="1232" y="33808"/>
                    <a:pt x="1258" y="33370"/>
                  </a:cubicBezTo>
                  <a:cubicBezTo>
                    <a:pt x="1284" y="32932"/>
                    <a:pt x="1638" y="32219"/>
                    <a:pt x="2044" y="31787"/>
                  </a:cubicBezTo>
                  <a:cubicBezTo>
                    <a:pt x="2758" y="31027"/>
                    <a:pt x="2956" y="31000"/>
                    <a:pt x="7855" y="31000"/>
                  </a:cubicBezTo>
                  <a:cubicBezTo>
                    <a:pt x="12192" y="31000"/>
                    <a:pt x="13029" y="31084"/>
                    <a:pt x="13637" y="31583"/>
                  </a:cubicBezTo>
                  <a:cubicBezTo>
                    <a:pt x="14328" y="32150"/>
                    <a:pt x="14349" y="32408"/>
                    <a:pt x="14366" y="40500"/>
                  </a:cubicBezTo>
                  <a:cubicBezTo>
                    <a:pt x="14375" y="45083"/>
                    <a:pt x="14372" y="49096"/>
                    <a:pt x="14358" y="49417"/>
                  </a:cubicBezTo>
                  <a:cubicBezTo>
                    <a:pt x="14345" y="49738"/>
                    <a:pt x="14033" y="50300"/>
                    <a:pt x="13667" y="50667"/>
                  </a:cubicBezTo>
                  <a:cubicBezTo>
                    <a:pt x="13057" y="51276"/>
                    <a:pt x="12556" y="51333"/>
                    <a:pt x="7833" y="51333"/>
                  </a:cubicBezTo>
                  <a:cubicBezTo>
                    <a:pt x="3111" y="51333"/>
                    <a:pt x="2609" y="51276"/>
                    <a:pt x="2000" y="50667"/>
                  </a:cubicBezTo>
                  <a:close/>
                  <a:moveTo>
                    <a:pt x="19296" y="50703"/>
                  </a:moveTo>
                  <a:lnTo>
                    <a:pt x="18518" y="50073"/>
                  </a:lnTo>
                  <a:lnTo>
                    <a:pt x="18623" y="35810"/>
                  </a:lnTo>
                  <a:cubicBezTo>
                    <a:pt x="18681" y="27965"/>
                    <a:pt x="18854" y="21218"/>
                    <a:pt x="19006" y="20817"/>
                  </a:cubicBezTo>
                  <a:cubicBezTo>
                    <a:pt x="19159" y="20416"/>
                    <a:pt x="19690" y="19768"/>
                    <a:pt x="20187" y="19377"/>
                  </a:cubicBezTo>
                  <a:cubicBezTo>
                    <a:pt x="21012" y="18728"/>
                    <a:pt x="21497" y="18667"/>
                    <a:pt x="25820" y="18667"/>
                  </a:cubicBezTo>
                  <a:cubicBezTo>
                    <a:pt x="30299" y="18667"/>
                    <a:pt x="30587" y="18706"/>
                    <a:pt x="31239" y="19417"/>
                  </a:cubicBezTo>
                  <a:cubicBezTo>
                    <a:pt x="31910" y="20147"/>
                    <a:pt x="31931" y="20557"/>
                    <a:pt x="32047" y="35112"/>
                  </a:cubicBezTo>
                  <a:lnTo>
                    <a:pt x="32167" y="50057"/>
                  </a:lnTo>
                  <a:lnTo>
                    <a:pt x="31380" y="50695"/>
                  </a:lnTo>
                  <a:cubicBezTo>
                    <a:pt x="30679" y="51264"/>
                    <a:pt x="30018" y="51333"/>
                    <a:pt x="25333" y="51333"/>
                  </a:cubicBezTo>
                  <a:cubicBezTo>
                    <a:pt x="20672" y="51333"/>
                    <a:pt x="19985" y="51262"/>
                    <a:pt x="19296" y="50703"/>
                  </a:cubicBezTo>
                  <a:close/>
                  <a:moveTo>
                    <a:pt x="37467" y="51078"/>
                  </a:moveTo>
                  <a:cubicBezTo>
                    <a:pt x="36375" y="50349"/>
                    <a:pt x="36333" y="49432"/>
                    <a:pt x="36333" y="26207"/>
                  </a:cubicBezTo>
                  <a:lnTo>
                    <a:pt x="36333" y="3037"/>
                  </a:lnTo>
                  <a:lnTo>
                    <a:pt x="37137" y="2102"/>
                  </a:lnTo>
                  <a:lnTo>
                    <a:pt x="37941" y="1167"/>
                  </a:lnTo>
                  <a:lnTo>
                    <a:pt x="43733" y="1063"/>
                  </a:lnTo>
                  <a:cubicBezTo>
                    <a:pt x="49225" y="964"/>
                    <a:pt x="49571" y="996"/>
                    <a:pt x="50429" y="1670"/>
                  </a:cubicBezTo>
                  <a:lnTo>
                    <a:pt x="51333" y="2382"/>
                  </a:lnTo>
                  <a:lnTo>
                    <a:pt x="51333" y="26191"/>
                  </a:lnTo>
                  <a:cubicBezTo>
                    <a:pt x="51333" y="49556"/>
                    <a:pt x="51321" y="50012"/>
                    <a:pt x="50667" y="50667"/>
                  </a:cubicBezTo>
                  <a:cubicBezTo>
                    <a:pt x="50048" y="51285"/>
                    <a:pt x="49559" y="51333"/>
                    <a:pt x="43917" y="51328"/>
                  </a:cubicBezTo>
                  <a:cubicBezTo>
                    <a:pt x="40571" y="51325"/>
                    <a:pt x="37668" y="51213"/>
                    <a:pt x="37467" y="51078"/>
                  </a:cubicBezTo>
                  <a:close/>
                </a:path>
              </a:pathLst>
            </a:custGeom>
            <a:solidFill>
              <a:schemeClr val="accent2"/>
            </a:solidFill>
            <a:ln w="0" cap="rnd" cmpd="sng" algn="ctr">
              <a:solidFill>
                <a:srgbClr val="8F8153"/>
              </a:solidFill>
              <a:round/>
            </a:ln>
            <a:effectLst/>
          </p:spPr>
        </p:sp>
        <p:sp>
          <p:nvSpPr>
            <p:cNvPr id="73" name="Response fidelity title / line 1"/>
            <p:cNvSpPr txBox="1"/>
            <p:nvPr/>
          </p:nvSpPr>
          <p:spPr>
            <a:xfrm>
              <a:off x="4566827" y="5315260"/>
              <a:ext cx="1628775" cy="577536"/>
            </a:xfrm>
            <a:prstGeom prst="rect">
              <a:avLst/>
            </a:prstGeom>
            <a:grp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800" b="1" i="0" dirty="0">
                  <a:solidFill>
                    <a:srgbClr val="5A51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Response</a:t>
              </a:r>
            </a:p>
          </p:txBody>
        </p:sp>
        <p:sp>
          <p:nvSpPr>
            <p:cNvPr id="74" name="Response fidelity title / line 2"/>
            <p:cNvSpPr txBox="1"/>
            <p:nvPr/>
          </p:nvSpPr>
          <p:spPr>
            <a:xfrm>
              <a:off x="4772838" y="5768975"/>
              <a:ext cx="1238250" cy="578774"/>
            </a:xfrm>
            <a:prstGeom prst="rect">
              <a:avLst/>
            </a:prstGeom>
            <a:grp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800" b="1" i="0" dirty="0">
                  <a:solidFill>
                    <a:srgbClr val="5A51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fidelity</a:t>
              </a:r>
            </a:p>
          </p:txBody>
        </p:sp>
        <p:sp>
          <p:nvSpPr>
            <p:cNvPr id="75" name="Response fidelity definition / line 1"/>
            <p:cNvSpPr txBox="1"/>
            <p:nvPr/>
          </p:nvSpPr>
          <p:spPr>
            <a:xfrm>
              <a:off x="4243387" y="6307298"/>
              <a:ext cx="2466975" cy="358454"/>
            </a:xfrm>
            <a:prstGeom prst="rect">
              <a:avLst/>
            </a:prstGeom>
            <a:grp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 dirty="0">
                  <a:solidFill>
                    <a:srgbClr val="5A51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Preserve changes induced</a:t>
              </a:r>
            </a:p>
          </p:txBody>
        </p:sp>
        <p:sp>
          <p:nvSpPr>
            <p:cNvPr id="76" name="Response fidelity definition / line 2"/>
            <p:cNvSpPr txBox="1"/>
            <p:nvPr/>
          </p:nvSpPr>
          <p:spPr>
            <a:xfrm>
              <a:off x="4381500" y="6557047"/>
              <a:ext cx="2190750" cy="362703"/>
            </a:xfrm>
            <a:prstGeom prst="rect">
              <a:avLst/>
            </a:prstGeom>
            <a:grp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0" i="0" dirty="0">
                  <a:solidFill>
                    <a:srgbClr val="5A51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by transport scenarios</a:t>
              </a:r>
            </a:p>
          </p:txBody>
        </p:sp>
        <p:sp>
          <p:nvSpPr>
            <p:cNvPr id="81" name="Response departure adjustment — description line 1" descr="$\mathrm{(departure\!-\!time}$"/>
            <p:cNvSpPr txBox="1"/>
            <p:nvPr/>
          </p:nvSpPr>
          <p:spPr>
            <a:xfrm>
              <a:off x="4721315" y="7969250"/>
              <a:ext cx="1375123" cy="24130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300">
                  <a:solidFill>
                    <a:srgbClr val="102451"/>
                  </a:solidFill>
                  <a:latin typeface="Arial"/>
                </a:defRPr>
              </a:pPr>
              <a:r>
                <a:rPr sz="1300" dirty="0">
                  <a:solidFill>
                    <a:srgbClr val="5A51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(departure-time</a:t>
              </a:r>
              <a:r>
                <a:rPr lang="en-US" sz="1300" dirty="0">
                  <a:solidFill>
                    <a:srgbClr val="5A51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300" dirty="0">
                  <a:solidFill>
                    <a:srgbClr val="5A51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adjustment)</a:t>
              </a:r>
              <a:endParaRPr lang="en-US" altLang="zh-CN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defRPr sz="1300">
                  <a:solidFill>
                    <a:srgbClr val="102451"/>
                  </a:solidFill>
                  <a:latin typeface="Arial"/>
                </a:defRPr>
              </a:pPr>
              <a:endParaRPr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04 Surrogate specifications"/>
          <p:cNvGrpSpPr/>
          <p:nvPr/>
        </p:nvGrpSpPr>
        <p:grpSpPr>
          <a:xfrm>
            <a:off x="7231380" y="4089718"/>
            <a:ext cx="3184208" cy="4681538"/>
            <a:chOff x="7231380" y="4216718"/>
            <a:chExt cx="3184208" cy="4681538"/>
          </a:xfrm>
          <a:effectLst/>
        </p:grpSpPr>
        <p:sp>
          <p:nvSpPr>
            <p:cNvPr id="13" name="Surrogate specifications — panel" descr="Surrogate specifications — panel"/>
            <p:cNvSpPr/>
            <p:nvPr/>
          </p:nvSpPr>
          <p:spPr>
            <a:xfrm>
              <a:off x="7231380" y="4216718"/>
              <a:ext cx="3184208" cy="4681538"/>
            </a:xfrm>
            <a:custGeom>
              <a:avLst/>
              <a:gdLst/>
              <a:ahLst/>
              <a:cxnLst/>
              <a:rect l="0" t="0" r="r" b="b"/>
              <a:pathLst>
                <a:path w="334300" h="491500" extrusionOk="0">
                  <a:moveTo>
                    <a:pt x="36000" y="0"/>
                  </a:moveTo>
                  <a:lnTo>
                    <a:pt x="298300" y="0"/>
                  </a:lnTo>
                  <a:cubicBezTo>
                    <a:pt x="318182" y="0"/>
                    <a:pt x="334300" y="16118"/>
                    <a:pt x="334300" y="36000"/>
                  </a:cubicBezTo>
                  <a:lnTo>
                    <a:pt x="334300" y="455500"/>
                  </a:lnTo>
                  <a:cubicBezTo>
                    <a:pt x="334300" y="475382"/>
                    <a:pt x="318182" y="491500"/>
                    <a:pt x="298300" y="491500"/>
                  </a:cubicBezTo>
                  <a:lnTo>
                    <a:pt x="36000" y="491500"/>
                  </a:lnTo>
                  <a:cubicBezTo>
                    <a:pt x="16118" y="491500"/>
                    <a:pt x="0" y="475382"/>
                    <a:pt x="0" y="455500"/>
                  </a:cubicBezTo>
                  <a:lnTo>
                    <a:pt x="0" y="36000"/>
                  </a:lnTo>
                  <a:cubicBezTo>
                    <a:pt x="0" y="16118"/>
                    <a:pt x="16118" y="0"/>
                    <a:pt x="3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AF9E6"/>
                </a:gs>
                <a:gs pos="50000">
                  <a:srgbClr val="ECFAE9"/>
                </a:gs>
                <a:gs pos="100000">
                  <a:srgbClr val="EAF9E5"/>
                </a:gs>
              </a:gsLst>
              <a:lin ang="5400000" scaled="1"/>
              <a:tileRect/>
            </a:gradFill>
            <a:ln w="28575" cap="rnd" cmpd="sng" algn="ctr">
              <a:solidFill>
                <a:srgbClr val="189332"/>
              </a:solidFill>
              <a:round/>
            </a:ln>
            <a:effectLst/>
          </p:spPr>
        </p:sp>
        <p:sp>
          <p:nvSpPr>
            <p:cNvPr id="14" name="Joint neural Student — inset" descr="Joint neural Student — inset"/>
            <p:cNvSpPr/>
            <p:nvPr/>
          </p:nvSpPr>
          <p:spPr>
            <a:xfrm>
              <a:off x="7381875" y="5662612"/>
              <a:ext cx="2887980" cy="1052512"/>
            </a:xfrm>
            <a:custGeom>
              <a:avLst/>
              <a:gdLst/>
              <a:ahLst/>
              <a:cxnLst/>
              <a:rect l="0" t="0" r="r" b="b"/>
              <a:pathLst>
                <a:path w="303200" h="110500" extrusionOk="0">
                  <a:moveTo>
                    <a:pt x="15000" y="0"/>
                  </a:moveTo>
                  <a:lnTo>
                    <a:pt x="288200" y="0"/>
                  </a:lnTo>
                  <a:cubicBezTo>
                    <a:pt x="296484" y="0"/>
                    <a:pt x="303200" y="6716"/>
                    <a:pt x="303200" y="15000"/>
                  </a:cubicBezTo>
                  <a:lnTo>
                    <a:pt x="303200" y="95500"/>
                  </a:lnTo>
                  <a:cubicBezTo>
                    <a:pt x="303200" y="103784"/>
                    <a:pt x="296484" y="110500"/>
                    <a:pt x="288200" y="110500"/>
                  </a:cubicBezTo>
                  <a:lnTo>
                    <a:pt x="15000" y="110500"/>
                  </a:lnTo>
                  <a:cubicBezTo>
                    <a:pt x="6716" y="110500"/>
                    <a:pt x="0" y="103784"/>
                    <a:pt x="0" y="95500"/>
                  </a:cubicBezTo>
                  <a:lnTo>
                    <a:pt x="0" y="15000"/>
                  </a:lnTo>
                  <a:cubicBezTo>
                    <a:pt x="0" y="6716"/>
                    <a:pt x="6716" y="0"/>
                    <a:pt x="15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3FCF0"/>
                </a:gs>
                <a:gs pos="100000">
                  <a:srgbClr val="F0FAED"/>
                </a:gs>
              </a:gsLst>
              <a:lin ang="5400000" scaled="1"/>
              <a:tileRect/>
            </a:gradFill>
            <a:ln w="10478" cap="rnd" cmpd="sng" algn="ctr">
              <a:solidFill>
                <a:srgbClr val="379143"/>
              </a:solidFill>
              <a:round/>
            </a:ln>
            <a:effectLst/>
          </p:spPr>
        </p:sp>
        <p:sp>
          <p:nvSpPr>
            <p:cNvPr id="15" name="Modular Student — inset" descr="Modular Student — inset"/>
            <p:cNvSpPr/>
            <p:nvPr/>
          </p:nvSpPr>
          <p:spPr>
            <a:xfrm>
              <a:off x="7381875" y="6844665"/>
              <a:ext cx="2887980" cy="1040130"/>
            </a:xfrm>
            <a:custGeom>
              <a:avLst/>
              <a:gdLst/>
              <a:ahLst/>
              <a:cxnLst/>
              <a:rect l="0" t="0" r="r" b="b"/>
              <a:pathLst>
                <a:path w="303200" h="109200" extrusionOk="0">
                  <a:moveTo>
                    <a:pt x="15000" y="0"/>
                  </a:moveTo>
                  <a:lnTo>
                    <a:pt x="288200" y="0"/>
                  </a:lnTo>
                  <a:cubicBezTo>
                    <a:pt x="296484" y="0"/>
                    <a:pt x="303200" y="6716"/>
                    <a:pt x="303200" y="15000"/>
                  </a:cubicBezTo>
                  <a:lnTo>
                    <a:pt x="303200" y="94200"/>
                  </a:lnTo>
                  <a:cubicBezTo>
                    <a:pt x="303200" y="102484"/>
                    <a:pt x="296484" y="109200"/>
                    <a:pt x="288200" y="109200"/>
                  </a:cubicBezTo>
                  <a:lnTo>
                    <a:pt x="15000" y="109200"/>
                  </a:lnTo>
                  <a:cubicBezTo>
                    <a:pt x="6716" y="109200"/>
                    <a:pt x="0" y="102484"/>
                    <a:pt x="0" y="94200"/>
                  </a:cubicBezTo>
                  <a:lnTo>
                    <a:pt x="0" y="15000"/>
                  </a:lnTo>
                  <a:cubicBezTo>
                    <a:pt x="0" y="6716"/>
                    <a:pt x="6716" y="0"/>
                    <a:pt x="15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3FCF0"/>
                </a:gs>
                <a:gs pos="100000">
                  <a:srgbClr val="F0FAED"/>
                </a:gs>
              </a:gsLst>
              <a:lin ang="5400000" scaled="1"/>
              <a:tileRect/>
            </a:gradFill>
            <a:ln w="10478" cap="rnd" cmpd="sng" algn="ctr">
              <a:solidFill>
                <a:srgbClr val="379143"/>
              </a:solidFill>
              <a:round/>
            </a:ln>
            <a:effectLst/>
          </p:spPr>
        </p:sp>
        <p:sp>
          <p:nvSpPr>
            <p:cNvPr id="31" name="Objective divider" descr="Objective divider"/>
            <p:cNvSpPr/>
            <p:nvPr/>
          </p:nvSpPr>
          <p:spPr>
            <a:xfrm>
              <a:off x="7400925" y="8029575"/>
              <a:ext cx="2847975" cy="95"/>
            </a:xfrm>
            <a:custGeom>
              <a:avLst/>
              <a:gdLst/>
              <a:ahLst/>
              <a:cxnLst/>
              <a:rect l="0" t="0" r="r" b="b"/>
              <a:pathLst>
                <a:path w="299000" h="10" fill="none" extrusionOk="0">
                  <a:moveTo>
                    <a:pt x="0" y="0"/>
                  </a:moveTo>
                  <a:lnTo>
                    <a:pt x="299000" y="0"/>
                  </a:lnTo>
                </a:path>
              </a:pathLst>
            </a:custGeom>
            <a:noFill/>
            <a:ln w="9525" cap="rnd" cmpd="sng" algn="ctr">
              <a:solidFill>
                <a:srgbClr val="7CB982"/>
              </a:solidFill>
              <a:round/>
            </a:ln>
            <a:effectLst/>
          </p:spPr>
        </p:sp>
        <p:sp>
          <p:nvSpPr>
            <p:cNvPr id="45" name="Brain icon" descr="Brain icon"/>
            <p:cNvSpPr/>
            <p:nvPr/>
          </p:nvSpPr>
          <p:spPr>
            <a:xfrm>
              <a:off x="8423275" y="4810125"/>
              <a:ext cx="733425" cy="685800"/>
            </a:xfrm>
            <a:custGeom>
              <a:avLst/>
              <a:gdLst/>
              <a:ahLst/>
              <a:cxnLst/>
              <a:rect l="0" t="0" r="r" b="b"/>
              <a:pathLst>
                <a:path w="77000" h="72000" stroke="0" extrusionOk="0">
                  <a:moveTo>
                    <a:pt x="25580" y="70479"/>
                  </a:moveTo>
                  <a:cubicBezTo>
                    <a:pt x="24525" y="70223"/>
                    <a:pt x="23244" y="69799"/>
                    <a:pt x="22735" y="69535"/>
                  </a:cubicBezTo>
                  <a:cubicBezTo>
                    <a:pt x="22226" y="69272"/>
                    <a:pt x="20920" y="68144"/>
                    <a:pt x="19833" y="67028"/>
                  </a:cubicBezTo>
                  <a:cubicBezTo>
                    <a:pt x="18747" y="65913"/>
                    <a:pt x="17594" y="65000"/>
                    <a:pt x="17272" y="65000"/>
                  </a:cubicBezTo>
                  <a:cubicBezTo>
                    <a:pt x="16200" y="65000"/>
                    <a:pt x="13102" y="63423"/>
                    <a:pt x="11719" y="62174"/>
                  </a:cubicBezTo>
                  <a:cubicBezTo>
                    <a:pt x="10968" y="61496"/>
                    <a:pt x="9944" y="60092"/>
                    <a:pt x="9444" y="59054"/>
                  </a:cubicBezTo>
                  <a:cubicBezTo>
                    <a:pt x="8718" y="57550"/>
                    <a:pt x="8519" y="56626"/>
                    <a:pt x="8463" y="54505"/>
                  </a:cubicBezTo>
                  <a:cubicBezTo>
                    <a:pt x="8401" y="52114"/>
                    <a:pt x="8314" y="51795"/>
                    <a:pt x="7613" y="51359"/>
                  </a:cubicBezTo>
                  <a:cubicBezTo>
                    <a:pt x="6281" y="50530"/>
                    <a:pt x="3492" y="47414"/>
                    <a:pt x="2745" y="45919"/>
                  </a:cubicBezTo>
                  <a:cubicBezTo>
                    <a:pt x="1791" y="44009"/>
                    <a:pt x="1000" y="40872"/>
                    <a:pt x="1000" y="39000"/>
                  </a:cubicBezTo>
                  <a:cubicBezTo>
                    <a:pt x="1000" y="37135"/>
                    <a:pt x="1755" y="34130"/>
                    <a:pt x="2699" y="32240"/>
                  </a:cubicBezTo>
                  <a:cubicBezTo>
                    <a:pt x="3086" y="31466"/>
                    <a:pt x="4169" y="30045"/>
                    <a:pt x="5108" y="29082"/>
                  </a:cubicBezTo>
                  <a:lnTo>
                    <a:pt x="6814" y="27330"/>
                  </a:lnTo>
                  <a:lnTo>
                    <a:pt x="6824" y="23415"/>
                  </a:lnTo>
                  <a:cubicBezTo>
                    <a:pt x="6832" y="20109"/>
                    <a:pt x="6946" y="19255"/>
                    <a:pt x="7560" y="17928"/>
                  </a:cubicBezTo>
                  <a:cubicBezTo>
                    <a:pt x="8996" y="14819"/>
                    <a:pt x="13172" y="11333"/>
                    <a:pt x="15462" y="11333"/>
                  </a:cubicBezTo>
                  <a:cubicBezTo>
                    <a:pt x="15911" y="11333"/>
                    <a:pt x="16508" y="11245"/>
                    <a:pt x="16789" y="11138"/>
                  </a:cubicBezTo>
                  <a:cubicBezTo>
                    <a:pt x="17069" y="11030"/>
                    <a:pt x="17630" y="9943"/>
                    <a:pt x="18036" y="8721"/>
                  </a:cubicBezTo>
                  <a:cubicBezTo>
                    <a:pt x="18634" y="6919"/>
                    <a:pt x="19135" y="6145"/>
                    <a:pt x="20694" y="4617"/>
                  </a:cubicBezTo>
                  <a:cubicBezTo>
                    <a:pt x="23218" y="2143"/>
                    <a:pt x="25508" y="1216"/>
                    <a:pt x="29167" y="1187"/>
                  </a:cubicBezTo>
                  <a:cubicBezTo>
                    <a:pt x="31179" y="1172"/>
                    <a:pt x="32328" y="1355"/>
                    <a:pt x="33850" y="1932"/>
                  </a:cubicBezTo>
                  <a:cubicBezTo>
                    <a:pt x="34960" y="2354"/>
                    <a:pt x="36449" y="3216"/>
                    <a:pt x="37161" y="3849"/>
                  </a:cubicBezTo>
                  <a:cubicBezTo>
                    <a:pt x="37872" y="4482"/>
                    <a:pt x="38501" y="5000"/>
                    <a:pt x="38558" y="5000"/>
                  </a:cubicBezTo>
                  <a:cubicBezTo>
                    <a:pt x="38614" y="5000"/>
                    <a:pt x="39357" y="4469"/>
                    <a:pt x="40207" y="3820"/>
                  </a:cubicBezTo>
                  <a:cubicBezTo>
                    <a:pt x="42065" y="2402"/>
                    <a:pt x="43395" y="1818"/>
                    <a:pt x="45987" y="1282"/>
                  </a:cubicBezTo>
                  <a:cubicBezTo>
                    <a:pt x="47537" y="962"/>
                    <a:pt x="48336" y="968"/>
                    <a:pt x="49885" y="1308"/>
                  </a:cubicBezTo>
                  <a:cubicBezTo>
                    <a:pt x="52552" y="1894"/>
                    <a:pt x="55463" y="3499"/>
                    <a:pt x="56977" y="5219"/>
                  </a:cubicBezTo>
                  <a:cubicBezTo>
                    <a:pt x="57671" y="6008"/>
                    <a:pt x="58568" y="7557"/>
                    <a:pt x="58971" y="8660"/>
                  </a:cubicBezTo>
                  <a:cubicBezTo>
                    <a:pt x="59530" y="10194"/>
                    <a:pt x="59858" y="10667"/>
                    <a:pt x="60365" y="10667"/>
                  </a:cubicBezTo>
                  <a:cubicBezTo>
                    <a:pt x="62056" y="10667"/>
                    <a:pt x="66623" y="13773"/>
                    <a:pt x="68132" y="15949"/>
                  </a:cubicBezTo>
                  <a:cubicBezTo>
                    <a:pt x="70085" y="18768"/>
                    <a:pt x="70850" y="23033"/>
                    <a:pt x="69944" y="26056"/>
                  </a:cubicBezTo>
                  <a:lnTo>
                    <a:pt x="69554" y="27356"/>
                  </a:lnTo>
                  <a:lnTo>
                    <a:pt x="71234" y="28928"/>
                  </a:lnTo>
                  <a:cubicBezTo>
                    <a:pt x="74431" y="31920"/>
                    <a:pt x="75753" y="35039"/>
                    <a:pt x="75716" y="39499"/>
                  </a:cubicBezTo>
                  <a:cubicBezTo>
                    <a:pt x="75676" y="44332"/>
                    <a:pt x="73810" y="48049"/>
                    <a:pt x="70230" y="50426"/>
                  </a:cubicBezTo>
                  <a:cubicBezTo>
                    <a:pt x="69187" y="51118"/>
                    <a:pt x="68330" y="51793"/>
                    <a:pt x="68325" y="51926"/>
                  </a:cubicBezTo>
                  <a:cubicBezTo>
                    <a:pt x="68210" y="55252"/>
                    <a:pt x="67972" y="56802"/>
                    <a:pt x="67362" y="58185"/>
                  </a:cubicBezTo>
                  <a:cubicBezTo>
                    <a:pt x="66105" y="61036"/>
                    <a:pt x="62241" y="64333"/>
                    <a:pt x="60158" y="64333"/>
                  </a:cubicBezTo>
                  <a:cubicBezTo>
                    <a:pt x="59500" y="64333"/>
                    <a:pt x="58796" y="64844"/>
                    <a:pt x="57458" y="66292"/>
                  </a:cubicBezTo>
                  <a:cubicBezTo>
                    <a:pt x="55185" y="68752"/>
                    <a:pt x="52421" y="70269"/>
                    <a:pt x="49599" y="70606"/>
                  </a:cubicBezTo>
                  <a:cubicBezTo>
                    <a:pt x="45920" y="71045"/>
                    <a:pt x="43385" y="70238"/>
                    <a:pt x="40274" y="67637"/>
                  </a:cubicBezTo>
                  <a:cubicBezTo>
                    <a:pt x="39416" y="66920"/>
                    <a:pt x="38581" y="66333"/>
                    <a:pt x="38419" y="66333"/>
                  </a:cubicBezTo>
                  <a:cubicBezTo>
                    <a:pt x="38257" y="66333"/>
                    <a:pt x="37688" y="66789"/>
                    <a:pt x="37154" y="67347"/>
                  </a:cubicBezTo>
                  <a:cubicBezTo>
                    <a:pt x="35865" y="68692"/>
                    <a:pt x="33583" y="69941"/>
                    <a:pt x="31347" y="70525"/>
                  </a:cubicBezTo>
                  <a:cubicBezTo>
                    <a:pt x="29152" y="71098"/>
                    <a:pt x="28098" y="71089"/>
                    <a:pt x="25580" y="70479"/>
                  </a:cubicBezTo>
                  <a:close/>
                  <a:moveTo>
                    <a:pt x="30296" y="65977"/>
                  </a:moveTo>
                  <a:cubicBezTo>
                    <a:pt x="32382" y="65529"/>
                    <a:pt x="34696" y="63577"/>
                    <a:pt x="35495" y="61589"/>
                  </a:cubicBezTo>
                  <a:cubicBezTo>
                    <a:pt x="36025" y="60271"/>
                    <a:pt x="36051" y="58314"/>
                    <a:pt x="35845" y="35000"/>
                  </a:cubicBezTo>
                  <a:cubicBezTo>
                    <a:pt x="35594" y="6576"/>
                    <a:pt x="35815" y="8675"/>
                    <a:pt x="32877" y="6858"/>
                  </a:cubicBezTo>
                  <a:cubicBezTo>
                    <a:pt x="31559" y="6043"/>
                    <a:pt x="30929" y="5875"/>
                    <a:pt x="29199" y="5875"/>
                  </a:cubicBezTo>
                  <a:cubicBezTo>
                    <a:pt x="27681" y="5875"/>
                    <a:pt x="26717" y="6080"/>
                    <a:pt x="25669" y="6626"/>
                  </a:cubicBezTo>
                  <a:cubicBezTo>
                    <a:pt x="23587" y="7712"/>
                    <a:pt x="22033" y="9754"/>
                    <a:pt x="22012" y="11433"/>
                  </a:cubicBezTo>
                  <a:cubicBezTo>
                    <a:pt x="21996" y="12702"/>
                    <a:pt x="22784" y="14142"/>
                    <a:pt x="24728" y="16396"/>
                  </a:cubicBezTo>
                  <a:cubicBezTo>
                    <a:pt x="25824" y="17667"/>
                    <a:pt x="26770" y="18416"/>
                    <a:pt x="27598" y="18669"/>
                  </a:cubicBezTo>
                  <a:cubicBezTo>
                    <a:pt x="29619" y="19286"/>
                    <a:pt x="30363" y="19758"/>
                    <a:pt x="30872" y="20741"/>
                  </a:cubicBezTo>
                  <a:cubicBezTo>
                    <a:pt x="31433" y="21826"/>
                    <a:pt x="31157" y="22566"/>
                    <a:pt x="29790" y="23641"/>
                  </a:cubicBezTo>
                  <a:cubicBezTo>
                    <a:pt x="28553" y="24615"/>
                    <a:pt x="27024" y="24522"/>
                    <a:pt x="25467" y="23379"/>
                  </a:cubicBezTo>
                  <a:cubicBezTo>
                    <a:pt x="23741" y="22113"/>
                    <a:pt x="19991" y="18148"/>
                    <a:pt x="19039" y="16583"/>
                  </a:cubicBezTo>
                  <a:cubicBezTo>
                    <a:pt x="18579" y="15826"/>
                    <a:pt x="18023" y="15333"/>
                    <a:pt x="17629" y="15333"/>
                  </a:cubicBezTo>
                  <a:cubicBezTo>
                    <a:pt x="16601" y="15333"/>
                    <a:pt x="14588" y="16286"/>
                    <a:pt x="13541" y="17268"/>
                  </a:cubicBezTo>
                  <a:cubicBezTo>
                    <a:pt x="12243" y="18485"/>
                    <a:pt x="11007" y="21204"/>
                    <a:pt x="11003" y="22851"/>
                  </a:cubicBezTo>
                  <a:cubicBezTo>
                    <a:pt x="11001" y="23641"/>
                    <a:pt x="11357" y="24919"/>
                    <a:pt x="11859" y="25927"/>
                  </a:cubicBezTo>
                  <a:cubicBezTo>
                    <a:pt x="12332" y="26875"/>
                    <a:pt x="12668" y="27914"/>
                    <a:pt x="12606" y="28235"/>
                  </a:cubicBezTo>
                  <a:cubicBezTo>
                    <a:pt x="12544" y="28556"/>
                    <a:pt x="11642" y="29383"/>
                    <a:pt x="10600" y="30072"/>
                  </a:cubicBezTo>
                  <a:cubicBezTo>
                    <a:pt x="7205" y="32319"/>
                    <a:pt x="5961" y="34742"/>
                    <a:pt x="5930" y="39167"/>
                  </a:cubicBezTo>
                  <a:cubicBezTo>
                    <a:pt x="5909" y="42307"/>
                    <a:pt x="6478" y="43931"/>
                    <a:pt x="8230" y="45729"/>
                  </a:cubicBezTo>
                  <a:cubicBezTo>
                    <a:pt x="9504" y="47036"/>
                    <a:pt x="10413" y="47491"/>
                    <a:pt x="12407" y="47821"/>
                  </a:cubicBezTo>
                  <a:cubicBezTo>
                    <a:pt x="13118" y="47939"/>
                    <a:pt x="13858" y="48327"/>
                    <a:pt x="14141" y="48731"/>
                  </a:cubicBezTo>
                  <a:cubicBezTo>
                    <a:pt x="14589" y="49371"/>
                    <a:pt x="14559" y="49565"/>
                    <a:pt x="13817" y="50831"/>
                  </a:cubicBezTo>
                  <a:cubicBezTo>
                    <a:pt x="13209" y="51869"/>
                    <a:pt x="13000" y="52710"/>
                    <a:pt x="13000" y="54123"/>
                  </a:cubicBezTo>
                  <a:cubicBezTo>
                    <a:pt x="13000" y="55167"/>
                    <a:pt x="13205" y="56513"/>
                    <a:pt x="13457" y="57114"/>
                  </a:cubicBezTo>
                  <a:cubicBezTo>
                    <a:pt x="13981" y="58369"/>
                    <a:pt x="16508" y="60667"/>
                    <a:pt x="17364" y="60667"/>
                  </a:cubicBezTo>
                  <a:cubicBezTo>
                    <a:pt x="17718" y="60667"/>
                    <a:pt x="18223" y="60084"/>
                    <a:pt x="18672" y="59155"/>
                  </a:cubicBezTo>
                  <a:cubicBezTo>
                    <a:pt x="19424" y="57602"/>
                    <a:pt x="21977" y="55333"/>
                    <a:pt x="22974" y="55333"/>
                  </a:cubicBezTo>
                  <a:cubicBezTo>
                    <a:pt x="23814" y="55333"/>
                    <a:pt x="25000" y="56301"/>
                    <a:pt x="25000" y="56987"/>
                  </a:cubicBezTo>
                  <a:cubicBezTo>
                    <a:pt x="25000" y="57326"/>
                    <a:pt x="24484" y="58221"/>
                    <a:pt x="23853" y="58976"/>
                  </a:cubicBezTo>
                  <a:cubicBezTo>
                    <a:pt x="23223" y="59731"/>
                    <a:pt x="22612" y="60647"/>
                    <a:pt x="22496" y="61013"/>
                  </a:cubicBezTo>
                  <a:cubicBezTo>
                    <a:pt x="21934" y="62784"/>
                    <a:pt x="24020" y="65439"/>
                    <a:pt x="26421" y="66009"/>
                  </a:cubicBezTo>
                  <a:cubicBezTo>
                    <a:pt x="27977" y="66378"/>
                    <a:pt x="28442" y="66375"/>
                    <a:pt x="30296" y="65977"/>
                  </a:cubicBezTo>
                  <a:close/>
                  <a:moveTo>
                    <a:pt x="52393" y="64814"/>
                  </a:moveTo>
                  <a:cubicBezTo>
                    <a:pt x="55259" y="62799"/>
                    <a:pt x="56122" y="59620"/>
                    <a:pt x="54477" y="57130"/>
                  </a:cubicBezTo>
                  <a:cubicBezTo>
                    <a:pt x="52747" y="54510"/>
                    <a:pt x="50426" y="53179"/>
                    <a:pt x="48176" y="53516"/>
                  </a:cubicBezTo>
                  <a:cubicBezTo>
                    <a:pt x="47077" y="53681"/>
                    <a:pt x="46703" y="53593"/>
                    <a:pt x="46216" y="53054"/>
                  </a:cubicBezTo>
                  <a:cubicBezTo>
                    <a:pt x="45322" y="52066"/>
                    <a:pt x="45645" y="50958"/>
                    <a:pt x="47103" y="50017"/>
                  </a:cubicBezTo>
                  <a:lnTo>
                    <a:pt x="48372" y="49197"/>
                  </a:lnTo>
                  <a:lnTo>
                    <a:pt x="48150" y="47124"/>
                  </a:lnTo>
                  <a:cubicBezTo>
                    <a:pt x="47959" y="45341"/>
                    <a:pt x="48042" y="44803"/>
                    <a:pt x="48744" y="43275"/>
                  </a:cubicBezTo>
                  <a:cubicBezTo>
                    <a:pt x="49193" y="42299"/>
                    <a:pt x="49962" y="41025"/>
                    <a:pt x="50453" y="40445"/>
                  </a:cubicBezTo>
                  <a:cubicBezTo>
                    <a:pt x="51515" y="39189"/>
                    <a:pt x="54002" y="37667"/>
                    <a:pt x="54991" y="37667"/>
                  </a:cubicBezTo>
                  <a:cubicBezTo>
                    <a:pt x="55959" y="37667"/>
                    <a:pt x="57333" y="39120"/>
                    <a:pt x="57333" y="40144"/>
                  </a:cubicBezTo>
                  <a:cubicBezTo>
                    <a:pt x="57333" y="41053"/>
                    <a:pt x="56440" y="41806"/>
                    <a:pt x="54916" y="42180"/>
                  </a:cubicBezTo>
                  <a:cubicBezTo>
                    <a:pt x="52831" y="42693"/>
                    <a:pt x="51558" y="45786"/>
                    <a:pt x="52299" y="48538"/>
                  </a:cubicBezTo>
                  <a:cubicBezTo>
                    <a:pt x="52572" y="49555"/>
                    <a:pt x="53265" y="50416"/>
                    <a:pt x="55280" y="52244"/>
                  </a:cubicBezTo>
                  <a:cubicBezTo>
                    <a:pt x="57946" y="54663"/>
                    <a:pt x="58895" y="56094"/>
                    <a:pt x="59239" y="58213"/>
                  </a:cubicBezTo>
                  <a:cubicBezTo>
                    <a:pt x="59344" y="58861"/>
                    <a:pt x="59635" y="59470"/>
                    <a:pt x="59885" y="59566"/>
                  </a:cubicBezTo>
                  <a:cubicBezTo>
                    <a:pt x="60571" y="59829"/>
                    <a:pt x="62585" y="58133"/>
                    <a:pt x="63336" y="56661"/>
                  </a:cubicBezTo>
                  <a:cubicBezTo>
                    <a:pt x="64188" y="54992"/>
                    <a:pt x="64208" y="52567"/>
                    <a:pt x="63381" y="51385"/>
                  </a:cubicBezTo>
                  <a:cubicBezTo>
                    <a:pt x="61967" y="49365"/>
                    <a:pt x="62294" y="48586"/>
                    <a:pt x="64868" y="47838"/>
                  </a:cubicBezTo>
                  <a:cubicBezTo>
                    <a:pt x="67402" y="47101"/>
                    <a:pt x="69736" y="44802"/>
                    <a:pt x="70475" y="42314"/>
                  </a:cubicBezTo>
                  <a:cubicBezTo>
                    <a:pt x="71184" y="39926"/>
                    <a:pt x="71135" y="38054"/>
                    <a:pt x="70307" y="35841"/>
                  </a:cubicBezTo>
                  <a:cubicBezTo>
                    <a:pt x="69449" y="33547"/>
                    <a:pt x="68382" y="32252"/>
                    <a:pt x="66382" y="31078"/>
                  </a:cubicBezTo>
                  <a:cubicBezTo>
                    <a:pt x="65123" y="30340"/>
                    <a:pt x="64424" y="30169"/>
                    <a:pt x="62651" y="30168"/>
                  </a:cubicBezTo>
                  <a:cubicBezTo>
                    <a:pt x="60651" y="30167"/>
                    <a:pt x="60241" y="30299"/>
                    <a:pt x="57742" y="31750"/>
                  </a:cubicBezTo>
                  <a:cubicBezTo>
                    <a:pt x="56242" y="32621"/>
                    <a:pt x="54674" y="33333"/>
                    <a:pt x="54258" y="33333"/>
                  </a:cubicBezTo>
                  <a:cubicBezTo>
                    <a:pt x="53530" y="33333"/>
                    <a:pt x="49136" y="32499"/>
                    <a:pt x="47908" y="32128"/>
                  </a:cubicBezTo>
                  <a:cubicBezTo>
                    <a:pt x="47582" y="32030"/>
                    <a:pt x="47091" y="31606"/>
                    <a:pt x="46816" y="31186"/>
                  </a:cubicBezTo>
                  <a:cubicBezTo>
                    <a:pt x="46134" y="30147"/>
                    <a:pt x="46643" y="28896"/>
                    <a:pt x="47969" y="28346"/>
                  </a:cubicBezTo>
                  <a:cubicBezTo>
                    <a:pt x="49058" y="27895"/>
                    <a:pt x="49652" y="27964"/>
                    <a:pt x="51925" y="28807"/>
                  </a:cubicBezTo>
                  <a:cubicBezTo>
                    <a:pt x="53203" y="29281"/>
                    <a:pt x="53460" y="29284"/>
                    <a:pt x="54425" y="28832"/>
                  </a:cubicBezTo>
                  <a:cubicBezTo>
                    <a:pt x="55016" y="28555"/>
                    <a:pt x="55970" y="28026"/>
                    <a:pt x="56545" y="27656"/>
                  </a:cubicBezTo>
                  <a:cubicBezTo>
                    <a:pt x="57885" y="26793"/>
                    <a:pt x="61119" y="25948"/>
                    <a:pt x="62833" y="26012"/>
                  </a:cubicBezTo>
                  <a:cubicBezTo>
                    <a:pt x="63567" y="26039"/>
                    <a:pt x="64405" y="26048"/>
                    <a:pt x="64696" y="26031"/>
                  </a:cubicBezTo>
                  <a:cubicBezTo>
                    <a:pt x="65386" y="25991"/>
                    <a:pt x="66000" y="24614"/>
                    <a:pt x="66000" y="23106"/>
                  </a:cubicBezTo>
                  <a:cubicBezTo>
                    <a:pt x="66000" y="20081"/>
                    <a:pt x="64180" y="17276"/>
                    <a:pt x="61256" y="15794"/>
                  </a:cubicBezTo>
                  <a:cubicBezTo>
                    <a:pt x="59883" y="15099"/>
                    <a:pt x="59310" y="14987"/>
                    <a:pt x="58025" y="15163"/>
                  </a:cubicBezTo>
                  <a:cubicBezTo>
                    <a:pt x="56759" y="15337"/>
                    <a:pt x="56310" y="15254"/>
                    <a:pt x="55657" y="14726"/>
                  </a:cubicBezTo>
                  <a:cubicBezTo>
                    <a:pt x="54989" y="14185"/>
                    <a:pt x="54863" y="13808"/>
                    <a:pt x="54920" y="12512"/>
                  </a:cubicBezTo>
                  <a:cubicBezTo>
                    <a:pt x="55002" y="10622"/>
                    <a:pt x="54429" y="9183"/>
                    <a:pt x="53035" y="7786"/>
                  </a:cubicBezTo>
                  <a:cubicBezTo>
                    <a:pt x="51542" y="6288"/>
                    <a:pt x="49919" y="5619"/>
                    <a:pt x="47777" y="5619"/>
                  </a:cubicBezTo>
                  <a:cubicBezTo>
                    <a:pt x="46319" y="5619"/>
                    <a:pt x="45593" y="5822"/>
                    <a:pt x="44384" y="6570"/>
                  </a:cubicBezTo>
                  <a:cubicBezTo>
                    <a:pt x="43538" y="7093"/>
                    <a:pt x="42530" y="7989"/>
                    <a:pt x="42144" y="8562"/>
                  </a:cubicBezTo>
                  <a:cubicBezTo>
                    <a:pt x="41474" y="9556"/>
                    <a:pt x="41433" y="10149"/>
                    <a:pt x="41221" y="21689"/>
                  </a:cubicBezTo>
                  <a:cubicBezTo>
                    <a:pt x="40883" y="40182"/>
                    <a:pt x="40950" y="59972"/>
                    <a:pt x="41356" y="61434"/>
                  </a:cubicBezTo>
                  <a:cubicBezTo>
                    <a:pt x="41782" y="62970"/>
                    <a:pt x="43041" y="64381"/>
                    <a:pt x="44833" y="65331"/>
                  </a:cubicBezTo>
                  <a:cubicBezTo>
                    <a:pt x="45914" y="65904"/>
                    <a:pt x="46622" y="66018"/>
                    <a:pt x="48562" y="65931"/>
                  </a:cubicBezTo>
                  <a:cubicBezTo>
                    <a:pt x="50592" y="65839"/>
                    <a:pt x="51177" y="65668"/>
                    <a:pt x="52393" y="64814"/>
                  </a:cubicBezTo>
                  <a:close/>
                  <a:moveTo>
                    <a:pt x="27416" y="52917"/>
                  </a:moveTo>
                  <a:cubicBezTo>
                    <a:pt x="27234" y="52688"/>
                    <a:pt x="26983" y="51798"/>
                    <a:pt x="26858" y="50940"/>
                  </a:cubicBezTo>
                  <a:cubicBezTo>
                    <a:pt x="26734" y="50082"/>
                    <a:pt x="26345" y="49014"/>
                    <a:pt x="25992" y="48566"/>
                  </a:cubicBezTo>
                  <a:cubicBezTo>
                    <a:pt x="25009" y="47315"/>
                    <a:pt x="23080" y="46556"/>
                    <a:pt x="20367" y="46352"/>
                  </a:cubicBezTo>
                  <a:cubicBezTo>
                    <a:pt x="18193" y="46189"/>
                    <a:pt x="17823" y="46062"/>
                    <a:pt x="17241" y="45279"/>
                  </a:cubicBezTo>
                  <a:cubicBezTo>
                    <a:pt x="16785" y="44666"/>
                    <a:pt x="16646" y="44126"/>
                    <a:pt x="16795" y="43535"/>
                  </a:cubicBezTo>
                  <a:cubicBezTo>
                    <a:pt x="17046" y="42532"/>
                    <a:pt x="18530" y="41667"/>
                    <a:pt x="19997" y="41667"/>
                  </a:cubicBezTo>
                  <a:cubicBezTo>
                    <a:pt x="20564" y="41667"/>
                    <a:pt x="21990" y="42117"/>
                    <a:pt x="23167" y="42667"/>
                  </a:cubicBezTo>
                  <a:cubicBezTo>
                    <a:pt x="24343" y="43217"/>
                    <a:pt x="25583" y="43667"/>
                    <a:pt x="25921" y="43667"/>
                  </a:cubicBezTo>
                  <a:cubicBezTo>
                    <a:pt x="27355" y="43667"/>
                    <a:pt x="30158" y="46620"/>
                    <a:pt x="30951" y="48966"/>
                  </a:cubicBezTo>
                  <a:cubicBezTo>
                    <a:pt x="31573" y="50810"/>
                    <a:pt x="31430" y="51876"/>
                    <a:pt x="30455" y="52642"/>
                  </a:cubicBezTo>
                  <a:cubicBezTo>
                    <a:pt x="29475" y="53413"/>
                    <a:pt x="27924" y="53553"/>
                    <a:pt x="27416" y="52917"/>
                  </a:cubicBezTo>
                  <a:close/>
                  <a:moveTo>
                    <a:pt x="11921" y="36963"/>
                  </a:moveTo>
                  <a:cubicBezTo>
                    <a:pt x="11602" y="36784"/>
                    <a:pt x="11184" y="36345"/>
                    <a:pt x="10992" y="35986"/>
                  </a:cubicBezTo>
                  <a:cubicBezTo>
                    <a:pt x="10202" y="34509"/>
                    <a:pt x="12197" y="33000"/>
                    <a:pt x="14938" y="33000"/>
                  </a:cubicBezTo>
                  <a:cubicBezTo>
                    <a:pt x="17052" y="33000"/>
                    <a:pt x="18124" y="32184"/>
                    <a:pt x="18625" y="30194"/>
                  </a:cubicBezTo>
                  <a:cubicBezTo>
                    <a:pt x="19278" y="27600"/>
                    <a:pt x="21307" y="26893"/>
                    <a:pt x="22914" y="28700"/>
                  </a:cubicBezTo>
                  <a:cubicBezTo>
                    <a:pt x="23752" y="29643"/>
                    <a:pt x="23966" y="29717"/>
                    <a:pt x="25333" y="29547"/>
                  </a:cubicBezTo>
                  <a:cubicBezTo>
                    <a:pt x="26158" y="29445"/>
                    <a:pt x="27208" y="29270"/>
                    <a:pt x="27667" y="29159"/>
                  </a:cubicBezTo>
                  <a:cubicBezTo>
                    <a:pt x="28878" y="28865"/>
                    <a:pt x="30070" y="30062"/>
                    <a:pt x="29936" y="31437"/>
                  </a:cubicBezTo>
                  <a:cubicBezTo>
                    <a:pt x="29861" y="32194"/>
                    <a:pt x="29514" y="32695"/>
                    <a:pt x="28667" y="33268"/>
                  </a:cubicBezTo>
                  <a:cubicBezTo>
                    <a:pt x="27588" y="33998"/>
                    <a:pt x="27292" y="34040"/>
                    <a:pt x="24741" y="33831"/>
                  </a:cubicBezTo>
                  <a:lnTo>
                    <a:pt x="21982" y="33605"/>
                  </a:lnTo>
                  <a:lnTo>
                    <a:pt x="20310" y="35431"/>
                  </a:lnTo>
                  <a:lnTo>
                    <a:pt x="18638" y="37256"/>
                  </a:lnTo>
                  <a:lnTo>
                    <a:pt x="15569" y="37272"/>
                  </a:lnTo>
                  <a:cubicBezTo>
                    <a:pt x="13881" y="37281"/>
                    <a:pt x="12239" y="37142"/>
                    <a:pt x="11921" y="36963"/>
                  </a:cubicBezTo>
                  <a:close/>
                  <a:moveTo>
                    <a:pt x="51167" y="25022"/>
                  </a:moveTo>
                  <a:cubicBezTo>
                    <a:pt x="50373" y="24685"/>
                    <a:pt x="46690" y="21498"/>
                    <a:pt x="46051" y="20595"/>
                  </a:cubicBezTo>
                  <a:cubicBezTo>
                    <a:pt x="45687" y="20082"/>
                    <a:pt x="45680" y="19773"/>
                    <a:pt x="46013" y="18968"/>
                  </a:cubicBezTo>
                  <a:cubicBezTo>
                    <a:pt x="46509" y="17771"/>
                    <a:pt x="47451" y="17207"/>
                    <a:pt x="48510" y="17473"/>
                  </a:cubicBezTo>
                  <a:cubicBezTo>
                    <a:pt x="48939" y="17580"/>
                    <a:pt x="49845" y="18346"/>
                    <a:pt x="50523" y="19173"/>
                  </a:cubicBezTo>
                  <a:cubicBezTo>
                    <a:pt x="51730" y="20646"/>
                    <a:pt x="51788" y="20674"/>
                    <a:pt x="53295" y="20481"/>
                  </a:cubicBezTo>
                  <a:cubicBezTo>
                    <a:pt x="54981" y="20265"/>
                    <a:pt x="55782" y="20659"/>
                    <a:pt x="56145" y="21884"/>
                  </a:cubicBezTo>
                  <a:cubicBezTo>
                    <a:pt x="56314" y="22453"/>
                    <a:pt x="56060" y="22846"/>
                    <a:pt x="54927" y="23774"/>
                  </a:cubicBezTo>
                  <a:cubicBezTo>
                    <a:pt x="53351" y="25066"/>
                    <a:pt x="52182" y="25454"/>
                    <a:pt x="51167" y="25022"/>
                  </a:cubicBezTo>
                  <a:close/>
                </a:path>
              </a:pathLst>
            </a:custGeom>
            <a:solidFill>
              <a:srgbClr val="16853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46" name="Joint model network" descr="Joint model network"/>
            <p:cNvSpPr/>
            <p:nvPr/>
          </p:nvSpPr>
          <p:spPr>
            <a:xfrm>
              <a:off x="7496175" y="5819775"/>
              <a:ext cx="644525" cy="666750"/>
            </a:xfrm>
            <a:custGeom>
              <a:avLst/>
              <a:gdLst/>
              <a:ahLst/>
              <a:cxnLst/>
              <a:rect l="0" t="0" r="r" b="b"/>
              <a:pathLst>
                <a:path w="67667" h="70000" stroke="0" extrusionOk="0">
                  <a:moveTo>
                    <a:pt x="33588" y="68513"/>
                  </a:moveTo>
                  <a:cubicBezTo>
                    <a:pt x="31678" y="67785"/>
                    <a:pt x="29562" y="66199"/>
                    <a:pt x="28550" y="64738"/>
                  </a:cubicBezTo>
                  <a:cubicBezTo>
                    <a:pt x="26981" y="62475"/>
                    <a:pt x="26333" y="60282"/>
                    <a:pt x="26333" y="57237"/>
                  </a:cubicBezTo>
                  <a:lnTo>
                    <a:pt x="26333" y="54482"/>
                  </a:lnTo>
                  <a:lnTo>
                    <a:pt x="22117" y="51824"/>
                  </a:lnTo>
                  <a:cubicBezTo>
                    <a:pt x="19798" y="50363"/>
                    <a:pt x="17785" y="49121"/>
                    <a:pt x="17643" y="49064"/>
                  </a:cubicBezTo>
                  <a:cubicBezTo>
                    <a:pt x="17501" y="49008"/>
                    <a:pt x="16886" y="49510"/>
                    <a:pt x="16276" y="50181"/>
                  </a:cubicBezTo>
                  <a:cubicBezTo>
                    <a:pt x="14694" y="51922"/>
                    <a:pt x="12652" y="53015"/>
                    <a:pt x="10586" y="53229"/>
                  </a:cubicBezTo>
                  <a:cubicBezTo>
                    <a:pt x="9195" y="53372"/>
                    <a:pt x="8430" y="53250"/>
                    <a:pt x="7082" y="52670"/>
                  </a:cubicBezTo>
                  <a:cubicBezTo>
                    <a:pt x="5022" y="51784"/>
                    <a:pt x="2608" y="49327"/>
                    <a:pt x="1595" y="47086"/>
                  </a:cubicBezTo>
                  <a:cubicBezTo>
                    <a:pt x="1022" y="45818"/>
                    <a:pt x="873" y="44831"/>
                    <a:pt x="856" y="42161"/>
                  </a:cubicBezTo>
                  <a:cubicBezTo>
                    <a:pt x="835" y="39036"/>
                    <a:pt x="904" y="38678"/>
                    <a:pt x="1931" y="36591"/>
                  </a:cubicBezTo>
                  <a:cubicBezTo>
                    <a:pt x="3657" y="33084"/>
                    <a:pt x="7010" y="30590"/>
                    <a:pt x="10000" y="30590"/>
                  </a:cubicBezTo>
                  <a:cubicBezTo>
                    <a:pt x="13072" y="30590"/>
                    <a:pt x="16316" y="33130"/>
                    <a:pt x="18092" y="36926"/>
                  </a:cubicBezTo>
                  <a:cubicBezTo>
                    <a:pt x="19076" y="39028"/>
                    <a:pt x="19212" y="39890"/>
                    <a:pt x="19328" y="44729"/>
                  </a:cubicBezTo>
                  <a:cubicBezTo>
                    <a:pt x="19335" y="45010"/>
                    <a:pt x="24253" y="48210"/>
                    <a:pt x="26407" y="49334"/>
                  </a:cubicBezTo>
                  <a:lnTo>
                    <a:pt x="27980" y="50155"/>
                  </a:lnTo>
                  <a:lnTo>
                    <a:pt x="29240" y="48968"/>
                  </a:lnTo>
                  <a:cubicBezTo>
                    <a:pt x="29933" y="48316"/>
                    <a:pt x="31138" y="47293"/>
                    <a:pt x="31917" y="46696"/>
                  </a:cubicBezTo>
                  <a:cubicBezTo>
                    <a:pt x="33331" y="45612"/>
                    <a:pt x="33333" y="45607"/>
                    <a:pt x="33340" y="43389"/>
                  </a:cubicBezTo>
                  <a:cubicBezTo>
                    <a:pt x="33347" y="41016"/>
                    <a:pt x="32373" y="26011"/>
                    <a:pt x="32129" y="24742"/>
                  </a:cubicBezTo>
                  <a:cubicBezTo>
                    <a:pt x="32026" y="24204"/>
                    <a:pt x="31463" y="23754"/>
                    <a:pt x="30189" y="23191"/>
                  </a:cubicBezTo>
                  <a:cubicBezTo>
                    <a:pt x="27957" y="22203"/>
                    <a:pt x="25832" y="20065"/>
                    <a:pt x="24699" y="17667"/>
                  </a:cubicBezTo>
                  <a:cubicBezTo>
                    <a:pt x="23936" y="16051"/>
                    <a:pt x="23834" y="15418"/>
                    <a:pt x="23841" y="12333"/>
                  </a:cubicBezTo>
                  <a:cubicBezTo>
                    <a:pt x="23847" y="9477"/>
                    <a:pt x="23980" y="8547"/>
                    <a:pt x="24561" y="7275"/>
                  </a:cubicBezTo>
                  <a:cubicBezTo>
                    <a:pt x="25459" y="5312"/>
                    <a:pt x="27745" y="2810"/>
                    <a:pt x="29424" y="1953"/>
                  </a:cubicBezTo>
                  <a:cubicBezTo>
                    <a:pt x="33230" y="12"/>
                    <a:pt x="37529" y="1282"/>
                    <a:pt x="40129" y="5116"/>
                  </a:cubicBezTo>
                  <a:cubicBezTo>
                    <a:pt x="41816" y="7605"/>
                    <a:pt x="42468" y="10198"/>
                    <a:pt x="42204" y="13368"/>
                  </a:cubicBezTo>
                  <a:lnTo>
                    <a:pt x="41989" y="15939"/>
                  </a:lnTo>
                  <a:lnTo>
                    <a:pt x="45745" y="18738"/>
                  </a:lnTo>
                  <a:cubicBezTo>
                    <a:pt x="47810" y="20278"/>
                    <a:pt x="49693" y="21654"/>
                    <a:pt x="49929" y="21796"/>
                  </a:cubicBezTo>
                  <a:cubicBezTo>
                    <a:pt x="50201" y="21960"/>
                    <a:pt x="50827" y="21632"/>
                    <a:pt x="51636" y="20901"/>
                  </a:cubicBezTo>
                  <a:cubicBezTo>
                    <a:pt x="53059" y="19615"/>
                    <a:pt x="56125" y="18332"/>
                    <a:pt x="57763" y="18337"/>
                  </a:cubicBezTo>
                  <a:cubicBezTo>
                    <a:pt x="59382" y="18342"/>
                    <a:pt x="62006" y="19724"/>
                    <a:pt x="63513" y="21366"/>
                  </a:cubicBezTo>
                  <a:cubicBezTo>
                    <a:pt x="64254" y="22173"/>
                    <a:pt x="65229" y="23583"/>
                    <a:pt x="65680" y="24500"/>
                  </a:cubicBezTo>
                  <a:cubicBezTo>
                    <a:pt x="66385" y="25934"/>
                    <a:pt x="66500" y="26633"/>
                    <a:pt x="66500" y="29500"/>
                  </a:cubicBezTo>
                  <a:cubicBezTo>
                    <a:pt x="66500" y="32395"/>
                    <a:pt x="66390" y="33049"/>
                    <a:pt x="65667" y="34476"/>
                  </a:cubicBezTo>
                  <a:cubicBezTo>
                    <a:pt x="64443" y="36889"/>
                    <a:pt x="61908" y="39519"/>
                    <a:pt x="60165" y="40185"/>
                  </a:cubicBezTo>
                  <a:cubicBezTo>
                    <a:pt x="58247" y="40918"/>
                    <a:pt x="55279" y="40720"/>
                    <a:pt x="53386" y="39733"/>
                  </a:cubicBezTo>
                  <a:cubicBezTo>
                    <a:pt x="52613" y="39330"/>
                    <a:pt x="51926" y="39000"/>
                    <a:pt x="51861" y="39000"/>
                  </a:cubicBezTo>
                  <a:cubicBezTo>
                    <a:pt x="51556" y="39000"/>
                    <a:pt x="43667" y="49192"/>
                    <a:pt x="43667" y="49586"/>
                  </a:cubicBezTo>
                  <a:cubicBezTo>
                    <a:pt x="43667" y="49678"/>
                    <a:pt x="44052" y="50821"/>
                    <a:pt x="44523" y="52126"/>
                  </a:cubicBezTo>
                  <a:cubicBezTo>
                    <a:pt x="45613" y="55146"/>
                    <a:pt x="45754" y="58726"/>
                    <a:pt x="44882" y="61255"/>
                  </a:cubicBezTo>
                  <a:cubicBezTo>
                    <a:pt x="44549" y="62220"/>
                    <a:pt x="43607" y="63900"/>
                    <a:pt x="42789" y="64988"/>
                  </a:cubicBezTo>
                  <a:cubicBezTo>
                    <a:pt x="41685" y="66457"/>
                    <a:pt x="40836" y="67187"/>
                    <a:pt x="39494" y="67822"/>
                  </a:cubicBezTo>
                  <a:cubicBezTo>
                    <a:pt x="37227" y="68894"/>
                    <a:pt x="35207" y="69131"/>
                    <a:pt x="33588" y="68513"/>
                  </a:cubicBezTo>
                  <a:close/>
                  <a:moveTo>
                    <a:pt x="39172" y="62916"/>
                  </a:moveTo>
                  <a:cubicBezTo>
                    <a:pt x="40015" y="62073"/>
                    <a:pt x="40740" y="60957"/>
                    <a:pt x="40960" y="60166"/>
                  </a:cubicBezTo>
                  <a:cubicBezTo>
                    <a:pt x="41989" y="56458"/>
                    <a:pt x="40638" y="52197"/>
                    <a:pt x="37999" y="50833"/>
                  </a:cubicBezTo>
                  <a:cubicBezTo>
                    <a:pt x="37468" y="50558"/>
                    <a:pt x="36493" y="50333"/>
                    <a:pt x="35833" y="50333"/>
                  </a:cubicBezTo>
                  <a:cubicBezTo>
                    <a:pt x="33774" y="50333"/>
                    <a:pt x="32035" y="51600"/>
                    <a:pt x="30833" y="53976"/>
                  </a:cubicBezTo>
                  <a:cubicBezTo>
                    <a:pt x="30382" y="54867"/>
                    <a:pt x="30288" y="55691"/>
                    <a:pt x="30404" y="57708"/>
                  </a:cubicBezTo>
                  <a:cubicBezTo>
                    <a:pt x="30526" y="59810"/>
                    <a:pt x="30724" y="60554"/>
                    <a:pt x="31457" y="61662"/>
                  </a:cubicBezTo>
                  <a:cubicBezTo>
                    <a:pt x="32680" y="63509"/>
                    <a:pt x="34116" y="64331"/>
                    <a:pt x="36127" y="64332"/>
                  </a:cubicBezTo>
                  <a:cubicBezTo>
                    <a:pt x="37598" y="64333"/>
                    <a:pt x="37891" y="64197"/>
                    <a:pt x="39172" y="62916"/>
                  </a:cubicBezTo>
                  <a:close/>
                  <a:moveTo>
                    <a:pt x="12520" y="47987"/>
                  </a:moveTo>
                  <a:cubicBezTo>
                    <a:pt x="14113" y="47003"/>
                    <a:pt x="15042" y="44863"/>
                    <a:pt x="15042" y="42180"/>
                  </a:cubicBezTo>
                  <a:cubicBezTo>
                    <a:pt x="15042" y="39570"/>
                    <a:pt x="14850" y="38848"/>
                    <a:pt x="13777" y="37416"/>
                  </a:cubicBezTo>
                  <a:cubicBezTo>
                    <a:pt x="12756" y="36053"/>
                    <a:pt x="11384" y="35333"/>
                    <a:pt x="9806" y="35333"/>
                  </a:cubicBezTo>
                  <a:cubicBezTo>
                    <a:pt x="7974" y="35333"/>
                    <a:pt x="6504" y="36417"/>
                    <a:pt x="5469" y="38533"/>
                  </a:cubicBezTo>
                  <a:cubicBezTo>
                    <a:pt x="4670" y="40167"/>
                    <a:pt x="4594" y="40618"/>
                    <a:pt x="4768" y="42697"/>
                  </a:cubicBezTo>
                  <a:cubicBezTo>
                    <a:pt x="4978" y="45198"/>
                    <a:pt x="5728" y="46809"/>
                    <a:pt x="7235" y="47995"/>
                  </a:cubicBezTo>
                  <a:cubicBezTo>
                    <a:pt x="8400" y="48911"/>
                    <a:pt x="11032" y="48907"/>
                    <a:pt x="12520" y="47987"/>
                  </a:cubicBezTo>
                  <a:close/>
                  <a:moveTo>
                    <a:pt x="43923" y="42417"/>
                  </a:moveTo>
                  <a:cubicBezTo>
                    <a:pt x="45744" y="40079"/>
                    <a:pt x="47641" y="37546"/>
                    <a:pt x="48137" y="36787"/>
                  </a:cubicBezTo>
                  <a:cubicBezTo>
                    <a:pt x="49014" y="35447"/>
                    <a:pt x="49025" y="35371"/>
                    <a:pt x="48518" y="34158"/>
                  </a:cubicBezTo>
                  <a:cubicBezTo>
                    <a:pt x="47809" y="32461"/>
                    <a:pt x="47487" y="28663"/>
                    <a:pt x="47941" y="27358"/>
                  </a:cubicBezTo>
                  <a:cubicBezTo>
                    <a:pt x="48141" y="26784"/>
                    <a:pt x="48230" y="26131"/>
                    <a:pt x="48139" y="25907"/>
                  </a:cubicBezTo>
                  <a:cubicBezTo>
                    <a:pt x="48047" y="25683"/>
                    <a:pt x="46244" y="24184"/>
                    <a:pt x="44132" y="22576"/>
                  </a:cubicBezTo>
                  <a:lnTo>
                    <a:pt x="40292" y="19653"/>
                  </a:lnTo>
                  <a:lnTo>
                    <a:pt x="38157" y="21576"/>
                  </a:lnTo>
                  <a:cubicBezTo>
                    <a:pt x="36617" y="22964"/>
                    <a:pt x="36021" y="23732"/>
                    <a:pt x="36020" y="24333"/>
                  </a:cubicBezTo>
                  <a:cubicBezTo>
                    <a:pt x="36020" y="24792"/>
                    <a:pt x="36239" y="27942"/>
                    <a:pt x="36508" y="31333"/>
                  </a:cubicBezTo>
                  <a:cubicBezTo>
                    <a:pt x="36777" y="34725"/>
                    <a:pt x="37097" y="39198"/>
                    <a:pt x="37218" y="41273"/>
                  </a:cubicBezTo>
                  <a:lnTo>
                    <a:pt x="37438" y="45047"/>
                  </a:lnTo>
                  <a:lnTo>
                    <a:pt x="38630" y="45857"/>
                  </a:lnTo>
                  <a:cubicBezTo>
                    <a:pt x="39285" y="46302"/>
                    <a:pt x="39999" y="46667"/>
                    <a:pt x="40216" y="46667"/>
                  </a:cubicBezTo>
                  <a:cubicBezTo>
                    <a:pt x="40434" y="46667"/>
                    <a:pt x="42102" y="44754"/>
                    <a:pt x="43923" y="42417"/>
                  </a:cubicBezTo>
                  <a:close/>
                  <a:moveTo>
                    <a:pt x="60009" y="35250"/>
                  </a:moveTo>
                  <a:cubicBezTo>
                    <a:pt x="62621" y="33482"/>
                    <a:pt x="63408" y="29619"/>
                    <a:pt x="61810" y="26411"/>
                  </a:cubicBezTo>
                  <a:cubicBezTo>
                    <a:pt x="60608" y="24001"/>
                    <a:pt x="58943" y="23089"/>
                    <a:pt x="56095" y="23283"/>
                  </a:cubicBezTo>
                  <a:cubicBezTo>
                    <a:pt x="54967" y="23360"/>
                    <a:pt x="53109" y="25191"/>
                    <a:pt x="52476" y="26851"/>
                  </a:cubicBezTo>
                  <a:cubicBezTo>
                    <a:pt x="51648" y="29018"/>
                    <a:pt x="51975" y="32003"/>
                    <a:pt x="53237" y="33799"/>
                  </a:cubicBezTo>
                  <a:cubicBezTo>
                    <a:pt x="53763" y="34548"/>
                    <a:pt x="54563" y="35347"/>
                    <a:pt x="55014" y="35575"/>
                  </a:cubicBezTo>
                  <a:cubicBezTo>
                    <a:pt x="56359" y="36256"/>
                    <a:pt x="58753" y="36100"/>
                    <a:pt x="60009" y="35250"/>
                  </a:cubicBezTo>
                  <a:close/>
                  <a:moveTo>
                    <a:pt x="35748" y="18137"/>
                  </a:moveTo>
                  <a:cubicBezTo>
                    <a:pt x="36215" y="17787"/>
                    <a:pt x="36950" y="16986"/>
                    <a:pt x="37382" y="16358"/>
                  </a:cubicBezTo>
                  <a:cubicBezTo>
                    <a:pt x="38047" y="15390"/>
                    <a:pt x="38167" y="14805"/>
                    <a:pt x="38167" y="12524"/>
                  </a:cubicBezTo>
                  <a:cubicBezTo>
                    <a:pt x="38167" y="10275"/>
                    <a:pt x="38032" y="9598"/>
                    <a:pt x="37346" y="8400"/>
                  </a:cubicBezTo>
                  <a:cubicBezTo>
                    <a:pt x="36299" y="6572"/>
                    <a:pt x="34844" y="5666"/>
                    <a:pt x="32961" y="5669"/>
                  </a:cubicBezTo>
                  <a:cubicBezTo>
                    <a:pt x="30536" y="5673"/>
                    <a:pt x="28679" y="7334"/>
                    <a:pt x="27975" y="10127"/>
                  </a:cubicBezTo>
                  <a:cubicBezTo>
                    <a:pt x="27676" y="11314"/>
                    <a:pt x="27672" y="12153"/>
                    <a:pt x="27959" y="13580"/>
                  </a:cubicBezTo>
                  <a:cubicBezTo>
                    <a:pt x="28387" y="15711"/>
                    <a:pt x="29269" y="17176"/>
                    <a:pt x="30792" y="18285"/>
                  </a:cubicBezTo>
                  <a:cubicBezTo>
                    <a:pt x="31612" y="18883"/>
                    <a:pt x="32158" y="19015"/>
                    <a:pt x="33366" y="18909"/>
                  </a:cubicBezTo>
                  <a:cubicBezTo>
                    <a:pt x="34209" y="18835"/>
                    <a:pt x="35281" y="18488"/>
                    <a:pt x="35748" y="18137"/>
                  </a:cubicBezTo>
                  <a:close/>
                </a:path>
              </a:pathLst>
            </a:custGeom>
            <a:solidFill>
              <a:srgbClr val="258D3F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47" name="Modular model gears" descr="Modular model gears"/>
            <p:cNvSpPr/>
            <p:nvPr/>
          </p:nvSpPr>
          <p:spPr>
            <a:xfrm>
              <a:off x="7521575" y="7032625"/>
              <a:ext cx="587375" cy="650875"/>
            </a:xfrm>
            <a:custGeom>
              <a:avLst/>
              <a:gdLst/>
              <a:ahLst/>
              <a:cxnLst/>
              <a:rect l="0" t="0" r="r" b="b"/>
              <a:pathLst>
                <a:path w="61667" h="68333" stroke="0" extrusionOk="0">
                  <a:moveTo>
                    <a:pt x="43170" y="66789"/>
                  </a:moveTo>
                  <a:cubicBezTo>
                    <a:pt x="42841" y="66461"/>
                    <a:pt x="42667" y="65842"/>
                    <a:pt x="42730" y="65230"/>
                  </a:cubicBezTo>
                  <a:cubicBezTo>
                    <a:pt x="42823" y="64315"/>
                    <a:pt x="42652" y="64106"/>
                    <a:pt x="41000" y="63120"/>
                  </a:cubicBezTo>
                  <a:cubicBezTo>
                    <a:pt x="39992" y="62518"/>
                    <a:pt x="38951" y="62020"/>
                    <a:pt x="38688" y="62013"/>
                  </a:cubicBezTo>
                  <a:cubicBezTo>
                    <a:pt x="38425" y="62006"/>
                    <a:pt x="37871" y="62318"/>
                    <a:pt x="37457" y="62707"/>
                  </a:cubicBezTo>
                  <a:cubicBezTo>
                    <a:pt x="36927" y="63205"/>
                    <a:pt x="36476" y="63350"/>
                    <a:pt x="35935" y="63195"/>
                  </a:cubicBezTo>
                  <a:cubicBezTo>
                    <a:pt x="35038" y="62938"/>
                    <a:pt x="32000" y="59160"/>
                    <a:pt x="32000" y="58301"/>
                  </a:cubicBezTo>
                  <a:cubicBezTo>
                    <a:pt x="32000" y="57979"/>
                    <a:pt x="32345" y="57442"/>
                    <a:pt x="32766" y="57108"/>
                  </a:cubicBezTo>
                  <a:cubicBezTo>
                    <a:pt x="33902" y="56206"/>
                    <a:pt x="34044" y="55820"/>
                    <a:pt x="33623" y="54778"/>
                  </a:cubicBezTo>
                  <a:cubicBezTo>
                    <a:pt x="33413" y="54258"/>
                    <a:pt x="33149" y="53318"/>
                    <a:pt x="33035" y="52688"/>
                  </a:cubicBezTo>
                  <a:cubicBezTo>
                    <a:pt x="32872" y="51781"/>
                    <a:pt x="32551" y="51399"/>
                    <a:pt x="31498" y="50854"/>
                  </a:cubicBezTo>
                  <a:cubicBezTo>
                    <a:pt x="30274" y="50220"/>
                    <a:pt x="30159" y="50043"/>
                    <a:pt x="30068" y="48645"/>
                  </a:cubicBezTo>
                  <a:cubicBezTo>
                    <a:pt x="29920" y="46375"/>
                    <a:pt x="30419" y="45416"/>
                    <a:pt x="32132" y="44682"/>
                  </a:cubicBezTo>
                  <a:cubicBezTo>
                    <a:pt x="33719" y="44001"/>
                    <a:pt x="34252" y="43094"/>
                    <a:pt x="33685" y="42035"/>
                  </a:cubicBezTo>
                  <a:cubicBezTo>
                    <a:pt x="33079" y="40902"/>
                    <a:pt x="33292" y="40156"/>
                    <a:pt x="34637" y="38698"/>
                  </a:cubicBezTo>
                  <a:cubicBezTo>
                    <a:pt x="35937" y="37291"/>
                    <a:pt x="35945" y="37288"/>
                    <a:pt x="36954" y="37810"/>
                  </a:cubicBezTo>
                  <a:cubicBezTo>
                    <a:pt x="37511" y="38098"/>
                    <a:pt x="38202" y="38333"/>
                    <a:pt x="38490" y="38333"/>
                  </a:cubicBezTo>
                  <a:cubicBezTo>
                    <a:pt x="38778" y="38333"/>
                    <a:pt x="39616" y="37953"/>
                    <a:pt x="40353" y="37488"/>
                  </a:cubicBezTo>
                  <a:cubicBezTo>
                    <a:pt x="41606" y="36697"/>
                    <a:pt x="41678" y="36567"/>
                    <a:pt x="41473" y="35474"/>
                  </a:cubicBezTo>
                  <a:cubicBezTo>
                    <a:pt x="41309" y="34600"/>
                    <a:pt x="41403" y="34142"/>
                    <a:pt x="41845" y="33653"/>
                  </a:cubicBezTo>
                  <a:cubicBezTo>
                    <a:pt x="42355" y="33090"/>
                    <a:pt x="42882" y="33000"/>
                    <a:pt x="45652" y="33000"/>
                  </a:cubicBezTo>
                  <a:cubicBezTo>
                    <a:pt x="47708" y="33000"/>
                    <a:pt x="49011" y="33144"/>
                    <a:pt x="49267" y="33400"/>
                  </a:cubicBezTo>
                  <a:cubicBezTo>
                    <a:pt x="49487" y="33620"/>
                    <a:pt x="49667" y="34442"/>
                    <a:pt x="49667" y="35227"/>
                  </a:cubicBezTo>
                  <a:cubicBezTo>
                    <a:pt x="49667" y="36571"/>
                    <a:pt x="49748" y="36694"/>
                    <a:pt x="51083" y="37365"/>
                  </a:cubicBezTo>
                  <a:cubicBezTo>
                    <a:pt x="51863" y="37757"/>
                    <a:pt x="52769" y="38314"/>
                    <a:pt x="53097" y="38603"/>
                  </a:cubicBezTo>
                  <a:cubicBezTo>
                    <a:pt x="53641" y="39081"/>
                    <a:pt x="53778" y="39078"/>
                    <a:pt x="54648" y="38564"/>
                  </a:cubicBezTo>
                  <a:cubicBezTo>
                    <a:pt x="55173" y="38254"/>
                    <a:pt x="55825" y="38000"/>
                    <a:pt x="56096" y="38000"/>
                  </a:cubicBezTo>
                  <a:cubicBezTo>
                    <a:pt x="56858" y="38000"/>
                    <a:pt x="60667" y="44257"/>
                    <a:pt x="60667" y="45509"/>
                  </a:cubicBezTo>
                  <a:cubicBezTo>
                    <a:pt x="60667" y="45720"/>
                    <a:pt x="60142" y="46371"/>
                    <a:pt x="59500" y="46955"/>
                  </a:cubicBezTo>
                  <a:cubicBezTo>
                    <a:pt x="58357" y="47995"/>
                    <a:pt x="58333" y="48069"/>
                    <a:pt x="58333" y="50618"/>
                  </a:cubicBezTo>
                  <a:cubicBezTo>
                    <a:pt x="58333" y="53074"/>
                    <a:pt x="58382" y="53247"/>
                    <a:pt x="59192" y="53680"/>
                  </a:cubicBezTo>
                  <a:cubicBezTo>
                    <a:pt x="60865" y="54576"/>
                    <a:pt x="60838" y="55081"/>
                    <a:pt x="58930" y="58503"/>
                  </a:cubicBezTo>
                  <a:cubicBezTo>
                    <a:pt x="57564" y="60954"/>
                    <a:pt x="57007" y="61666"/>
                    <a:pt x="56457" y="61666"/>
                  </a:cubicBezTo>
                  <a:cubicBezTo>
                    <a:pt x="56067" y="61666"/>
                    <a:pt x="55562" y="61442"/>
                    <a:pt x="55333" y="61167"/>
                  </a:cubicBezTo>
                  <a:cubicBezTo>
                    <a:pt x="55105" y="60892"/>
                    <a:pt x="54749" y="60670"/>
                    <a:pt x="54543" y="60674"/>
                  </a:cubicBezTo>
                  <a:cubicBezTo>
                    <a:pt x="54336" y="60678"/>
                    <a:pt x="53229" y="61281"/>
                    <a:pt x="52083" y="62015"/>
                  </a:cubicBezTo>
                  <a:cubicBezTo>
                    <a:pt x="50043" y="63322"/>
                    <a:pt x="50000" y="63380"/>
                    <a:pt x="50000" y="64823"/>
                  </a:cubicBezTo>
                  <a:cubicBezTo>
                    <a:pt x="50000" y="66850"/>
                    <a:pt x="49252" y="67333"/>
                    <a:pt x="46116" y="67333"/>
                  </a:cubicBezTo>
                  <a:cubicBezTo>
                    <a:pt x="44339" y="67333"/>
                    <a:pt x="43573" y="67192"/>
                    <a:pt x="43170" y="66789"/>
                  </a:cubicBezTo>
                  <a:close/>
                  <a:moveTo>
                    <a:pt x="49248" y="53874"/>
                  </a:moveTo>
                  <a:cubicBezTo>
                    <a:pt x="50626" y="52415"/>
                    <a:pt x="50667" y="52309"/>
                    <a:pt x="50667" y="50142"/>
                  </a:cubicBezTo>
                  <a:cubicBezTo>
                    <a:pt x="50667" y="48468"/>
                    <a:pt x="50494" y="47633"/>
                    <a:pt x="49976" y="46795"/>
                  </a:cubicBezTo>
                  <a:cubicBezTo>
                    <a:pt x="49192" y="45525"/>
                    <a:pt x="47897" y="44526"/>
                    <a:pt x="46646" y="44225"/>
                  </a:cubicBezTo>
                  <a:cubicBezTo>
                    <a:pt x="45328" y="43907"/>
                    <a:pt x="43436" y="44587"/>
                    <a:pt x="42201" y="45822"/>
                  </a:cubicBezTo>
                  <a:cubicBezTo>
                    <a:pt x="39970" y="48053"/>
                    <a:pt x="39903" y="52041"/>
                    <a:pt x="42064" y="54059"/>
                  </a:cubicBezTo>
                  <a:cubicBezTo>
                    <a:pt x="43295" y="55210"/>
                    <a:pt x="44741" y="55682"/>
                    <a:pt x="46498" y="55507"/>
                  </a:cubicBezTo>
                  <a:cubicBezTo>
                    <a:pt x="47557" y="55402"/>
                    <a:pt x="48120" y="55068"/>
                    <a:pt x="49248" y="53874"/>
                  </a:cubicBezTo>
                  <a:close/>
                  <a:moveTo>
                    <a:pt x="17083" y="42964"/>
                  </a:moveTo>
                  <a:cubicBezTo>
                    <a:pt x="16854" y="42727"/>
                    <a:pt x="16667" y="41899"/>
                    <a:pt x="16667" y="41124"/>
                  </a:cubicBezTo>
                  <a:cubicBezTo>
                    <a:pt x="16667" y="40349"/>
                    <a:pt x="16462" y="39509"/>
                    <a:pt x="16211" y="39258"/>
                  </a:cubicBezTo>
                  <a:cubicBezTo>
                    <a:pt x="15960" y="39008"/>
                    <a:pt x="15131" y="38597"/>
                    <a:pt x="14368" y="38345"/>
                  </a:cubicBezTo>
                  <a:cubicBezTo>
                    <a:pt x="13002" y="37894"/>
                    <a:pt x="12965" y="37903"/>
                    <a:pt x="11892" y="38944"/>
                  </a:cubicBezTo>
                  <a:cubicBezTo>
                    <a:pt x="11292" y="39525"/>
                    <a:pt x="10504" y="40000"/>
                    <a:pt x="10141" y="40000"/>
                  </a:cubicBezTo>
                  <a:cubicBezTo>
                    <a:pt x="9409" y="40000"/>
                    <a:pt x="5333" y="36077"/>
                    <a:pt x="5333" y="35372"/>
                  </a:cubicBezTo>
                  <a:cubicBezTo>
                    <a:pt x="5333" y="35129"/>
                    <a:pt x="5784" y="34360"/>
                    <a:pt x="6335" y="33665"/>
                  </a:cubicBezTo>
                  <a:lnTo>
                    <a:pt x="7336" y="32400"/>
                  </a:lnTo>
                  <a:lnTo>
                    <a:pt x="6468" y="30617"/>
                  </a:lnTo>
                  <a:cubicBezTo>
                    <a:pt x="5990" y="29636"/>
                    <a:pt x="5487" y="28608"/>
                    <a:pt x="5349" y="28333"/>
                  </a:cubicBezTo>
                  <a:cubicBezTo>
                    <a:pt x="5199" y="28033"/>
                    <a:pt x="4450" y="27767"/>
                    <a:pt x="3474" y="27667"/>
                  </a:cubicBezTo>
                  <a:cubicBezTo>
                    <a:pt x="2163" y="27532"/>
                    <a:pt x="1768" y="27339"/>
                    <a:pt x="1429" y="26667"/>
                  </a:cubicBezTo>
                  <a:cubicBezTo>
                    <a:pt x="1197" y="26204"/>
                    <a:pt x="1008" y="24628"/>
                    <a:pt x="1005" y="23124"/>
                  </a:cubicBezTo>
                  <a:cubicBezTo>
                    <a:pt x="999" y="20073"/>
                    <a:pt x="1232" y="19686"/>
                    <a:pt x="3267" y="19357"/>
                  </a:cubicBezTo>
                  <a:cubicBezTo>
                    <a:pt x="4395" y="19175"/>
                    <a:pt x="4547" y="19017"/>
                    <a:pt x="5057" y="17496"/>
                  </a:cubicBezTo>
                  <a:cubicBezTo>
                    <a:pt x="5801" y="15272"/>
                    <a:pt x="5794" y="14219"/>
                    <a:pt x="5030" y="13528"/>
                  </a:cubicBezTo>
                  <a:cubicBezTo>
                    <a:pt x="4681" y="13211"/>
                    <a:pt x="4216" y="12523"/>
                    <a:pt x="3999" y="11998"/>
                  </a:cubicBezTo>
                  <a:cubicBezTo>
                    <a:pt x="3643" y="11139"/>
                    <a:pt x="3711" y="10890"/>
                    <a:pt x="4673" y="9491"/>
                  </a:cubicBezTo>
                  <a:cubicBezTo>
                    <a:pt x="6170" y="7314"/>
                    <a:pt x="7664" y="5667"/>
                    <a:pt x="8139" y="5667"/>
                  </a:cubicBezTo>
                  <a:cubicBezTo>
                    <a:pt x="8361" y="5667"/>
                    <a:pt x="8973" y="6117"/>
                    <a:pt x="9500" y="6667"/>
                  </a:cubicBezTo>
                  <a:cubicBezTo>
                    <a:pt x="10027" y="7217"/>
                    <a:pt x="10638" y="7667"/>
                    <a:pt x="10858" y="7667"/>
                  </a:cubicBezTo>
                  <a:cubicBezTo>
                    <a:pt x="11078" y="7667"/>
                    <a:pt x="12100" y="7120"/>
                    <a:pt x="13129" y="6452"/>
                  </a:cubicBezTo>
                  <a:cubicBezTo>
                    <a:pt x="14929" y="5284"/>
                    <a:pt x="15000" y="5183"/>
                    <a:pt x="15000" y="3786"/>
                  </a:cubicBezTo>
                  <a:cubicBezTo>
                    <a:pt x="15000" y="2778"/>
                    <a:pt x="15204" y="2129"/>
                    <a:pt x="15667" y="1667"/>
                  </a:cubicBezTo>
                  <a:cubicBezTo>
                    <a:pt x="16221" y="1112"/>
                    <a:pt x="16778" y="1000"/>
                    <a:pt x="18981" y="1000"/>
                  </a:cubicBezTo>
                  <a:cubicBezTo>
                    <a:pt x="21339" y="1000"/>
                    <a:pt x="21686" y="1081"/>
                    <a:pt x="22148" y="1741"/>
                  </a:cubicBezTo>
                  <a:cubicBezTo>
                    <a:pt x="22433" y="2148"/>
                    <a:pt x="22667" y="2950"/>
                    <a:pt x="22667" y="3523"/>
                  </a:cubicBezTo>
                  <a:cubicBezTo>
                    <a:pt x="22667" y="4711"/>
                    <a:pt x="23224" y="5278"/>
                    <a:pt x="25260" y="6159"/>
                  </a:cubicBezTo>
                  <a:lnTo>
                    <a:pt x="26687" y="6777"/>
                  </a:lnTo>
                  <a:lnTo>
                    <a:pt x="27776" y="5722"/>
                  </a:lnTo>
                  <a:cubicBezTo>
                    <a:pt x="28375" y="5142"/>
                    <a:pt x="29092" y="4667"/>
                    <a:pt x="29370" y="4667"/>
                  </a:cubicBezTo>
                  <a:cubicBezTo>
                    <a:pt x="29973" y="4667"/>
                    <a:pt x="34333" y="8967"/>
                    <a:pt x="34333" y="9562"/>
                  </a:cubicBezTo>
                  <a:cubicBezTo>
                    <a:pt x="34333" y="9790"/>
                    <a:pt x="33883" y="10489"/>
                    <a:pt x="33333" y="11116"/>
                  </a:cubicBezTo>
                  <a:cubicBezTo>
                    <a:pt x="32783" y="11742"/>
                    <a:pt x="32333" y="12370"/>
                    <a:pt x="32333" y="12511"/>
                  </a:cubicBezTo>
                  <a:cubicBezTo>
                    <a:pt x="32333" y="12738"/>
                    <a:pt x="33634" y="15683"/>
                    <a:pt x="34316" y="17000"/>
                  </a:cubicBezTo>
                  <a:cubicBezTo>
                    <a:pt x="34483" y="17321"/>
                    <a:pt x="35064" y="17500"/>
                    <a:pt x="35937" y="17500"/>
                  </a:cubicBezTo>
                  <a:cubicBezTo>
                    <a:pt x="36686" y="17500"/>
                    <a:pt x="37465" y="17665"/>
                    <a:pt x="37667" y="17868"/>
                  </a:cubicBezTo>
                  <a:cubicBezTo>
                    <a:pt x="37875" y="18075"/>
                    <a:pt x="38064" y="19643"/>
                    <a:pt x="38101" y="21463"/>
                  </a:cubicBezTo>
                  <a:cubicBezTo>
                    <a:pt x="38172" y="24960"/>
                    <a:pt x="38006" y="25318"/>
                    <a:pt x="36314" y="25328"/>
                  </a:cubicBezTo>
                  <a:cubicBezTo>
                    <a:pt x="35845" y="25331"/>
                    <a:pt x="35206" y="25521"/>
                    <a:pt x="34894" y="25750"/>
                  </a:cubicBezTo>
                  <a:cubicBezTo>
                    <a:pt x="34583" y="25979"/>
                    <a:pt x="34082" y="27036"/>
                    <a:pt x="33780" y="28098"/>
                  </a:cubicBezTo>
                  <a:lnTo>
                    <a:pt x="33232" y="30030"/>
                  </a:lnTo>
                  <a:lnTo>
                    <a:pt x="34283" y="31114"/>
                  </a:lnTo>
                  <a:cubicBezTo>
                    <a:pt x="34860" y="31711"/>
                    <a:pt x="35333" y="32391"/>
                    <a:pt x="35333" y="32625"/>
                  </a:cubicBezTo>
                  <a:cubicBezTo>
                    <a:pt x="35333" y="33166"/>
                    <a:pt x="31409" y="37992"/>
                    <a:pt x="30770" y="38237"/>
                  </a:cubicBezTo>
                  <a:cubicBezTo>
                    <a:pt x="30508" y="38338"/>
                    <a:pt x="29844" y="37990"/>
                    <a:pt x="29295" y="37463"/>
                  </a:cubicBezTo>
                  <a:lnTo>
                    <a:pt x="28297" y="36507"/>
                  </a:lnTo>
                  <a:lnTo>
                    <a:pt x="26065" y="37707"/>
                  </a:lnTo>
                  <a:lnTo>
                    <a:pt x="23833" y="38907"/>
                  </a:lnTo>
                  <a:lnTo>
                    <a:pt x="23833" y="40602"/>
                  </a:lnTo>
                  <a:cubicBezTo>
                    <a:pt x="23833" y="41534"/>
                    <a:pt x="23649" y="42482"/>
                    <a:pt x="23424" y="42708"/>
                  </a:cubicBezTo>
                  <a:cubicBezTo>
                    <a:pt x="23192" y="42941"/>
                    <a:pt x="21818" y="43179"/>
                    <a:pt x="20257" y="43257"/>
                  </a:cubicBezTo>
                  <a:cubicBezTo>
                    <a:pt x="18288" y="43355"/>
                    <a:pt x="17381" y="43271"/>
                    <a:pt x="17083" y="42964"/>
                  </a:cubicBezTo>
                  <a:close/>
                  <a:moveTo>
                    <a:pt x="21256" y="28484"/>
                  </a:moveTo>
                  <a:cubicBezTo>
                    <a:pt x="23811" y="27417"/>
                    <a:pt x="25346" y="25090"/>
                    <a:pt x="25378" y="22238"/>
                  </a:cubicBezTo>
                  <a:cubicBezTo>
                    <a:pt x="25403" y="20013"/>
                    <a:pt x="24566" y="17940"/>
                    <a:pt x="23137" y="16685"/>
                  </a:cubicBezTo>
                  <a:cubicBezTo>
                    <a:pt x="20366" y="14253"/>
                    <a:pt x="16948" y="14839"/>
                    <a:pt x="14694" y="18134"/>
                  </a:cubicBezTo>
                  <a:cubicBezTo>
                    <a:pt x="13595" y="19741"/>
                    <a:pt x="13160" y="22121"/>
                    <a:pt x="13641" y="23899"/>
                  </a:cubicBezTo>
                  <a:cubicBezTo>
                    <a:pt x="13829" y="24596"/>
                    <a:pt x="14464" y="25749"/>
                    <a:pt x="15052" y="26460"/>
                  </a:cubicBezTo>
                  <a:cubicBezTo>
                    <a:pt x="16101" y="27730"/>
                    <a:pt x="18257" y="28978"/>
                    <a:pt x="19427" y="28993"/>
                  </a:cubicBezTo>
                  <a:cubicBezTo>
                    <a:pt x="19754" y="28997"/>
                    <a:pt x="20577" y="28768"/>
                    <a:pt x="21256" y="28484"/>
                  </a:cubicBezTo>
                  <a:close/>
                </a:path>
              </a:pathLst>
            </a:custGeom>
            <a:solidFill>
              <a:srgbClr val="1F8736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83" name="Surrogate specifications heading / line 1"/>
            <p:cNvSpPr txBox="1"/>
            <p:nvPr/>
          </p:nvSpPr>
          <p:spPr>
            <a:xfrm>
              <a:off x="7417403" y="4377188"/>
              <a:ext cx="2838450" cy="41139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dirty="0">
                  <a:solidFill>
                    <a:srgbClr val="073F1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Surrogate specifications</a:t>
              </a:r>
            </a:p>
          </p:txBody>
        </p:sp>
        <p:sp>
          <p:nvSpPr>
            <p:cNvPr id="84" name="Joint Student heading / line 1"/>
            <p:cNvSpPr txBox="1"/>
            <p:nvPr/>
          </p:nvSpPr>
          <p:spPr>
            <a:xfrm>
              <a:off x="8233668" y="5810214"/>
              <a:ext cx="1809750" cy="312205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solidFill>
                    <a:srgbClr val="0A34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Joint neural Student</a:t>
              </a:r>
            </a:p>
          </p:txBody>
        </p:sp>
        <p:sp>
          <p:nvSpPr>
            <p:cNvPr id="85" name="Joint Student description / line 1"/>
            <p:cNvSpPr txBox="1"/>
            <p:nvPr/>
          </p:nvSpPr>
          <p:spPr>
            <a:xfrm>
              <a:off x="8223755" y="6131425"/>
              <a:ext cx="1762125" cy="307475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31567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Shared representation</a:t>
              </a:r>
            </a:p>
          </p:txBody>
        </p:sp>
        <p:sp>
          <p:nvSpPr>
            <p:cNvPr id="86" name="Joint Student description / line 2"/>
            <p:cNvSpPr txBox="1"/>
            <p:nvPr/>
          </p:nvSpPr>
          <p:spPr>
            <a:xfrm>
              <a:off x="8233668" y="6383231"/>
              <a:ext cx="1714500" cy="30331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31567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 choice and timing</a:t>
              </a:r>
            </a:p>
          </p:txBody>
        </p:sp>
        <p:sp>
          <p:nvSpPr>
            <p:cNvPr id="87" name="Modular Student heading / line 1"/>
            <p:cNvSpPr txBox="1"/>
            <p:nvPr/>
          </p:nvSpPr>
          <p:spPr>
            <a:xfrm>
              <a:off x="8251948" y="6991295"/>
              <a:ext cx="1524000" cy="312341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solidFill>
                    <a:srgbClr val="0A34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Modular Student</a:t>
              </a:r>
            </a:p>
          </p:txBody>
        </p:sp>
        <p:sp>
          <p:nvSpPr>
            <p:cNvPr id="88" name="Modular Student description / line 1"/>
            <p:cNvSpPr txBox="1"/>
            <p:nvPr/>
          </p:nvSpPr>
          <p:spPr>
            <a:xfrm>
              <a:off x="8199120" y="7373411"/>
              <a:ext cx="1866900" cy="27279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31567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Structured choice model +</a:t>
              </a:r>
            </a:p>
          </p:txBody>
        </p:sp>
        <p:sp>
          <p:nvSpPr>
            <p:cNvPr id="89" name="Modular Student description / line 2"/>
            <p:cNvSpPr txBox="1"/>
            <p:nvPr/>
          </p:nvSpPr>
          <p:spPr>
            <a:xfrm>
              <a:off x="8033255" y="7611343"/>
              <a:ext cx="1952625" cy="271313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31567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separate departure predictor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Surrogate objective" descr="$\mathcal{L}_{\mathrm{state}}+\lambda\mathcal{L}_{\mathrm{response}}$"/>
                <p:cNvSpPr txBox="1"/>
                <p:nvPr/>
              </p:nvSpPr>
              <p:spPr>
                <a:xfrm>
                  <a:off x="7505700" y="8089900"/>
                  <a:ext cx="2628900" cy="5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Autofit/>
                </a:bodyPr>
                <a:lstStyle/>
                <a:p>
                  <a:pPr algn="ctr">
                    <a:defRPr sz="2300">
                      <a:solidFill>
                        <a:srgbClr val="102451"/>
                      </a:solidFill>
                      <a:latin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sz="23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sz="2300">
                                <a:latin typeface="Cambria Math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2300">
                                <a:latin typeface="Cambria Math"/>
                              </a:rPr>
                              <m:t>state</m:t>
                            </m:r>
                          </m:sub>
                        </m:sSub>
                        <m:r>
                          <a:rPr sz="2300">
                            <a:latin typeface="Cambria Math"/>
                          </a:rPr>
                          <m:t>+</m:t>
                        </m:r>
                        <m:r>
                          <a:rPr sz="2300">
                            <a:latin typeface="Cambria Math"/>
                          </a:rPr>
                          <m:t>𝜆</m:t>
                        </m:r>
                        <m:sSub>
                          <m:sSubPr>
                            <m:ctrlPr>
                              <a:rPr sz="230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sz="2300">
                                <a:latin typeface="Cambria Math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sz="2300">
                                <a:latin typeface="Cambria Math"/>
                              </a:rPr>
                              <m:t>response</m:t>
                            </m:r>
                          </m:sub>
                        </m:sSub>
                      </m:oMath>
                    </m:oMathPara>
                  </a14:m>
                  <a:endParaRPr sz="23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0" name="Surrogate objective" descr="$\mathcal{L}_{\mathrm{state}}+\lambda\mathcal{L}_{\mathrm{response}}$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5700" y="8089900"/>
                  <a:ext cx="2628900" cy="508000"/>
                </a:xfrm>
                <a:prstGeom prst="rect">
                  <a:avLst/>
                </a:prstGeom>
                <a:blipFill>
                  <a:blip r:embed="rId10"/>
                  <a:stretch>
                    <a:fillRect b="-238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05 Evaluation evidence"/>
          <p:cNvGrpSpPr/>
          <p:nvPr/>
        </p:nvGrpSpPr>
        <p:grpSpPr>
          <a:xfrm>
            <a:off x="623888" y="9171305"/>
            <a:ext cx="9442132" cy="2852738"/>
            <a:chOff x="623888" y="9298305"/>
            <a:chExt cx="9442132" cy="2852738"/>
          </a:xfrm>
          <a:effectLst/>
        </p:grpSpPr>
        <p:sp>
          <p:nvSpPr>
            <p:cNvPr id="17" name="Evaluation evidence — panel" descr="Evaluation evidence — panel"/>
            <p:cNvSpPr/>
            <p:nvPr/>
          </p:nvSpPr>
          <p:spPr>
            <a:xfrm>
              <a:off x="623888" y="9298305"/>
              <a:ext cx="9442132" cy="2852738"/>
            </a:xfrm>
            <a:custGeom>
              <a:avLst/>
              <a:gdLst/>
              <a:ahLst/>
              <a:cxnLst/>
              <a:rect l="0" t="0" r="r" b="b"/>
              <a:pathLst>
                <a:path w="991300" h="299500" extrusionOk="0">
                  <a:moveTo>
                    <a:pt x="35000" y="0"/>
                  </a:moveTo>
                  <a:lnTo>
                    <a:pt x="956300" y="0"/>
                  </a:lnTo>
                  <a:cubicBezTo>
                    <a:pt x="975630" y="0"/>
                    <a:pt x="991300" y="15670"/>
                    <a:pt x="991300" y="35000"/>
                  </a:cubicBezTo>
                  <a:lnTo>
                    <a:pt x="991300" y="264500"/>
                  </a:lnTo>
                  <a:cubicBezTo>
                    <a:pt x="991300" y="283830"/>
                    <a:pt x="975630" y="299500"/>
                    <a:pt x="956300" y="299500"/>
                  </a:cubicBezTo>
                  <a:lnTo>
                    <a:pt x="35000" y="299500"/>
                  </a:lnTo>
                  <a:cubicBezTo>
                    <a:pt x="15670" y="299500"/>
                    <a:pt x="0" y="283830"/>
                    <a:pt x="0" y="264500"/>
                  </a:cubicBezTo>
                  <a:lnTo>
                    <a:pt x="0" y="35000"/>
                  </a:lnTo>
                  <a:cubicBezTo>
                    <a:pt x="0" y="15670"/>
                    <a:pt x="15670" y="0"/>
                    <a:pt x="35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2E6"/>
                </a:gs>
                <a:gs pos="50000">
                  <a:srgbClr val="FFF5EB"/>
                </a:gs>
                <a:gs pos="100000">
                  <a:srgbClr val="FFF2E6"/>
                </a:gs>
              </a:gsLst>
              <a:lin ang="5400000" scaled="1"/>
              <a:tileRect/>
            </a:gradFill>
            <a:ln w="26670" cap="rnd" cmpd="sng" algn="ctr">
              <a:solidFill>
                <a:srgbClr val="FB6706"/>
              </a:solidFill>
              <a:round/>
            </a:ln>
            <a:effectLst/>
          </p:spPr>
        </p:sp>
        <p:sp>
          <p:nvSpPr>
            <p:cNvPr id="18" name="Teacher fidelity — inset" descr="Teacher fidelity — inset"/>
            <p:cNvSpPr/>
            <p:nvPr/>
          </p:nvSpPr>
          <p:spPr>
            <a:xfrm>
              <a:off x="798195" y="9906000"/>
              <a:ext cx="2973705" cy="1525905"/>
            </a:xfrm>
            <a:custGeom>
              <a:avLst/>
              <a:gdLst/>
              <a:ahLst/>
              <a:cxnLst/>
              <a:rect l="0" t="0" r="r" b="b"/>
              <a:pathLst>
                <a:path w="312200" h="160200" extrusionOk="0">
                  <a:moveTo>
                    <a:pt x="14000" y="0"/>
                  </a:moveTo>
                  <a:lnTo>
                    <a:pt x="298200" y="0"/>
                  </a:lnTo>
                  <a:cubicBezTo>
                    <a:pt x="305932" y="0"/>
                    <a:pt x="312200" y="6268"/>
                    <a:pt x="312200" y="14000"/>
                  </a:cubicBezTo>
                  <a:lnTo>
                    <a:pt x="312200" y="146200"/>
                  </a:lnTo>
                  <a:cubicBezTo>
                    <a:pt x="312200" y="153932"/>
                    <a:pt x="305932" y="160200"/>
                    <a:pt x="298200" y="160200"/>
                  </a:cubicBezTo>
                  <a:lnTo>
                    <a:pt x="14000" y="160200"/>
                  </a:lnTo>
                  <a:cubicBezTo>
                    <a:pt x="6268" y="160200"/>
                    <a:pt x="0" y="153932"/>
                    <a:pt x="0" y="146200"/>
                  </a:cubicBezTo>
                  <a:lnTo>
                    <a:pt x="0" y="14000"/>
                  </a:lnTo>
                  <a:cubicBezTo>
                    <a:pt x="0" y="6268"/>
                    <a:pt x="6268" y="0"/>
                    <a:pt x="14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AF5"/>
                </a:gs>
                <a:gs pos="100000">
                  <a:srgbClr val="FFF7EE"/>
                </a:gs>
              </a:gsLst>
              <a:lin ang="5400000" scaled="1"/>
              <a:tileRect/>
            </a:gradFill>
            <a:ln w="10001" cap="rnd" cmpd="sng" algn="ctr">
              <a:solidFill>
                <a:srgbClr val="FA6A18"/>
              </a:solidFill>
              <a:round/>
            </a:ln>
            <a:effectLst/>
          </p:spPr>
        </p:sp>
        <p:sp>
          <p:nvSpPr>
            <p:cNvPr id="19" name="Human behavioral agreement — inset" descr="Human behavioral agreement — inset"/>
            <p:cNvSpPr/>
            <p:nvPr/>
          </p:nvSpPr>
          <p:spPr>
            <a:xfrm>
              <a:off x="3844290" y="9906000"/>
              <a:ext cx="2926080" cy="1525905"/>
            </a:xfrm>
            <a:custGeom>
              <a:avLst/>
              <a:gdLst/>
              <a:ahLst/>
              <a:cxnLst/>
              <a:rect l="0" t="0" r="r" b="b"/>
              <a:pathLst>
                <a:path w="307200" h="160200" extrusionOk="0">
                  <a:moveTo>
                    <a:pt x="14000" y="0"/>
                  </a:moveTo>
                  <a:lnTo>
                    <a:pt x="293200" y="0"/>
                  </a:lnTo>
                  <a:cubicBezTo>
                    <a:pt x="300932" y="0"/>
                    <a:pt x="307200" y="6268"/>
                    <a:pt x="307200" y="14000"/>
                  </a:cubicBezTo>
                  <a:lnTo>
                    <a:pt x="307200" y="146200"/>
                  </a:lnTo>
                  <a:cubicBezTo>
                    <a:pt x="307200" y="153932"/>
                    <a:pt x="300932" y="160200"/>
                    <a:pt x="293200" y="160200"/>
                  </a:cubicBezTo>
                  <a:lnTo>
                    <a:pt x="14000" y="160200"/>
                  </a:lnTo>
                  <a:cubicBezTo>
                    <a:pt x="6268" y="160200"/>
                    <a:pt x="0" y="153932"/>
                    <a:pt x="0" y="146200"/>
                  </a:cubicBezTo>
                  <a:lnTo>
                    <a:pt x="0" y="14000"/>
                  </a:lnTo>
                  <a:cubicBezTo>
                    <a:pt x="0" y="6268"/>
                    <a:pt x="6268" y="0"/>
                    <a:pt x="14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AF5"/>
                </a:gs>
                <a:gs pos="100000">
                  <a:srgbClr val="FFF7EE"/>
                </a:gs>
              </a:gsLst>
              <a:lin ang="5400000" scaled="1"/>
              <a:tileRect/>
            </a:gradFill>
            <a:ln w="10001" cap="rnd" cmpd="sng" algn="ctr">
              <a:solidFill>
                <a:srgbClr val="FA6A18"/>
              </a:solidFill>
              <a:round/>
            </a:ln>
            <a:effectLst/>
          </p:spPr>
        </p:sp>
        <p:sp>
          <p:nvSpPr>
            <p:cNvPr id="20" name="Simulation response preservation — inset" descr="Simulation response preservation — inset"/>
            <p:cNvSpPr/>
            <p:nvPr/>
          </p:nvSpPr>
          <p:spPr>
            <a:xfrm>
              <a:off x="6851332" y="9906000"/>
              <a:ext cx="3038475" cy="1525905"/>
            </a:xfrm>
            <a:custGeom>
              <a:avLst/>
              <a:gdLst/>
              <a:ahLst/>
              <a:cxnLst/>
              <a:rect l="0" t="0" r="r" b="b"/>
              <a:pathLst>
                <a:path w="319000" h="160200" extrusionOk="0">
                  <a:moveTo>
                    <a:pt x="14000" y="0"/>
                  </a:moveTo>
                  <a:lnTo>
                    <a:pt x="305000" y="0"/>
                  </a:lnTo>
                  <a:cubicBezTo>
                    <a:pt x="312732" y="0"/>
                    <a:pt x="319000" y="6268"/>
                    <a:pt x="319000" y="14000"/>
                  </a:cubicBezTo>
                  <a:lnTo>
                    <a:pt x="319000" y="146200"/>
                  </a:lnTo>
                  <a:cubicBezTo>
                    <a:pt x="319000" y="153932"/>
                    <a:pt x="312732" y="160200"/>
                    <a:pt x="305000" y="160200"/>
                  </a:cubicBezTo>
                  <a:lnTo>
                    <a:pt x="14000" y="160200"/>
                  </a:lnTo>
                  <a:cubicBezTo>
                    <a:pt x="6268" y="160200"/>
                    <a:pt x="0" y="153932"/>
                    <a:pt x="0" y="146200"/>
                  </a:cubicBezTo>
                  <a:lnTo>
                    <a:pt x="0" y="14000"/>
                  </a:lnTo>
                  <a:cubicBezTo>
                    <a:pt x="0" y="6268"/>
                    <a:pt x="6268" y="0"/>
                    <a:pt x="14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AF5"/>
                </a:gs>
                <a:gs pos="100000">
                  <a:srgbClr val="FFF7EE"/>
                </a:gs>
              </a:gsLst>
              <a:lin ang="5400000" scaled="1"/>
              <a:tileRect/>
            </a:gradFill>
            <a:ln w="10001" cap="rnd" cmpd="sng" algn="ctr">
              <a:solidFill>
                <a:srgbClr val="FA6A18"/>
              </a:solidFill>
              <a:round/>
            </a:ln>
            <a:effectLst/>
          </p:spPr>
        </p:sp>
        <p:sp>
          <p:nvSpPr>
            <p:cNvPr id="32" name="Evidence explanation divider" descr="Evidence explanation divider"/>
            <p:cNvSpPr/>
            <p:nvPr/>
          </p:nvSpPr>
          <p:spPr>
            <a:xfrm>
              <a:off x="885825" y="11540490"/>
              <a:ext cx="8905875" cy="95"/>
            </a:xfrm>
            <a:custGeom>
              <a:avLst/>
              <a:gdLst/>
              <a:ahLst/>
              <a:cxnLst/>
              <a:rect l="0" t="0" r="r" b="b"/>
              <a:pathLst>
                <a:path w="935000" h="10" fill="none" extrusionOk="0">
                  <a:moveTo>
                    <a:pt x="0" y="0"/>
                  </a:moveTo>
                  <a:lnTo>
                    <a:pt x="935000" y="0"/>
                  </a:lnTo>
                </a:path>
              </a:pathLst>
            </a:custGeom>
            <a:noFill/>
            <a:ln w="9525" cap="rnd" cmpd="sng" algn="ctr">
              <a:solidFill>
                <a:srgbClr val="F38438"/>
              </a:solidFill>
              <a:round/>
            </a:ln>
            <a:effectLst/>
          </p:spPr>
        </p:sp>
        <p:sp>
          <p:nvSpPr>
            <p:cNvPr id="48" name="Teacher evidence bars" descr="Teacher evidence bars"/>
            <p:cNvSpPr/>
            <p:nvPr/>
          </p:nvSpPr>
          <p:spPr>
            <a:xfrm>
              <a:off x="1101725" y="10163175"/>
              <a:ext cx="612775" cy="615950"/>
            </a:xfrm>
            <a:custGeom>
              <a:avLst/>
              <a:gdLst/>
              <a:ahLst/>
              <a:cxnLst/>
              <a:rect l="0" t="0" r="r" b="b"/>
              <a:pathLst>
                <a:path w="64333" h="64667" stroke="0" extrusionOk="0">
                  <a:moveTo>
                    <a:pt x="1667" y="63000"/>
                  </a:moveTo>
                  <a:cubicBezTo>
                    <a:pt x="1027" y="62360"/>
                    <a:pt x="1000" y="61889"/>
                    <a:pt x="1000" y="51318"/>
                  </a:cubicBezTo>
                  <a:lnTo>
                    <a:pt x="1000" y="40303"/>
                  </a:lnTo>
                  <a:lnTo>
                    <a:pt x="1818" y="39485"/>
                  </a:lnTo>
                  <a:cubicBezTo>
                    <a:pt x="2268" y="39035"/>
                    <a:pt x="2943" y="38663"/>
                    <a:pt x="3318" y="38658"/>
                  </a:cubicBezTo>
                  <a:cubicBezTo>
                    <a:pt x="3693" y="38654"/>
                    <a:pt x="6625" y="38650"/>
                    <a:pt x="9833" y="38650"/>
                  </a:cubicBezTo>
                  <a:cubicBezTo>
                    <a:pt x="13042" y="38650"/>
                    <a:pt x="15963" y="38654"/>
                    <a:pt x="16326" y="38658"/>
                  </a:cubicBezTo>
                  <a:cubicBezTo>
                    <a:pt x="16688" y="38663"/>
                    <a:pt x="17239" y="39055"/>
                    <a:pt x="17551" y="39531"/>
                  </a:cubicBezTo>
                  <a:cubicBezTo>
                    <a:pt x="18041" y="40280"/>
                    <a:pt x="18109" y="41289"/>
                    <a:pt x="18059" y="47114"/>
                  </a:cubicBezTo>
                  <a:cubicBezTo>
                    <a:pt x="18026" y="50810"/>
                    <a:pt x="18000" y="55746"/>
                    <a:pt x="18000" y="58083"/>
                  </a:cubicBezTo>
                  <a:cubicBezTo>
                    <a:pt x="18000" y="64039"/>
                    <a:pt x="18567" y="63667"/>
                    <a:pt x="9500" y="63667"/>
                  </a:cubicBezTo>
                  <a:cubicBezTo>
                    <a:pt x="2778" y="63667"/>
                    <a:pt x="2292" y="63625"/>
                    <a:pt x="1667" y="63000"/>
                  </a:cubicBezTo>
                  <a:close/>
                  <a:moveTo>
                    <a:pt x="24147" y="63193"/>
                  </a:moveTo>
                  <a:cubicBezTo>
                    <a:pt x="23521" y="62735"/>
                    <a:pt x="23499" y="62121"/>
                    <a:pt x="23459" y="44110"/>
                  </a:cubicBezTo>
                  <a:cubicBezTo>
                    <a:pt x="23423" y="28163"/>
                    <a:pt x="23489" y="25343"/>
                    <a:pt x="23920" y="24402"/>
                  </a:cubicBezTo>
                  <a:cubicBezTo>
                    <a:pt x="24779" y="22527"/>
                    <a:pt x="25576" y="22333"/>
                    <a:pt x="32447" y="22333"/>
                  </a:cubicBezTo>
                  <a:cubicBezTo>
                    <a:pt x="38001" y="22333"/>
                    <a:pt x="38669" y="22395"/>
                    <a:pt x="39380" y="22970"/>
                  </a:cubicBezTo>
                  <a:lnTo>
                    <a:pt x="40167" y="23607"/>
                  </a:lnTo>
                  <a:lnTo>
                    <a:pt x="40258" y="42811"/>
                  </a:lnTo>
                  <a:lnTo>
                    <a:pt x="40349" y="62014"/>
                  </a:lnTo>
                  <a:lnTo>
                    <a:pt x="39523" y="62841"/>
                  </a:lnTo>
                  <a:lnTo>
                    <a:pt x="38697" y="63667"/>
                  </a:lnTo>
                  <a:lnTo>
                    <a:pt x="31746" y="63667"/>
                  </a:lnTo>
                  <a:cubicBezTo>
                    <a:pt x="26264" y="63667"/>
                    <a:pt x="24657" y="63567"/>
                    <a:pt x="24147" y="63193"/>
                  </a:cubicBezTo>
                  <a:close/>
                  <a:moveTo>
                    <a:pt x="46661" y="62995"/>
                  </a:moveTo>
                  <a:cubicBezTo>
                    <a:pt x="45996" y="62330"/>
                    <a:pt x="45990" y="62016"/>
                    <a:pt x="46078" y="32466"/>
                  </a:cubicBezTo>
                  <a:lnTo>
                    <a:pt x="46167" y="2609"/>
                  </a:lnTo>
                  <a:lnTo>
                    <a:pt x="47102" y="1804"/>
                  </a:lnTo>
                  <a:cubicBezTo>
                    <a:pt x="48023" y="1012"/>
                    <a:pt x="48137" y="1000"/>
                    <a:pt x="54711" y="1000"/>
                  </a:cubicBezTo>
                  <a:lnTo>
                    <a:pt x="61385" y="1000"/>
                  </a:lnTo>
                  <a:lnTo>
                    <a:pt x="62326" y="1941"/>
                  </a:lnTo>
                  <a:lnTo>
                    <a:pt x="63267" y="2882"/>
                  </a:lnTo>
                  <a:lnTo>
                    <a:pt x="63217" y="32637"/>
                  </a:lnTo>
                  <a:lnTo>
                    <a:pt x="63167" y="62392"/>
                  </a:lnTo>
                  <a:lnTo>
                    <a:pt x="62380" y="63029"/>
                  </a:lnTo>
                  <a:cubicBezTo>
                    <a:pt x="61660" y="63612"/>
                    <a:pt x="60986" y="63667"/>
                    <a:pt x="54463" y="63667"/>
                  </a:cubicBezTo>
                  <a:cubicBezTo>
                    <a:pt x="47759" y="63667"/>
                    <a:pt x="47293" y="63627"/>
                    <a:pt x="46661" y="62995"/>
                  </a:cubicBezTo>
                  <a:close/>
                </a:path>
              </a:pathLst>
            </a:custGeom>
            <a:solidFill>
              <a:srgbClr val="FB7009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49" name="Human evidence people" descr="Human evidence people"/>
            <p:cNvSpPr/>
            <p:nvPr/>
          </p:nvSpPr>
          <p:spPr>
            <a:xfrm>
              <a:off x="4051300" y="10156825"/>
              <a:ext cx="720725" cy="587375"/>
            </a:xfrm>
            <a:custGeom>
              <a:avLst/>
              <a:gdLst/>
              <a:ahLst/>
              <a:cxnLst/>
              <a:rect l="0" t="0" r="r" b="b"/>
              <a:pathLst>
                <a:path w="75667" h="61667" stroke="0" extrusionOk="0">
                  <a:moveTo>
                    <a:pt x="22212" y="59976"/>
                  </a:moveTo>
                  <a:lnTo>
                    <a:pt x="21333" y="59285"/>
                  </a:lnTo>
                  <a:lnTo>
                    <a:pt x="21333" y="49477"/>
                  </a:lnTo>
                  <a:cubicBezTo>
                    <a:pt x="21333" y="40347"/>
                    <a:pt x="21382" y="39525"/>
                    <a:pt x="22043" y="37585"/>
                  </a:cubicBezTo>
                  <a:cubicBezTo>
                    <a:pt x="23052" y="34619"/>
                    <a:pt x="24872" y="32101"/>
                    <a:pt x="27450" y="30104"/>
                  </a:cubicBezTo>
                  <a:cubicBezTo>
                    <a:pt x="30462" y="27771"/>
                    <a:pt x="32731" y="26938"/>
                    <a:pt x="36606" y="26742"/>
                  </a:cubicBezTo>
                  <a:cubicBezTo>
                    <a:pt x="42122" y="26463"/>
                    <a:pt x="45971" y="27748"/>
                    <a:pt x="49494" y="31044"/>
                  </a:cubicBezTo>
                  <a:cubicBezTo>
                    <a:pt x="51680" y="33089"/>
                    <a:pt x="53034" y="35246"/>
                    <a:pt x="53906" y="38072"/>
                  </a:cubicBezTo>
                  <a:cubicBezTo>
                    <a:pt x="54361" y="39549"/>
                    <a:pt x="54440" y="41395"/>
                    <a:pt x="54392" y="49500"/>
                  </a:cubicBezTo>
                  <a:lnTo>
                    <a:pt x="54336" y="59167"/>
                  </a:lnTo>
                  <a:lnTo>
                    <a:pt x="53483" y="59917"/>
                  </a:lnTo>
                  <a:lnTo>
                    <a:pt x="52629" y="60667"/>
                  </a:lnTo>
                  <a:lnTo>
                    <a:pt x="37860" y="60667"/>
                  </a:lnTo>
                  <a:cubicBezTo>
                    <a:pt x="23422" y="60667"/>
                    <a:pt x="23070" y="60651"/>
                    <a:pt x="22212" y="59976"/>
                  </a:cubicBezTo>
                  <a:close/>
                  <a:moveTo>
                    <a:pt x="3066" y="58442"/>
                  </a:moveTo>
                  <a:cubicBezTo>
                    <a:pt x="1241" y="57543"/>
                    <a:pt x="999" y="56662"/>
                    <a:pt x="1006" y="50933"/>
                  </a:cubicBezTo>
                  <a:cubicBezTo>
                    <a:pt x="1013" y="44867"/>
                    <a:pt x="1620" y="40735"/>
                    <a:pt x="2883" y="38155"/>
                  </a:cubicBezTo>
                  <a:cubicBezTo>
                    <a:pt x="3987" y="35900"/>
                    <a:pt x="6768" y="33244"/>
                    <a:pt x="9147" y="32174"/>
                  </a:cubicBezTo>
                  <a:cubicBezTo>
                    <a:pt x="10074" y="31757"/>
                    <a:pt x="11615" y="31220"/>
                    <a:pt x="12571" y="30981"/>
                  </a:cubicBezTo>
                  <a:cubicBezTo>
                    <a:pt x="13960" y="30634"/>
                    <a:pt x="14746" y="30627"/>
                    <a:pt x="16488" y="30948"/>
                  </a:cubicBezTo>
                  <a:cubicBezTo>
                    <a:pt x="19569" y="31516"/>
                    <a:pt x="20333" y="31860"/>
                    <a:pt x="20333" y="32681"/>
                  </a:cubicBezTo>
                  <a:cubicBezTo>
                    <a:pt x="20333" y="33064"/>
                    <a:pt x="19971" y="33855"/>
                    <a:pt x="19528" y="34439"/>
                  </a:cubicBezTo>
                  <a:cubicBezTo>
                    <a:pt x="19086" y="35023"/>
                    <a:pt x="18381" y="36475"/>
                    <a:pt x="17963" y="37667"/>
                  </a:cubicBezTo>
                  <a:cubicBezTo>
                    <a:pt x="17257" y="39676"/>
                    <a:pt x="17192" y="40501"/>
                    <a:pt x="17070" y="49000"/>
                  </a:cubicBezTo>
                  <a:cubicBezTo>
                    <a:pt x="16989" y="54594"/>
                    <a:pt x="16804" y="58329"/>
                    <a:pt x="16595" y="58583"/>
                  </a:cubicBezTo>
                  <a:cubicBezTo>
                    <a:pt x="16343" y="58889"/>
                    <a:pt x="14646" y="58998"/>
                    <a:pt x="10209" y="58992"/>
                  </a:cubicBezTo>
                  <a:cubicBezTo>
                    <a:pt x="5312" y="58986"/>
                    <a:pt x="3958" y="58882"/>
                    <a:pt x="3066" y="58442"/>
                  </a:cubicBezTo>
                  <a:close/>
                  <a:moveTo>
                    <a:pt x="59273" y="58333"/>
                  </a:moveTo>
                  <a:cubicBezTo>
                    <a:pt x="58734" y="57879"/>
                    <a:pt x="58671" y="56975"/>
                    <a:pt x="58590" y="48500"/>
                  </a:cubicBezTo>
                  <a:cubicBezTo>
                    <a:pt x="58505" y="39652"/>
                    <a:pt x="58460" y="39068"/>
                    <a:pt x="57735" y="37275"/>
                  </a:cubicBezTo>
                  <a:cubicBezTo>
                    <a:pt x="57315" y="36235"/>
                    <a:pt x="56586" y="34816"/>
                    <a:pt x="56115" y="34122"/>
                  </a:cubicBezTo>
                  <a:cubicBezTo>
                    <a:pt x="55522" y="33249"/>
                    <a:pt x="55352" y="32712"/>
                    <a:pt x="55562" y="32379"/>
                  </a:cubicBezTo>
                  <a:cubicBezTo>
                    <a:pt x="55984" y="31710"/>
                    <a:pt x="58507" y="31010"/>
                    <a:pt x="60500" y="31009"/>
                  </a:cubicBezTo>
                  <a:cubicBezTo>
                    <a:pt x="63899" y="31007"/>
                    <a:pt x="68026" y="32693"/>
                    <a:pt x="70378" y="35044"/>
                  </a:cubicBezTo>
                  <a:cubicBezTo>
                    <a:pt x="73325" y="37992"/>
                    <a:pt x="74667" y="43244"/>
                    <a:pt x="74667" y="51836"/>
                  </a:cubicBezTo>
                  <a:lnTo>
                    <a:pt x="74667" y="56343"/>
                  </a:lnTo>
                  <a:lnTo>
                    <a:pt x="73583" y="57497"/>
                  </a:lnTo>
                  <a:lnTo>
                    <a:pt x="72500" y="58650"/>
                  </a:lnTo>
                  <a:lnTo>
                    <a:pt x="66183" y="58742"/>
                  </a:lnTo>
                  <a:cubicBezTo>
                    <a:pt x="60958" y="58817"/>
                    <a:pt x="59763" y="58747"/>
                    <a:pt x="59273" y="58333"/>
                  </a:cubicBezTo>
                  <a:close/>
                  <a:moveTo>
                    <a:pt x="12233" y="27538"/>
                  </a:moveTo>
                  <a:cubicBezTo>
                    <a:pt x="10367" y="26844"/>
                    <a:pt x="8495" y="25444"/>
                    <a:pt x="7579" y="24056"/>
                  </a:cubicBezTo>
                  <a:cubicBezTo>
                    <a:pt x="7135" y="23384"/>
                    <a:pt x="6512" y="22048"/>
                    <a:pt x="6195" y="21089"/>
                  </a:cubicBezTo>
                  <a:cubicBezTo>
                    <a:pt x="5700" y="19596"/>
                    <a:pt x="5673" y="19068"/>
                    <a:pt x="6009" y="17423"/>
                  </a:cubicBezTo>
                  <a:cubicBezTo>
                    <a:pt x="6478" y="15122"/>
                    <a:pt x="7234" y="13802"/>
                    <a:pt x="8993" y="12212"/>
                  </a:cubicBezTo>
                  <a:cubicBezTo>
                    <a:pt x="11464" y="9980"/>
                    <a:pt x="15646" y="9450"/>
                    <a:pt x="18632" y="10989"/>
                  </a:cubicBezTo>
                  <a:cubicBezTo>
                    <a:pt x="20258" y="11827"/>
                    <a:pt x="21821" y="13522"/>
                    <a:pt x="22640" y="15333"/>
                  </a:cubicBezTo>
                  <a:cubicBezTo>
                    <a:pt x="23545" y="17335"/>
                    <a:pt x="23546" y="20331"/>
                    <a:pt x="22641" y="22333"/>
                  </a:cubicBezTo>
                  <a:cubicBezTo>
                    <a:pt x="21824" y="24142"/>
                    <a:pt x="19945" y="26160"/>
                    <a:pt x="18275" y="27022"/>
                  </a:cubicBezTo>
                  <a:cubicBezTo>
                    <a:pt x="16596" y="27889"/>
                    <a:pt x="13817" y="28126"/>
                    <a:pt x="12233" y="27538"/>
                  </a:cubicBezTo>
                  <a:close/>
                  <a:moveTo>
                    <a:pt x="58930" y="27700"/>
                  </a:moveTo>
                  <a:cubicBezTo>
                    <a:pt x="56249" y="27142"/>
                    <a:pt x="53425" y="24267"/>
                    <a:pt x="52627" y="21280"/>
                  </a:cubicBezTo>
                  <a:cubicBezTo>
                    <a:pt x="52052" y="19132"/>
                    <a:pt x="52495" y="16424"/>
                    <a:pt x="53772" y="14288"/>
                  </a:cubicBezTo>
                  <a:cubicBezTo>
                    <a:pt x="55668" y="11115"/>
                    <a:pt x="59661" y="9445"/>
                    <a:pt x="63255" y="10320"/>
                  </a:cubicBezTo>
                  <a:cubicBezTo>
                    <a:pt x="68686" y="11644"/>
                    <a:pt x="71504" y="17758"/>
                    <a:pt x="68971" y="22723"/>
                  </a:cubicBezTo>
                  <a:cubicBezTo>
                    <a:pt x="68145" y="24343"/>
                    <a:pt x="66266" y="26145"/>
                    <a:pt x="64526" y="26987"/>
                  </a:cubicBezTo>
                  <a:cubicBezTo>
                    <a:pt x="62894" y="27777"/>
                    <a:pt x="60668" y="28061"/>
                    <a:pt x="58930" y="27700"/>
                  </a:cubicBezTo>
                  <a:close/>
                  <a:moveTo>
                    <a:pt x="33787" y="22631"/>
                  </a:moveTo>
                  <a:cubicBezTo>
                    <a:pt x="31448" y="21495"/>
                    <a:pt x="29759" y="19788"/>
                    <a:pt x="28610" y="17397"/>
                  </a:cubicBezTo>
                  <a:cubicBezTo>
                    <a:pt x="27661" y="15424"/>
                    <a:pt x="27536" y="14836"/>
                    <a:pt x="27530" y="12302"/>
                  </a:cubicBezTo>
                  <a:cubicBezTo>
                    <a:pt x="27524" y="9737"/>
                    <a:pt x="27637" y="9208"/>
                    <a:pt x="28607" y="7236"/>
                  </a:cubicBezTo>
                  <a:cubicBezTo>
                    <a:pt x="30575" y="3241"/>
                    <a:pt x="33916" y="1168"/>
                    <a:pt x="38333" y="1203"/>
                  </a:cubicBezTo>
                  <a:cubicBezTo>
                    <a:pt x="41293" y="1227"/>
                    <a:pt x="43554" y="2252"/>
                    <a:pt x="45611" y="4503"/>
                  </a:cubicBezTo>
                  <a:cubicBezTo>
                    <a:pt x="48517" y="7682"/>
                    <a:pt x="49392" y="11789"/>
                    <a:pt x="48015" y="15789"/>
                  </a:cubicBezTo>
                  <a:cubicBezTo>
                    <a:pt x="46808" y="19297"/>
                    <a:pt x="44496" y="21718"/>
                    <a:pt x="41259" y="22860"/>
                  </a:cubicBezTo>
                  <a:cubicBezTo>
                    <a:pt x="39266" y="23563"/>
                    <a:pt x="35468" y="23446"/>
                    <a:pt x="33787" y="22631"/>
                  </a:cubicBezTo>
                  <a:close/>
                </a:path>
              </a:pathLst>
            </a:custGeom>
            <a:solidFill>
              <a:srgbClr val="F8730A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50" name="Simulation evidence route" descr="Simulation evidence route"/>
            <p:cNvSpPr/>
            <p:nvPr/>
          </p:nvSpPr>
          <p:spPr>
            <a:xfrm>
              <a:off x="7029450" y="10042525"/>
              <a:ext cx="809625" cy="819150"/>
            </a:xfrm>
            <a:custGeom>
              <a:avLst/>
              <a:gdLst/>
              <a:ahLst/>
              <a:cxnLst/>
              <a:rect l="0" t="0" r="r" b="b"/>
              <a:pathLst>
                <a:path w="85000" h="86000" stroke="0" extrusionOk="0">
                  <a:moveTo>
                    <a:pt x="11294" y="83706"/>
                  </a:moveTo>
                  <a:cubicBezTo>
                    <a:pt x="10208" y="82620"/>
                    <a:pt x="10000" y="82190"/>
                    <a:pt x="10000" y="81034"/>
                  </a:cubicBezTo>
                  <a:cubicBezTo>
                    <a:pt x="10000" y="79931"/>
                    <a:pt x="10227" y="79409"/>
                    <a:pt x="11141" y="78412"/>
                  </a:cubicBezTo>
                  <a:cubicBezTo>
                    <a:pt x="12145" y="77316"/>
                    <a:pt x="12468" y="77167"/>
                    <a:pt x="13832" y="77167"/>
                  </a:cubicBezTo>
                  <a:cubicBezTo>
                    <a:pt x="15223" y="77167"/>
                    <a:pt x="15515" y="77310"/>
                    <a:pt x="16691" y="78570"/>
                  </a:cubicBezTo>
                  <a:cubicBezTo>
                    <a:pt x="17720" y="79674"/>
                    <a:pt x="18000" y="80235"/>
                    <a:pt x="18000" y="81193"/>
                  </a:cubicBezTo>
                  <a:cubicBezTo>
                    <a:pt x="18000" y="82164"/>
                    <a:pt x="17737" y="82675"/>
                    <a:pt x="16706" y="83706"/>
                  </a:cubicBezTo>
                  <a:cubicBezTo>
                    <a:pt x="15610" y="84802"/>
                    <a:pt x="15195" y="85000"/>
                    <a:pt x="14000" y="85000"/>
                  </a:cubicBezTo>
                  <a:cubicBezTo>
                    <a:pt x="12805" y="85000"/>
                    <a:pt x="12390" y="84802"/>
                    <a:pt x="11294" y="83706"/>
                  </a:cubicBezTo>
                  <a:close/>
                  <a:moveTo>
                    <a:pt x="22818" y="83848"/>
                  </a:moveTo>
                  <a:cubicBezTo>
                    <a:pt x="22255" y="83286"/>
                    <a:pt x="22000" y="82659"/>
                    <a:pt x="22000" y="81841"/>
                  </a:cubicBezTo>
                  <a:cubicBezTo>
                    <a:pt x="22000" y="80449"/>
                    <a:pt x="22374" y="80228"/>
                    <a:pt x="25667" y="79673"/>
                  </a:cubicBezTo>
                  <a:cubicBezTo>
                    <a:pt x="26858" y="79472"/>
                    <a:pt x="28246" y="79221"/>
                    <a:pt x="28751" y="79115"/>
                  </a:cubicBezTo>
                  <a:cubicBezTo>
                    <a:pt x="29588" y="78939"/>
                    <a:pt x="29731" y="79061"/>
                    <a:pt x="30360" y="80482"/>
                  </a:cubicBezTo>
                  <a:cubicBezTo>
                    <a:pt x="30989" y="81904"/>
                    <a:pt x="31005" y="82110"/>
                    <a:pt x="30541" y="82817"/>
                  </a:cubicBezTo>
                  <a:cubicBezTo>
                    <a:pt x="29906" y="83787"/>
                    <a:pt x="27393" y="84667"/>
                    <a:pt x="25259" y="84667"/>
                  </a:cubicBezTo>
                  <a:cubicBezTo>
                    <a:pt x="23981" y="84667"/>
                    <a:pt x="23463" y="84493"/>
                    <a:pt x="22818" y="83848"/>
                  </a:cubicBezTo>
                  <a:close/>
                  <a:moveTo>
                    <a:pt x="34261" y="80417"/>
                  </a:moveTo>
                  <a:cubicBezTo>
                    <a:pt x="33653" y="79720"/>
                    <a:pt x="33000" y="78500"/>
                    <a:pt x="33000" y="78063"/>
                  </a:cubicBezTo>
                  <a:cubicBezTo>
                    <a:pt x="33000" y="77890"/>
                    <a:pt x="34012" y="76757"/>
                    <a:pt x="35250" y="75545"/>
                  </a:cubicBezTo>
                  <a:cubicBezTo>
                    <a:pt x="36515" y="74306"/>
                    <a:pt x="37796" y="73340"/>
                    <a:pt x="38176" y="73337"/>
                  </a:cubicBezTo>
                  <a:cubicBezTo>
                    <a:pt x="38862" y="73333"/>
                    <a:pt x="41000" y="75045"/>
                    <a:pt x="41000" y="75599"/>
                  </a:cubicBezTo>
                  <a:cubicBezTo>
                    <a:pt x="41000" y="76766"/>
                    <a:pt x="36589" y="81000"/>
                    <a:pt x="35373" y="81000"/>
                  </a:cubicBezTo>
                  <a:cubicBezTo>
                    <a:pt x="35041" y="81000"/>
                    <a:pt x="34541" y="80738"/>
                    <a:pt x="34261" y="80417"/>
                  </a:cubicBezTo>
                  <a:close/>
                  <a:moveTo>
                    <a:pt x="12924" y="74977"/>
                  </a:moveTo>
                  <a:cubicBezTo>
                    <a:pt x="12417" y="74682"/>
                    <a:pt x="11356" y="73030"/>
                    <a:pt x="9084" y="69000"/>
                  </a:cubicBezTo>
                  <a:cubicBezTo>
                    <a:pt x="4407" y="60703"/>
                    <a:pt x="3208" y="58441"/>
                    <a:pt x="2282" y="56167"/>
                  </a:cubicBezTo>
                  <a:cubicBezTo>
                    <a:pt x="1345" y="53867"/>
                    <a:pt x="1196" y="53104"/>
                    <a:pt x="1196" y="50619"/>
                  </a:cubicBezTo>
                  <a:cubicBezTo>
                    <a:pt x="1197" y="47962"/>
                    <a:pt x="1294" y="47541"/>
                    <a:pt x="2447" y="45208"/>
                  </a:cubicBezTo>
                  <a:cubicBezTo>
                    <a:pt x="3409" y="43261"/>
                    <a:pt x="4129" y="42327"/>
                    <a:pt x="5570" y="41153"/>
                  </a:cubicBezTo>
                  <a:cubicBezTo>
                    <a:pt x="7931" y="39230"/>
                    <a:pt x="8712" y="38830"/>
                    <a:pt x="11460" y="38140"/>
                  </a:cubicBezTo>
                  <a:cubicBezTo>
                    <a:pt x="13350" y="37665"/>
                    <a:pt x="13988" y="37642"/>
                    <a:pt x="15756" y="37986"/>
                  </a:cubicBezTo>
                  <a:cubicBezTo>
                    <a:pt x="18427" y="38504"/>
                    <a:pt x="20379" y="39369"/>
                    <a:pt x="22514" y="40981"/>
                  </a:cubicBezTo>
                  <a:cubicBezTo>
                    <a:pt x="25699" y="43386"/>
                    <a:pt x="27568" y="47549"/>
                    <a:pt x="27248" y="51527"/>
                  </a:cubicBezTo>
                  <a:cubicBezTo>
                    <a:pt x="27122" y="53106"/>
                    <a:pt x="26686" y="54431"/>
                    <a:pt x="25430" y="57060"/>
                  </a:cubicBezTo>
                  <a:cubicBezTo>
                    <a:pt x="24522" y="58962"/>
                    <a:pt x="22500" y="62613"/>
                    <a:pt x="20936" y="65175"/>
                  </a:cubicBezTo>
                  <a:cubicBezTo>
                    <a:pt x="19372" y="67737"/>
                    <a:pt x="17456" y="70883"/>
                    <a:pt x="16678" y="72167"/>
                  </a:cubicBezTo>
                  <a:cubicBezTo>
                    <a:pt x="14784" y="75291"/>
                    <a:pt x="14206" y="75724"/>
                    <a:pt x="12924" y="74977"/>
                  </a:cubicBezTo>
                  <a:close/>
                  <a:moveTo>
                    <a:pt x="16300" y="55517"/>
                  </a:moveTo>
                  <a:cubicBezTo>
                    <a:pt x="17517" y="54888"/>
                    <a:pt x="19266" y="52883"/>
                    <a:pt x="19536" y="51809"/>
                  </a:cubicBezTo>
                  <a:cubicBezTo>
                    <a:pt x="19871" y="50472"/>
                    <a:pt x="19442" y="48705"/>
                    <a:pt x="18471" y="47433"/>
                  </a:cubicBezTo>
                  <a:cubicBezTo>
                    <a:pt x="17493" y="46150"/>
                    <a:pt x="15363" y="45019"/>
                    <a:pt x="13903" y="45007"/>
                  </a:cubicBezTo>
                  <a:cubicBezTo>
                    <a:pt x="12607" y="44997"/>
                    <a:pt x="10523" y="46131"/>
                    <a:pt x="9692" y="47298"/>
                  </a:cubicBezTo>
                  <a:cubicBezTo>
                    <a:pt x="7786" y="49974"/>
                    <a:pt x="8710" y="53483"/>
                    <a:pt x="11819" y="55379"/>
                  </a:cubicBezTo>
                  <a:cubicBezTo>
                    <a:pt x="13034" y="56120"/>
                    <a:pt x="15016" y="56181"/>
                    <a:pt x="16300" y="55517"/>
                  </a:cubicBezTo>
                  <a:close/>
                  <a:moveTo>
                    <a:pt x="40837" y="70532"/>
                  </a:moveTo>
                  <a:lnTo>
                    <a:pt x="39508" y="69407"/>
                  </a:lnTo>
                  <a:lnTo>
                    <a:pt x="40104" y="67120"/>
                  </a:lnTo>
                  <a:cubicBezTo>
                    <a:pt x="40745" y="64658"/>
                    <a:pt x="41572" y="63232"/>
                    <a:pt x="42459" y="63057"/>
                  </a:cubicBezTo>
                  <a:cubicBezTo>
                    <a:pt x="43238" y="62904"/>
                    <a:pt x="45333" y="65090"/>
                    <a:pt x="45333" y="66055"/>
                  </a:cubicBezTo>
                  <a:cubicBezTo>
                    <a:pt x="45333" y="67323"/>
                    <a:pt x="44069" y="70449"/>
                    <a:pt x="43300" y="71083"/>
                  </a:cubicBezTo>
                  <a:cubicBezTo>
                    <a:pt x="42911" y="71404"/>
                    <a:pt x="42497" y="71664"/>
                    <a:pt x="42380" y="71662"/>
                  </a:cubicBezTo>
                  <a:cubicBezTo>
                    <a:pt x="42263" y="71659"/>
                    <a:pt x="41568" y="71151"/>
                    <a:pt x="40837" y="70532"/>
                  </a:cubicBezTo>
                  <a:close/>
                  <a:moveTo>
                    <a:pt x="44552" y="60479"/>
                  </a:moveTo>
                  <a:cubicBezTo>
                    <a:pt x="43369" y="58995"/>
                    <a:pt x="43529" y="58137"/>
                    <a:pt x="45328" y="56339"/>
                  </a:cubicBezTo>
                  <a:cubicBezTo>
                    <a:pt x="46932" y="54734"/>
                    <a:pt x="48855" y="53720"/>
                    <a:pt x="50792" y="53454"/>
                  </a:cubicBezTo>
                  <a:cubicBezTo>
                    <a:pt x="52010" y="53287"/>
                    <a:pt x="52374" y="53374"/>
                    <a:pt x="52980" y="53980"/>
                  </a:cubicBezTo>
                  <a:cubicBezTo>
                    <a:pt x="53486" y="54486"/>
                    <a:pt x="53675" y="55025"/>
                    <a:pt x="53603" y="55759"/>
                  </a:cubicBezTo>
                  <a:cubicBezTo>
                    <a:pt x="53496" y="56856"/>
                    <a:pt x="53479" y="56869"/>
                    <a:pt x="50281" y="58277"/>
                  </a:cubicBezTo>
                  <a:cubicBezTo>
                    <a:pt x="49401" y="58665"/>
                    <a:pt x="48259" y="59546"/>
                    <a:pt x="47642" y="60314"/>
                  </a:cubicBezTo>
                  <a:cubicBezTo>
                    <a:pt x="47044" y="61058"/>
                    <a:pt x="46318" y="61667"/>
                    <a:pt x="46028" y="61667"/>
                  </a:cubicBezTo>
                  <a:cubicBezTo>
                    <a:pt x="45737" y="61667"/>
                    <a:pt x="45074" y="61132"/>
                    <a:pt x="44552" y="60479"/>
                  </a:cubicBezTo>
                  <a:close/>
                  <a:moveTo>
                    <a:pt x="58817" y="57011"/>
                  </a:moveTo>
                  <a:cubicBezTo>
                    <a:pt x="58036" y="56698"/>
                    <a:pt x="56824" y="54272"/>
                    <a:pt x="57096" y="53565"/>
                  </a:cubicBezTo>
                  <a:cubicBezTo>
                    <a:pt x="57195" y="53305"/>
                    <a:pt x="58000" y="52911"/>
                    <a:pt x="58884" y="52689"/>
                  </a:cubicBezTo>
                  <a:cubicBezTo>
                    <a:pt x="59768" y="52466"/>
                    <a:pt x="61354" y="51695"/>
                    <a:pt x="62409" y="50975"/>
                  </a:cubicBezTo>
                  <a:cubicBezTo>
                    <a:pt x="63463" y="50256"/>
                    <a:pt x="64542" y="49667"/>
                    <a:pt x="64805" y="49667"/>
                  </a:cubicBezTo>
                  <a:cubicBezTo>
                    <a:pt x="65389" y="49667"/>
                    <a:pt x="66667" y="51226"/>
                    <a:pt x="66667" y="51938"/>
                  </a:cubicBezTo>
                  <a:cubicBezTo>
                    <a:pt x="66667" y="52586"/>
                    <a:pt x="63933" y="55155"/>
                    <a:pt x="62167" y="56167"/>
                  </a:cubicBezTo>
                  <a:cubicBezTo>
                    <a:pt x="60449" y="57151"/>
                    <a:pt x="59661" y="57349"/>
                    <a:pt x="58817" y="57011"/>
                  </a:cubicBezTo>
                  <a:close/>
                  <a:moveTo>
                    <a:pt x="67335" y="46747"/>
                  </a:moveTo>
                  <a:cubicBezTo>
                    <a:pt x="65873" y="45285"/>
                    <a:pt x="65664" y="44283"/>
                    <a:pt x="66488" y="42690"/>
                  </a:cubicBezTo>
                  <a:cubicBezTo>
                    <a:pt x="66756" y="42171"/>
                    <a:pt x="67461" y="41338"/>
                    <a:pt x="68053" y="40840"/>
                  </a:cubicBezTo>
                  <a:cubicBezTo>
                    <a:pt x="68930" y="40102"/>
                    <a:pt x="69350" y="39969"/>
                    <a:pt x="70315" y="40122"/>
                  </a:cubicBezTo>
                  <a:cubicBezTo>
                    <a:pt x="71052" y="40239"/>
                    <a:pt x="71847" y="40695"/>
                    <a:pt x="72417" y="41327"/>
                  </a:cubicBezTo>
                  <a:cubicBezTo>
                    <a:pt x="73096" y="42081"/>
                    <a:pt x="73333" y="42691"/>
                    <a:pt x="73333" y="43685"/>
                  </a:cubicBezTo>
                  <a:cubicBezTo>
                    <a:pt x="73333" y="44777"/>
                    <a:pt x="73102" y="45271"/>
                    <a:pt x="72083" y="46347"/>
                  </a:cubicBezTo>
                  <a:cubicBezTo>
                    <a:pt x="71333" y="47140"/>
                    <a:pt x="70401" y="47751"/>
                    <a:pt x="69752" y="47875"/>
                  </a:cubicBezTo>
                  <a:cubicBezTo>
                    <a:pt x="68805" y="48057"/>
                    <a:pt x="68504" y="47916"/>
                    <a:pt x="67335" y="46747"/>
                  </a:cubicBezTo>
                  <a:close/>
                  <a:moveTo>
                    <a:pt x="69225" y="37917"/>
                  </a:moveTo>
                  <a:cubicBezTo>
                    <a:pt x="68223" y="36908"/>
                    <a:pt x="60072" y="21749"/>
                    <a:pt x="59059" y="19011"/>
                  </a:cubicBezTo>
                  <a:cubicBezTo>
                    <a:pt x="57603" y="15077"/>
                    <a:pt x="58127" y="10269"/>
                    <a:pt x="60383" y="6864"/>
                  </a:cubicBezTo>
                  <a:cubicBezTo>
                    <a:pt x="61750" y="4799"/>
                    <a:pt x="64872" y="2493"/>
                    <a:pt x="67290" y="1761"/>
                  </a:cubicBezTo>
                  <a:cubicBezTo>
                    <a:pt x="69790" y="1004"/>
                    <a:pt x="73055" y="1061"/>
                    <a:pt x="75198" y="1899"/>
                  </a:cubicBezTo>
                  <a:cubicBezTo>
                    <a:pt x="78967" y="3373"/>
                    <a:pt x="81999" y="6343"/>
                    <a:pt x="83309" y="9845"/>
                  </a:cubicBezTo>
                  <a:cubicBezTo>
                    <a:pt x="84181" y="12175"/>
                    <a:pt x="84202" y="15154"/>
                    <a:pt x="83366" y="17902"/>
                  </a:cubicBezTo>
                  <a:cubicBezTo>
                    <a:pt x="83020" y="19040"/>
                    <a:pt x="82022" y="21290"/>
                    <a:pt x="81149" y="22902"/>
                  </a:cubicBezTo>
                  <a:cubicBezTo>
                    <a:pt x="78926" y="27005"/>
                    <a:pt x="72679" y="37014"/>
                    <a:pt x="71779" y="37917"/>
                  </a:cubicBezTo>
                  <a:cubicBezTo>
                    <a:pt x="71367" y="38329"/>
                    <a:pt x="70792" y="38667"/>
                    <a:pt x="70500" y="38667"/>
                  </a:cubicBezTo>
                  <a:cubicBezTo>
                    <a:pt x="70208" y="38667"/>
                    <a:pt x="69635" y="38329"/>
                    <a:pt x="69225" y="37917"/>
                  </a:cubicBezTo>
                  <a:close/>
                  <a:moveTo>
                    <a:pt x="73999" y="18334"/>
                  </a:moveTo>
                  <a:cubicBezTo>
                    <a:pt x="75453" y="17298"/>
                    <a:pt x="76467" y="14986"/>
                    <a:pt x="76169" y="13383"/>
                  </a:cubicBezTo>
                  <a:cubicBezTo>
                    <a:pt x="75864" y="11734"/>
                    <a:pt x="74785" y="10063"/>
                    <a:pt x="73535" y="9300"/>
                  </a:cubicBezTo>
                  <a:cubicBezTo>
                    <a:pt x="72384" y="8599"/>
                    <a:pt x="70534" y="8482"/>
                    <a:pt x="69105" y="9020"/>
                  </a:cubicBezTo>
                  <a:cubicBezTo>
                    <a:pt x="67712" y="9546"/>
                    <a:pt x="66037" y="11311"/>
                    <a:pt x="65670" y="12641"/>
                  </a:cubicBezTo>
                  <a:cubicBezTo>
                    <a:pt x="65050" y="14888"/>
                    <a:pt x="66279" y="17409"/>
                    <a:pt x="68613" y="18678"/>
                  </a:cubicBezTo>
                  <a:cubicBezTo>
                    <a:pt x="70202" y="19542"/>
                    <a:pt x="72509" y="19395"/>
                    <a:pt x="73999" y="18334"/>
                  </a:cubicBezTo>
                  <a:close/>
                </a:path>
              </a:pathLst>
            </a:custGeom>
            <a:solidFill>
              <a:srgbClr val="F66D0A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91" name="Evaluation heading / line 1"/>
            <p:cNvSpPr txBox="1"/>
            <p:nvPr/>
          </p:nvSpPr>
          <p:spPr>
            <a:xfrm>
              <a:off x="4016671" y="9379705"/>
              <a:ext cx="2733675" cy="466262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dirty="0">
                  <a:solidFill>
                    <a:srgbClr val="C9150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Evaluation evidence</a:t>
              </a:r>
            </a:p>
          </p:txBody>
        </p:sp>
        <p:sp>
          <p:nvSpPr>
            <p:cNvPr id="92" name="Teacher fidelity heading / line 1"/>
            <p:cNvSpPr txBox="1"/>
            <p:nvPr/>
          </p:nvSpPr>
          <p:spPr>
            <a:xfrm>
              <a:off x="1871663" y="10141107"/>
              <a:ext cx="1485900" cy="333634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solidFill>
                    <a:srgbClr val="B918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Teacher fidelity</a:t>
              </a:r>
            </a:p>
          </p:txBody>
        </p:sp>
        <p:sp>
          <p:nvSpPr>
            <p:cNvPr id="93" name="Teacher fidelity question / line 1"/>
            <p:cNvSpPr txBox="1"/>
            <p:nvPr/>
          </p:nvSpPr>
          <p:spPr>
            <a:xfrm>
              <a:off x="1871663" y="10664488"/>
              <a:ext cx="1409700" cy="771465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r>
                <a:rPr sz="1400" b="0" i="0" dirty="0">
                  <a:solidFill>
                    <a:srgbClr val="243D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Does the surrogate</a:t>
              </a:r>
              <a:endParaRPr lang="en-US" sz="1400" b="0" i="0" dirty="0">
                <a:solidFill>
                  <a:srgbClr val="243D7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243D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preserve Teacher</a:t>
              </a:r>
            </a:p>
            <a:p>
              <a:r>
                <a:rPr lang="en-US" altLang="zh-CN" sz="1400" dirty="0">
                  <a:solidFill>
                    <a:srgbClr val="243D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responses?</a:t>
              </a:r>
            </a:p>
            <a:p>
              <a:endParaRPr lang="en-US" altLang="zh-CN" sz="1400" dirty="0">
                <a:solidFill>
                  <a:srgbClr val="243D7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endParaRPr sz="1400" b="0" i="0" dirty="0">
                <a:solidFill>
                  <a:srgbClr val="243D7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Human agreement heading / line 1"/>
            <p:cNvSpPr txBox="1"/>
            <p:nvPr/>
          </p:nvSpPr>
          <p:spPr>
            <a:xfrm>
              <a:off x="4917843" y="10050033"/>
              <a:ext cx="1609725" cy="303623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solidFill>
                    <a:srgbClr val="B918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Human behavioral</a:t>
              </a:r>
              <a:endParaRPr lang="en-US" sz="1600" b="1" i="0" dirty="0">
                <a:solidFill>
                  <a:srgbClr val="B9180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sz="1600" b="1" dirty="0">
                  <a:solidFill>
                    <a:srgbClr val="B918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agreement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endParaRPr sz="1600" b="1" i="0" dirty="0">
                <a:solidFill>
                  <a:srgbClr val="B9180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Human agreement question / line 1"/>
            <p:cNvSpPr txBox="1"/>
            <p:nvPr/>
          </p:nvSpPr>
          <p:spPr>
            <a:xfrm>
              <a:off x="4860214" y="10705976"/>
              <a:ext cx="1257300" cy="718492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243D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do predicted</a:t>
              </a:r>
              <a:endParaRPr lang="en-US" sz="1400" b="0" i="0" dirty="0">
                <a:solidFill>
                  <a:srgbClr val="243D7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243D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responses compare</a:t>
              </a:r>
            </a:p>
            <a:p>
              <a:r>
                <a:rPr lang="en-US" altLang="zh-CN" sz="1400" dirty="0">
                  <a:solidFill>
                    <a:srgbClr val="243D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with stated responses?</a:t>
              </a:r>
            </a:p>
            <a:p>
              <a:endParaRPr lang="en-US" altLang="zh-CN" sz="1400" dirty="0">
                <a:solidFill>
                  <a:srgbClr val="243D7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endParaRPr sz="1400" b="0" i="0" dirty="0">
                <a:solidFill>
                  <a:srgbClr val="243D7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Simulation preservation heading / line 1"/>
            <p:cNvSpPr txBox="1"/>
            <p:nvPr/>
          </p:nvSpPr>
          <p:spPr>
            <a:xfrm>
              <a:off x="7839075" y="10068122"/>
              <a:ext cx="1733550" cy="61034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solidFill>
                    <a:srgbClr val="B918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Simulation response</a:t>
              </a:r>
              <a:endParaRPr lang="en-US" sz="1600" b="1" i="0" dirty="0">
                <a:solidFill>
                  <a:srgbClr val="B9180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sz="1600" b="1" dirty="0">
                  <a:solidFill>
                    <a:srgbClr val="B918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preservation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endParaRPr sz="1600" b="1" i="0" dirty="0">
                <a:solidFill>
                  <a:srgbClr val="B9180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Simulation preservation question / line 1"/>
            <p:cNvSpPr txBox="1"/>
            <p:nvPr/>
          </p:nvSpPr>
          <p:spPr>
            <a:xfrm>
              <a:off x="7653338" y="10707549"/>
              <a:ext cx="1771650" cy="55457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243D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much of the predicted</a:t>
              </a:r>
              <a:endParaRPr lang="en-US" sz="1400" b="0" i="0" dirty="0">
                <a:solidFill>
                  <a:srgbClr val="243D7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243D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response survives</a:t>
              </a:r>
            </a:p>
            <a:p>
              <a:r>
                <a:rPr lang="en-US" altLang="zh-CN" sz="1400" dirty="0">
                  <a:solidFill>
                    <a:srgbClr val="243D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assignment and routing?</a:t>
              </a:r>
            </a:p>
            <a:p>
              <a:endParaRPr lang="en-US" altLang="zh-CN" sz="1400" dirty="0">
                <a:solidFill>
                  <a:srgbClr val="243D7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endParaRPr sz="1400" b="0" i="0" dirty="0">
                <a:solidFill>
                  <a:srgbClr val="243D7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Evaluation explanatory text / line 1"/>
            <p:cNvSpPr txBox="1"/>
            <p:nvPr/>
          </p:nvSpPr>
          <p:spPr>
            <a:xfrm>
              <a:off x="1599829" y="11707636"/>
              <a:ext cx="7591425" cy="301801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354D8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surrogate is evaluated against Teacher responses, stated responses, and simulation realization.</a:t>
              </a:r>
            </a:p>
          </p:txBody>
        </p:sp>
      </p:grpSp>
      <p:grpSp>
        <p:nvGrpSpPr>
          <p:cNvPr id="21" name="06 Connectors"/>
          <p:cNvGrpSpPr/>
          <p:nvPr/>
        </p:nvGrpSpPr>
        <p:grpSpPr>
          <a:xfrm>
            <a:off x="3276600" y="3654425"/>
            <a:ext cx="4095750" cy="5514975"/>
            <a:chOff x="3276600" y="3781425"/>
            <a:chExt cx="4095750" cy="5514975"/>
          </a:xfrm>
          <a:effectLst/>
        </p:grpSpPr>
        <p:sp>
          <p:nvSpPr>
            <p:cNvPr id="22" name="Paired states → response fidelity" descr="Paired states → response fidelity"/>
            <p:cNvSpPr/>
            <p:nvPr/>
          </p:nvSpPr>
          <p:spPr>
            <a:xfrm>
              <a:off x="5210175" y="3781425"/>
              <a:ext cx="266700" cy="609600"/>
            </a:xfrm>
            <a:custGeom>
              <a:avLst/>
              <a:gdLst/>
              <a:ahLst/>
              <a:cxnLst/>
              <a:rect l="0" t="0" r="r" b="b"/>
              <a:pathLst>
                <a:path w="28000" h="64000" stroke="0" extrusionOk="0">
                  <a:moveTo>
                    <a:pt x="10000" y="0"/>
                  </a:moveTo>
                  <a:lnTo>
                    <a:pt x="18000" y="0"/>
                  </a:lnTo>
                  <a:lnTo>
                    <a:pt x="18000" y="41000"/>
                  </a:lnTo>
                  <a:lnTo>
                    <a:pt x="28000" y="40000"/>
                  </a:lnTo>
                  <a:lnTo>
                    <a:pt x="14000" y="64000"/>
                  </a:lnTo>
                  <a:lnTo>
                    <a:pt x="0" y="40000"/>
                  </a:lnTo>
                  <a:lnTo>
                    <a:pt x="10000" y="41000"/>
                  </a:lnTo>
                  <a:close/>
                </a:path>
              </a:pathLst>
            </a:custGeom>
            <a:solidFill>
              <a:srgbClr val="064B7E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23" name="Teacher → response fidelity" descr="Teacher → response fidelity"/>
            <p:cNvSpPr/>
            <p:nvPr/>
          </p:nvSpPr>
          <p:spPr>
            <a:xfrm>
              <a:off x="3276600" y="6438900"/>
              <a:ext cx="333375" cy="247650"/>
            </a:xfrm>
            <a:custGeom>
              <a:avLst/>
              <a:gdLst/>
              <a:ahLst/>
              <a:cxnLst/>
              <a:rect l="0" t="0" r="r" b="b"/>
              <a:pathLst>
                <a:path w="35000" h="26000" stroke="0" extrusionOk="0">
                  <a:moveTo>
                    <a:pt x="0" y="10000"/>
                  </a:moveTo>
                  <a:lnTo>
                    <a:pt x="18000" y="10000"/>
                  </a:lnTo>
                  <a:lnTo>
                    <a:pt x="17000" y="0"/>
                  </a:lnTo>
                  <a:lnTo>
                    <a:pt x="35000" y="13000"/>
                  </a:lnTo>
                  <a:lnTo>
                    <a:pt x="17000" y="26000"/>
                  </a:lnTo>
                  <a:lnTo>
                    <a:pt x="18000" y="16000"/>
                  </a:lnTo>
                  <a:lnTo>
                    <a:pt x="0" y="16000"/>
                  </a:lnTo>
                  <a:close/>
                </a:path>
              </a:pathLst>
            </a:custGeom>
            <a:solidFill>
              <a:srgbClr val="04518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24" name="Specifications → response fidelity" descr="Specifications → response fidelity"/>
            <p:cNvSpPr/>
            <p:nvPr/>
          </p:nvSpPr>
          <p:spPr>
            <a:xfrm>
              <a:off x="7067550" y="6438900"/>
              <a:ext cx="304800" cy="247650"/>
            </a:xfrm>
            <a:custGeom>
              <a:avLst/>
              <a:gdLst/>
              <a:ahLst/>
              <a:cxnLst/>
              <a:rect l="0" t="0" r="r" b="b"/>
              <a:pathLst>
                <a:path w="32000" h="26000" stroke="0" extrusionOk="0">
                  <a:moveTo>
                    <a:pt x="32000" y="10000"/>
                  </a:moveTo>
                  <a:lnTo>
                    <a:pt x="16000" y="10000"/>
                  </a:lnTo>
                  <a:lnTo>
                    <a:pt x="17000" y="0"/>
                  </a:lnTo>
                  <a:lnTo>
                    <a:pt x="0" y="13000"/>
                  </a:lnTo>
                  <a:lnTo>
                    <a:pt x="17000" y="26000"/>
                  </a:lnTo>
                  <a:lnTo>
                    <a:pt x="16000" y="16000"/>
                  </a:lnTo>
                  <a:lnTo>
                    <a:pt x="32000" y="16000"/>
                  </a:lnTo>
                  <a:close/>
                </a:path>
              </a:pathLst>
            </a:custGeom>
            <a:solidFill>
              <a:srgbClr val="04518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25" name="Response fidelity → evaluation" descr="Response fidelity → evaluation"/>
            <p:cNvSpPr/>
            <p:nvPr/>
          </p:nvSpPr>
          <p:spPr>
            <a:xfrm>
              <a:off x="5210175" y="8562975"/>
              <a:ext cx="266700" cy="733425"/>
            </a:xfrm>
            <a:custGeom>
              <a:avLst/>
              <a:gdLst/>
              <a:ahLst/>
              <a:cxnLst/>
              <a:rect l="0" t="0" r="r" b="b"/>
              <a:pathLst>
                <a:path w="28000" h="77000" stroke="0" extrusionOk="0">
                  <a:moveTo>
                    <a:pt x="11000" y="5000"/>
                  </a:moveTo>
                  <a:lnTo>
                    <a:pt x="14000" y="0"/>
                  </a:lnTo>
                  <a:lnTo>
                    <a:pt x="18000" y="5000"/>
                  </a:lnTo>
                  <a:lnTo>
                    <a:pt x="18000" y="54000"/>
                  </a:lnTo>
                  <a:lnTo>
                    <a:pt x="28000" y="53000"/>
                  </a:lnTo>
                  <a:lnTo>
                    <a:pt x="14000" y="77000"/>
                  </a:lnTo>
                  <a:lnTo>
                    <a:pt x="0" y="53000"/>
                  </a:lnTo>
                  <a:lnTo>
                    <a:pt x="10000" y="54000"/>
                  </a:lnTo>
                  <a:lnTo>
                    <a:pt x="10000" y="5000"/>
                  </a:lnTo>
                  <a:close/>
                </a:path>
              </a:pathLst>
            </a:custGeom>
            <a:solidFill>
              <a:srgbClr val="E93807"/>
            </a:solidFill>
            <a:ln w="0" cap="rnd" cmpd="sng" algn="ctr">
              <a:noFill/>
              <a:round/>
            </a:ln>
            <a:effectLst/>
          </p:spPr>
        </p:sp>
      </p:grpSp>
      <p:sp>
        <p:nvSpPr>
          <p:cNvPr id="51" name="Figure title / line 1"/>
          <p:cNvSpPr txBox="1"/>
          <p:nvPr/>
        </p:nvSpPr>
        <p:spPr>
          <a:xfrm>
            <a:off x="637552" y="322851"/>
            <a:ext cx="9582150" cy="5031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75" b="1" i="0" dirty="0">
                <a:solidFill>
                  <a:srgbClr val="0715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Response-aware behavioral distillation and evaluation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3EE49DB-4DBB-6BD3-5386-C1B1898EC668}"/>
                  </a:ext>
                </a:extLst>
              </p:cNvPr>
              <p:cNvSpPr txBox="1"/>
              <p:nvPr/>
            </p:nvSpPr>
            <p:spPr>
              <a:xfrm>
                <a:off x="4186299" y="6723222"/>
                <a:ext cx="2779222" cy="10463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l-GR" altLang="zh-CN" sz="2100" i="1" smtClean="0">
                              <a:solidFill>
                                <a:srgbClr val="5A5134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l-GR" altLang="zh-CN" sz="2100" i="1" smtClean="0">
                                    <a:solidFill>
                                      <a:srgbClr val="5A513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sz="2100" i="1" smtClean="0">
                                    <a:solidFill>
                                      <a:srgbClr val="5A5134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l-GR" altLang="zh-CN" sz="2100" i="1" smtClean="0">
                                    <a:solidFill>
                                      <a:srgbClr val="5A5134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l-GR" altLang="zh-CN" sz="2100" i="1" smtClean="0">
                                    <a:solidFill>
                                      <a:srgbClr val="5A5134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l-GR" altLang="zh-CN" sz="2100" i="1" smtClean="0">
                                    <a:solidFill>
                                      <a:srgbClr val="5A5134"/>
                                    </a:solidFill>
                                    <a:latin typeface="Cambria Math" panose="02040503050406030204" pitchFamily="18" charset="0"/>
                                  </a:rPr>
                                  <m:t>, </m:t>
                                </m:r>
                              </m:e>
                              <m:e>
                                <m:r>
                                  <a:rPr lang="el-GR" altLang="zh-CN" sz="2100" i="1" smtClean="0">
                                    <a:solidFill>
                                      <a:srgbClr val="5A5134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l-GR" altLang="zh-CN" sz="2100" i="1" smtClean="0">
                                    <a:solidFill>
                                      <a:srgbClr val="5A5134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l-GR" altLang="zh-CN" sz="2100" i="1" smtClean="0">
                                        <a:solidFill>
                                          <a:srgbClr val="5A513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l-GR" altLang="zh-CN" sz="2100" i="1" smtClean="0">
                                    <a:solidFill>
                                      <a:srgbClr val="5A513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altLang="zh-CN" sz="2100" i="1" smtClean="0">
                                    <a:solidFill>
                                      <a:srgbClr val="5A5134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l-GR" altLang="zh-CN" sz="2100" i="1" smtClean="0">
                                    <a:solidFill>
                                      <a:srgbClr val="5A5134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CN" altLang="en-US" sz="2100" dirty="0">
                  <a:solidFill>
                    <a:srgbClr val="5A5134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3EE49DB-4DBB-6BD3-5386-C1B1898EC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299" y="6723222"/>
                <a:ext cx="2779222" cy="10463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215</Words>
  <Application>Microsoft Office PowerPoint</Application>
  <PresentationFormat>自定义</PresentationFormat>
  <Paragraphs>52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— Response-aware behavioral distillation and evaluation framework</dc:title>
  <dc:subject>Rebuilt from the supplied Scheme B reference; native vector elements; explicit no-shadow styling.</dc:subject>
  <dc:creator>AN XU</dc:creator>
  <cp:keywords/>
  <dc:description>Labels use native editable text; mathematical expressions and icons are native vector paths. No bitmap artwork.</dc:description>
  <cp:lastModifiedBy>AN XU</cp:lastModifiedBy>
  <cp:revision>8</cp:revision>
  <dcterms:created xsi:type="dcterms:W3CDTF">2013-01-27T09:14:16Z</dcterms:created>
  <dcterms:modified xsi:type="dcterms:W3CDTF">2026-09-24T12:46:41Z</dcterms:modified>
  <cp:category/>
</cp:coreProperties>
</file>